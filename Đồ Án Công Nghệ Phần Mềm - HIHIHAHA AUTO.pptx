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Inter SemiBold"/>
      <p:regular r:id="rId30"/>
      <p:bold r:id="rId31"/>
      <p:italic r:id="rId32"/>
      <p:boldItalic r:id="rId33"/>
    </p:embeddedFont>
    <p:embeddedFont>
      <p:font typeface="Inter"/>
      <p:regular r:id="rId34"/>
      <p:bold r:id="rId35"/>
      <p:italic r:id="rId36"/>
      <p:boldItalic r:id="rId37"/>
    </p:embeddedFont>
    <p:embeddedFont>
      <p:font typeface="JetBrains Mon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etBrainsMono-italic.fntdata"/><Relationship Id="rId20" Type="http://schemas.openxmlformats.org/officeDocument/2006/relationships/slide" Target="slides/slide15.xml"/><Relationship Id="rId41" Type="http://schemas.openxmlformats.org/officeDocument/2006/relationships/font" Target="fonts/JetBrainsMon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SemiBold-bold.fntdata"/><Relationship Id="rId30" Type="http://schemas.openxmlformats.org/officeDocument/2006/relationships/font" Target="fonts/InterSemiBold-regular.fntdata"/><Relationship Id="rId11" Type="http://schemas.openxmlformats.org/officeDocument/2006/relationships/slide" Target="slides/slide6.xml"/><Relationship Id="rId33" Type="http://schemas.openxmlformats.org/officeDocument/2006/relationships/font" Target="fonts/InterSemiBold-boldItalic.fntdata"/><Relationship Id="rId10" Type="http://schemas.openxmlformats.org/officeDocument/2006/relationships/slide" Target="slides/slide5.xml"/><Relationship Id="rId32" Type="http://schemas.openxmlformats.org/officeDocument/2006/relationships/font" Target="fonts/InterSemiBold-italic.fntdata"/><Relationship Id="rId13" Type="http://schemas.openxmlformats.org/officeDocument/2006/relationships/slide" Target="slides/slide8.xml"/><Relationship Id="rId35" Type="http://schemas.openxmlformats.org/officeDocument/2006/relationships/font" Target="fonts/Inter-bold.fntdata"/><Relationship Id="rId12" Type="http://schemas.openxmlformats.org/officeDocument/2006/relationships/slide" Target="slides/slide7.xml"/><Relationship Id="rId34" Type="http://schemas.openxmlformats.org/officeDocument/2006/relationships/font" Target="fonts/Inter-regular.fntdata"/><Relationship Id="rId15" Type="http://schemas.openxmlformats.org/officeDocument/2006/relationships/slide" Target="slides/slide10.xml"/><Relationship Id="rId37" Type="http://schemas.openxmlformats.org/officeDocument/2006/relationships/font" Target="fonts/Inter-boldItalic.fntdata"/><Relationship Id="rId14" Type="http://schemas.openxmlformats.org/officeDocument/2006/relationships/slide" Target="slides/slide9.xml"/><Relationship Id="rId36" Type="http://schemas.openxmlformats.org/officeDocument/2006/relationships/font" Target="fonts/Inter-italic.fntdata"/><Relationship Id="rId17" Type="http://schemas.openxmlformats.org/officeDocument/2006/relationships/slide" Target="slides/slide12.xml"/><Relationship Id="rId39" Type="http://schemas.openxmlformats.org/officeDocument/2006/relationships/font" Target="fonts/JetBrainsMono-bold.fntdata"/><Relationship Id="rId16" Type="http://schemas.openxmlformats.org/officeDocument/2006/relationships/slide" Target="slides/slide11.xml"/><Relationship Id="rId38" Type="http://schemas.openxmlformats.org/officeDocument/2006/relationships/font" Target="fonts/JetBrains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app.diagrams.net/?page-id=rl-Slg-ZBEDM477R_5TE&amp;scale=auto&amp;diagram-rev=0B0_SL_Apyzg8TjhJU05JcVV6TG5uS1QzZHo4TzJTemJSTzlzPQ#G1JfXFaVfg5G3RyYVp-pMc8rhLvyKXoQfZ"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pp.diagrams.net/?page-id=Qq6Q42qF0sNdHlQ_wXdJ&amp;scale=auto&amp;diagram-rev=0B0_SL_Apyzg8d0VFcmdQYjFEMExzbEtVUlg0aVhsakFrWGRjPQ#G1bbvJ3FB-X_bcXQ_SxJ4z3PDVkaS_oLUY" TargetMode="Externa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app.diagrams.net/?page-id=Y3Wu6F258zEPAt3aBB06&amp;scale=auto&amp;diagram-rev=0B0_SL_Apyzg8VWJ2UWh1bUVwQzVhdy8xVGNKaDFsRk9GdFVjPQ#G16hI3GbOMj-7AV9EEp0uBoNMKMc-cJckS" TargetMode="Externa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app.diagrams.net/?page-id=YCjFtzaKFBg-nRQqi86K&amp;scale=auto&amp;diagram-rev=0B0_SL_Apyzg8Z1ZKNm1pSlJvUjZNb3lMRnh2R2dnT01hb3lRPQ#G1rl-foLvPytUAqyzhVXEFStzGSKqeJO0K"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app.diagrams.net/?page-id=EL_k1xKyIqrnxMQQrJnL&amp;scale=auto&amp;diagram-rev=0B0_SL_Apyzg8S0hzdjdscWFBUVdMUTVlcGhMQ3FIQ0ZUVTM0PQ#G1yry6l8bLxhn_k7NYomJLrP9jQ54ATFOJ" TargetMode="Externa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B"/>
        </a:solidFill>
      </p:bgPr>
    </p:bg>
    <p:spTree>
      <p:nvGrpSpPr>
        <p:cNvPr id="83" name="Shape 83"/>
        <p:cNvGrpSpPr/>
        <p:nvPr/>
      </p:nvGrpSpPr>
      <p:grpSpPr>
        <a:xfrm>
          <a:off x="0" y="0"/>
          <a:ext cx="0" cy="0"/>
          <a:chOff x="0" y="0"/>
          <a:chExt cx="0" cy="0"/>
        </a:xfrm>
      </p:grpSpPr>
      <p:sp>
        <p:nvSpPr>
          <p:cNvPr id="84" name="Google Shape;84;p13"/>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609600" y="5981700"/>
            <a:ext cx="10972800" cy="342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609600" y="1989832"/>
            <a:ext cx="2838450" cy="21907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609600" y="3858517"/>
            <a:ext cx="10477500" cy="1047900"/>
          </a:xfrm>
          <a:prstGeom prst="rect">
            <a:avLst/>
          </a:prstGeom>
          <a:solidFill>
            <a:srgbClr val="121215"/>
          </a:solidFill>
          <a:ln cap="flat" cmpd="sng" w="9525">
            <a:solidFill>
              <a:srgbClr val="272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609600" y="5981700"/>
            <a:ext cx="10972800"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txBox="1"/>
          <p:nvPr/>
        </p:nvSpPr>
        <p:spPr>
          <a:xfrm>
            <a:off x="609600" y="561975"/>
            <a:ext cx="6012656"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A1A1AA"/>
                </a:solidFill>
                <a:latin typeface="Inter"/>
                <a:ea typeface="Inter"/>
                <a:cs typeface="Inter"/>
                <a:sym typeface="Inter"/>
              </a:rPr>
              <a:t>ĐỒ ÁN MÔN HỌC: KỸ NGHỆ PHẦN MỀM (SOFTWARE ENGINEERING)</a:t>
            </a:r>
            <a:endParaRPr/>
          </a:p>
        </p:txBody>
      </p:sp>
      <p:sp>
        <p:nvSpPr>
          <p:cNvPr id="90" name="Google Shape;90;p13"/>
          <p:cNvSpPr txBox="1"/>
          <p:nvPr/>
        </p:nvSpPr>
        <p:spPr>
          <a:xfrm>
            <a:off x="9601200" y="552450"/>
            <a:ext cx="19621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D4D4D8"/>
                </a:solidFill>
                <a:latin typeface="Inter"/>
                <a:ea typeface="Inter"/>
                <a:cs typeface="Inter"/>
                <a:sym typeface="Inter"/>
              </a:rPr>
              <a:t>THỜI LƯỢNG BẢO VỆ: 25 PHÚT</a:t>
            </a:r>
            <a:endParaRPr/>
          </a:p>
        </p:txBody>
      </p:sp>
      <p:sp>
        <p:nvSpPr>
          <p:cNvPr id="91" name="Google Shape;91;p13"/>
          <p:cNvSpPr txBox="1"/>
          <p:nvPr/>
        </p:nvSpPr>
        <p:spPr>
          <a:xfrm>
            <a:off x="704850" y="2027932"/>
            <a:ext cx="27432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CAPSTONE DEFENSE SPECIFICATION</a:t>
            </a:r>
            <a:endParaRPr/>
          </a:p>
        </p:txBody>
      </p:sp>
      <p:sp>
        <p:nvSpPr>
          <p:cNvPr id="92" name="Google Shape;92;p13"/>
          <p:cNvSpPr txBox="1"/>
          <p:nvPr/>
        </p:nvSpPr>
        <p:spPr>
          <a:xfrm>
            <a:off x="609600" y="2361307"/>
            <a:ext cx="11582400" cy="5256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3600" u="none" cap="none" strike="noStrike">
                <a:solidFill>
                  <a:srgbClr val="FFFFFF"/>
                </a:solidFill>
                <a:latin typeface="Inter"/>
                <a:ea typeface="Inter"/>
                <a:cs typeface="Inter"/>
                <a:sym typeface="Inter"/>
              </a:rPr>
              <a:t>HIHIHAHA AUTO — SMART GARAGE PLATFORM</a:t>
            </a:r>
            <a:endParaRPr/>
          </a:p>
        </p:txBody>
      </p:sp>
      <p:sp>
        <p:nvSpPr>
          <p:cNvPr id="93" name="Google Shape;93;p13"/>
          <p:cNvSpPr txBox="1"/>
          <p:nvPr/>
        </p:nvSpPr>
        <p:spPr>
          <a:xfrm>
            <a:off x="609600" y="3039367"/>
            <a:ext cx="10572750" cy="552450"/>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1500" u="none" cap="none" strike="noStrike">
                <a:solidFill>
                  <a:srgbClr val="D4D4D8"/>
                </a:solidFill>
                <a:latin typeface="Inter"/>
                <a:ea typeface="Inter"/>
                <a:cs typeface="Inter"/>
                <a:sym typeface="Inter"/>
              </a:rPr>
              <a:t>Kiến Trúc Đa Mô Hình (Polyglot Persistence), Xử Lý Giao Dịch Phân Tán (Distributed Transactions) &amp; Ingress Zero-Trust</a:t>
            </a:r>
            <a:endParaRPr/>
          </a:p>
        </p:txBody>
      </p:sp>
      <p:sp>
        <p:nvSpPr>
          <p:cNvPr id="94" name="Google Shape;94;p13"/>
          <p:cNvSpPr txBox="1"/>
          <p:nvPr/>
        </p:nvSpPr>
        <p:spPr>
          <a:xfrm>
            <a:off x="609600" y="6162675"/>
            <a:ext cx="408384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A1A1AA"/>
                </a:solidFill>
                <a:latin typeface="Inter"/>
                <a:ea typeface="Inter"/>
                <a:cs typeface="Inter"/>
                <a:sym typeface="Inter"/>
              </a:rPr>
              <a:t>Giảng viên hướng dẫn: </a:t>
            </a:r>
            <a:r>
              <a:rPr b="1" i="0" lang="en-US" sz="1050" u="none" cap="none" strike="noStrike">
                <a:solidFill>
                  <a:srgbClr val="FFFFFF"/>
                </a:solidFill>
                <a:latin typeface="Inter"/>
                <a:ea typeface="Inter"/>
                <a:cs typeface="Inter"/>
                <a:sym typeface="Inter"/>
              </a:rPr>
              <a:t>Bộ môn Kỹ Thuật Phần Mềm</a:t>
            </a:r>
            <a:endParaRPr/>
          </a:p>
        </p:txBody>
      </p:sp>
      <p:sp>
        <p:nvSpPr>
          <p:cNvPr id="95" name="Google Shape;95;p13"/>
          <p:cNvSpPr txBox="1"/>
          <p:nvPr/>
        </p:nvSpPr>
        <p:spPr>
          <a:xfrm>
            <a:off x="10529887" y="6167437"/>
            <a:ext cx="13382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71717A"/>
                </a:solidFill>
                <a:latin typeface="JetBrains Mono"/>
                <a:ea typeface="JetBrains Mono"/>
                <a:cs typeface="JetBrains Mono"/>
                <a:sym typeface="JetBrains Mono"/>
              </a:rPr>
              <a:t>SLIDE 01 / 24</a:t>
            </a:r>
            <a:endParaRPr/>
          </a:p>
        </p:txBody>
      </p:sp>
      <p:sp>
        <p:nvSpPr>
          <p:cNvPr id="96" name="Google Shape;96;p13"/>
          <p:cNvSpPr txBox="1"/>
          <p:nvPr/>
        </p:nvSpPr>
        <p:spPr>
          <a:xfrm>
            <a:off x="847725" y="4039492"/>
            <a:ext cx="113442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A1A1AA"/>
                </a:solidFill>
                <a:latin typeface="Inter"/>
                <a:ea typeface="Inter"/>
                <a:cs typeface="Inter"/>
                <a:sym typeface="Inter"/>
              </a:rPr>
              <a:t>[ THÀNH PHẦN KIẾN TRÚC CỐT LÕI ]</a:t>
            </a:r>
            <a:endParaRPr/>
          </a:p>
        </p:txBody>
      </p:sp>
      <p:sp>
        <p:nvSpPr>
          <p:cNvPr id="97" name="Google Shape;97;p13"/>
          <p:cNvSpPr txBox="1"/>
          <p:nvPr/>
        </p:nvSpPr>
        <p:spPr>
          <a:xfrm>
            <a:off x="847725" y="4287142"/>
            <a:ext cx="1428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PostgreSQL ACID</a:t>
            </a:r>
            <a:endParaRPr/>
          </a:p>
        </p:txBody>
      </p:sp>
      <p:sp>
        <p:nvSpPr>
          <p:cNvPr id="98" name="Google Shape;98;p13"/>
          <p:cNvSpPr txBox="1"/>
          <p:nvPr/>
        </p:nvSpPr>
        <p:spPr>
          <a:xfrm>
            <a:off x="2162175" y="42871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99" name="Google Shape;99;p13"/>
          <p:cNvSpPr txBox="1"/>
          <p:nvPr/>
        </p:nvSpPr>
        <p:spPr>
          <a:xfrm>
            <a:off x="2409825" y="4287142"/>
            <a:ext cx="16192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MongoDB Documents</a:t>
            </a:r>
            <a:endParaRPr/>
          </a:p>
        </p:txBody>
      </p:sp>
      <p:sp>
        <p:nvSpPr>
          <p:cNvPr id="100" name="Google Shape;100;p13"/>
          <p:cNvSpPr txBox="1"/>
          <p:nvPr/>
        </p:nvSpPr>
        <p:spPr>
          <a:xfrm>
            <a:off x="3876675" y="42871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101" name="Google Shape;101;p13"/>
          <p:cNvSpPr txBox="1"/>
          <p:nvPr/>
        </p:nvSpPr>
        <p:spPr>
          <a:xfrm>
            <a:off x="4124325" y="4287142"/>
            <a:ext cx="20002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Neo4j Knowledge Graph</a:t>
            </a:r>
            <a:endParaRPr/>
          </a:p>
        </p:txBody>
      </p:sp>
      <p:sp>
        <p:nvSpPr>
          <p:cNvPr id="102" name="Google Shape;102;p13"/>
          <p:cNvSpPr txBox="1"/>
          <p:nvPr/>
        </p:nvSpPr>
        <p:spPr>
          <a:xfrm>
            <a:off x="5895975" y="42871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103" name="Google Shape;103;p13"/>
          <p:cNvSpPr txBox="1"/>
          <p:nvPr/>
        </p:nvSpPr>
        <p:spPr>
          <a:xfrm>
            <a:off x="6143625" y="4287142"/>
            <a:ext cx="1809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Redis Redlock Mutex</a:t>
            </a:r>
            <a:endParaRPr/>
          </a:p>
        </p:txBody>
      </p:sp>
      <p:sp>
        <p:nvSpPr>
          <p:cNvPr id="104" name="Google Shape;104;p13"/>
          <p:cNvSpPr txBox="1"/>
          <p:nvPr/>
        </p:nvSpPr>
        <p:spPr>
          <a:xfrm>
            <a:off x="7762875" y="42871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105" name="Google Shape;105;p13"/>
          <p:cNvSpPr txBox="1"/>
          <p:nvPr/>
        </p:nvSpPr>
        <p:spPr>
          <a:xfrm>
            <a:off x="8010525" y="4287142"/>
            <a:ext cx="32385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Transactional Outbox (SKIP LOCKED)</a:t>
            </a:r>
            <a:endParaRPr/>
          </a:p>
        </p:txBody>
      </p:sp>
      <p:sp>
        <p:nvSpPr>
          <p:cNvPr id="106" name="Google Shape;106;p13"/>
          <p:cNvSpPr txBox="1"/>
          <p:nvPr/>
        </p:nvSpPr>
        <p:spPr>
          <a:xfrm>
            <a:off x="10772775" y="42871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107" name="Google Shape;107;p13"/>
          <p:cNvSpPr txBox="1"/>
          <p:nvPr/>
        </p:nvSpPr>
        <p:spPr>
          <a:xfrm>
            <a:off x="847725" y="4553842"/>
            <a:ext cx="2190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Google Gemini Graph-RAG</a:t>
            </a:r>
            <a:endParaRPr/>
          </a:p>
        </p:txBody>
      </p:sp>
      <p:sp>
        <p:nvSpPr>
          <p:cNvPr id="108" name="Google Shape;108;p13"/>
          <p:cNvSpPr txBox="1"/>
          <p:nvPr/>
        </p:nvSpPr>
        <p:spPr>
          <a:xfrm>
            <a:off x="2771775" y="4553842"/>
            <a:ext cx="3619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8FAFC"/>
                </a:solidFill>
                <a:latin typeface="JetBrains Mono"/>
                <a:ea typeface="JetBrains Mono"/>
                <a:cs typeface="JetBrains Mono"/>
                <a:sym typeface="JetBrains Mono"/>
              </a:rPr>
              <a:t>/</a:t>
            </a:r>
            <a:endParaRPr/>
          </a:p>
        </p:txBody>
      </p:sp>
      <p:sp>
        <p:nvSpPr>
          <p:cNvPr id="109" name="Google Shape;109;p13"/>
          <p:cNvSpPr txBox="1"/>
          <p:nvPr/>
        </p:nvSpPr>
        <p:spPr>
          <a:xfrm>
            <a:off x="3019425" y="4553842"/>
            <a:ext cx="23812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4F4F5"/>
                </a:solidFill>
                <a:latin typeface="JetBrains Mono"/>
                <a:ea typeface="JetBrains Mono"/>
                <a:cs typeface="JetBrains Mono"/>
                <a:sym typeface="JetBrains Mono"/>
              </a:rPr>
              <a:t>Cloudflare Tunnel Ingress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14"/>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4"/>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4"/>
          <p:cNvSpPr/>
          <p:nvPr/>
        </p:nvSpPr>
        <p:spPr>
          <a:xfrm>
            <a:off x="457200" y="2880270"/>
            <a:ext cx="11277600" cy="1348233"/>
          </a:xfrm>
          <a:prstGeom prst="rect">
            <a:avLst/>
          </a:prstGeom>
          <a:solidFill>
            <a:srgbClr val="FAFAFA"/>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4"/>
          <p:cNvSpPr/>
          <p:nvPr/>
        </p:nvSpPr>
        <p:spPr>
          <a:xfrm>
            <a:off x="457200" y="1543050"/>
            <a:ext cx="2747962" cy="1203870"/>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4"/>
          <p:cNvSpPr/>
          <p:nvPr/>
        </p:nvSpPr>
        <p:spPr>
          <a:xfrm>
            <a:off x="3300412" y="1543050"/>
            <a:ext cx="2747962" cy="1203870"/>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4"/>
          <p:cNvSpPr/>
          <p:nvPr/>
        </p:nvSpPr>
        <p:spPr>
          <a:xfrm>
            <a:off x="6143625" y="1543050"/>
            <a:ext cx="2747962" cy="1203870"/>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4"/>
          <p:cNvSpPr/>
          <p:nvPr/>
        </p:nvSpPr>
        <p:spPr>
          <a:xfrm>
            <a:off x="8986837" y="1543050"/>
            <a:ext cx="2747962" cy="1203870"/>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4"/>
          <p:cNvSpPr/>
          <p:nvPr/>
        </p:nvSpPr>
        <p:spPr>
          <a:xfrm>
            <a:off x="619125" y="3261270"/>
            <a:ext cx="2652712" cy="82435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4"/>
          <p:cNvSpPr/>
          <p:nvPr/>
        </p:nvSpPr>
        <p:spPr>
          <a:xfrm>
            <a:off x="619125" y="4076104"/>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p:nvPr/>
        </p:nvSpPr>
        <p:spPr>
          <a:xfrm>
            <a:off x="619125" y="3261270"/>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4"/>
          <p:cNvSpPr/>
          <p:nvPr/>
        </p:nvSpPr>
        <p:spPr>
          <a:xfrm>
            <a:off x="619125" y="3261270"/>
            <a:ext cx="28575" cy="824358"/>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4"/>
          <p:cNvSpPr/>
          <p:nvPr/>
        </p:nvSpPr>
        <p:spPr>
          <a:xfrm>
            <a:off x="3262312" y="3261270"/>
            <a:ext cx="9525" cy="824358"/>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4"/>
          <p:cNvSpPr/>
          <p:nvPr/>
        </p:nvSpPr>
        <p:spPr>
          <a:xfrm>
            <a:off x="3386137" y="3261270"/>
            <a:ext cx="2652712" cy="82435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4"/>
          <p:cNvSpPr/>
          <p:nvPr/>
        </p:nvSpPr>
        <p:spPr>
          <a:xfrm>
            <a:off x="3386137" y="4076104"/>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4"/>
          <p:cNvSpPr/>
          <p:nvPr/>
        </p:nvSpPr>
        <p:spPr>
          <a:xfrm>
            <a:off x="3386137" y="3261270"/>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4"/>
          <p:cNvSpPr/>
          <p:nvPr/>
        </p:nvSpPr>
        <p:spPr>
          <a:xfrm>
            <a:off x="3386137" y="3261270"/>
            <a:ext cx="28575" cy="824358"/>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4"/>
          <p:cNvSpPr/>
          <p:nvPr/>
        </p:nvSpPr>
        <p:spPr>
          <a:xfrm>
            <a:off x="6029325" y="3261270"/>
            <a:ext cx="9525" cy="824358"/>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4"/>
          <p:cNvSpPr/>
          <p:nvPr/>
        </p:nvSpPr>
        <p:spPr>
          <a:xfrm>
            <a:off x="6153150" y="3261270"/>
            <a:ext cx="2652712" cy="82435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4"/>
          <p:cNvSpPr/>
          <p:nvPr/>
        </p:nvSpPr>
        <p:spPr>
          <a:xfrm>
            <a:off x="6153150" y="4076104"/>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4"/>
          <p:cNvSpPr/>
          <p:nvPr/>
        </p:nvSpPr>
        <p:spPr>
          <a:xfrm>
            <a:off x="6153150" y="3261270"/>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4"/>
          <p:cNvSpPr/>
          <p:nvPr/>
        </p:nvSpPr>
        <p:spPr>
          <a:xfrm>
            <a:off x="6153150" y="3261270"/>
            <a:ext cx="28575" cy="824358"/>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4"/>
          <p:cNvSpPr/>
          <p:nvPr/>
        </p:nvSpPr>
        <p:spPr>
          <a:xfrm>
            <a:off x="8796337" y="3261270"/>
            <a:ext cx="9525" cy="824358"/>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4"/>
          <p:cNvSpPr/>
          <p:nvPr/>
        </p:nvSpPr>
        <p:spPr>
          <a:xfrm>
            <a:off x="8920162" y="3261270"/>
            <a:ext cx="2652712" cy="824358"/>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4"/>
          <p:cNvSpPr/>
          <p:nvPr/>
        </p:nvSpPr>
        <p:spPr>
          <a:xfrm>
            <a:off x="8920162" y="4076104"/>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4"/>
          <p:cNvSpPr/>
          <p:nvPr/>
        </p:nvSpPr>
        <p:spPr>
          <a:xfrm>
            <a:off x="8920162" y="3261270"/>
            <a:ext cx="265271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4"/>
          <p:cNvSpPr/>
          <p:nvPr/>
        </p:nvSpPr>
        <p:spPr>
          <a:xfrm>
            <a:off x="8920162" y="3261270"/>
            <a:ext cx="28575" cy="824358"/>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4"/>
          <p:cNvSpPr/>
          <p:nvPr/>
        </p:nvSpPr>
        <p:spPr>
          <a:xfrm>
            <a:off x="11563350" y="3261270"/>
            <a:ext cx="9525" cy="824358"/>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4"/>
          <p:cNvSpPr/>
          <p:nvPr/>
        </p:nvSpPr>
        <p:spPr>
          <a:xfrm>
            <a:off x="581025" y="1685925"/>
            <a:ext cx="855464"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4"/>
          <p:cNvSpPr/>
          <p:nvPr/>
        </p:nvSpPr>
        <p:spPr>
          <a:xfrm>
            <a:off x="3424237" y="1685925"/>
            <a:ext cx="874514"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4"/>
          <p:cNvSpPr/>
          <p:nvPr/>
        </p:nvSpPr>
        <p:spPr>
          <a:xfrm>
            <a:off x="6267450" y="1685925"/>
            <a:ext cx="874514"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4"/>
          <p:cNvSpPr/>
          <p:nvPr/>
        </p:nvSpPr>
        <p:spPr>
          <a:xfrm>
            <a:off x="9110662" y="1685925"/>
            <a:ext cx="874514"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4"/>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Phân rã 4 giai đoạn kỹ nghệ hệ thống và phân công trách nhiệm độc lập theo phân hệ</a:t>
            </a:r>
            <a:endParaRPr/>
          </a:p>
        </p:txBody>
      </p:sp>
      <p:sp>
        <p:nvSpPr>
          <p:cNvPr id="146" name="Google Shape;146;p14"/>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02 / 24</a:t>
            </a:r>
            <a:endParaRPr/>
          </a:p>
        </p:txBody>
      </p:sp>
      <p:sp>
        <p:nvSpPr>
          <p:cNvPr id="147" name="Google Shape;147;p14"/>
          <p:cNvSpPr txBox="1"/>
          <p:nvPr/>
        </p:nvSpPr>
        <p:spPr>
          <a:xfrm>
            <a:off x="457200" y="361950"/>
            <a:ext cx="7959328"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1: QUẢN TRỊ DỰ ÁN &amp; SRS</a:t>
            </a:r>
            <a:endParaRPr/>
          </a:p>
        </p:txBody>
      </p:sp>
      <p:sp>
        <p:nvSpPr>
          <p:cNvPr id="148" name="Google Shape;148;p14"/>
          <p:cNvSpPr txBox="1"/>
          <p:nvPr/>
        </p:nvSpPr>
        <p:spPr>
          <a:xfrm>
            <a:off x="457200" y="523875"/>
            <a:ext cx="8357294"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Quy Trình Phát Triển &amp; Cấu Trúc Phân Rã Công Việc (WBS)</a:t>
            </a:r>
            <a:endParaRPr/>
          </a:p>
        </p:txBody>
      </p:sp>
      <p:sp>
        <p:nvSpPr>
          <p:cNvPr id="149" name="Google Shape;149;p14"/>
          <p:cNvSpPr txBox="1"/>
          <p:nvPr/>
        </p:nvSpPr>
        <p:spPr>
          <a:xfrm>
            <a:off x="457200" y="1323975"/>
            <a:ext cx="370046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1. BỐN GIAI ĐOẠN PHÁT TRIỂN HỆ THỐNG</a:t>
            </a:r>
            <a:endParaRPr/>
          </a:p>
        </p:txBody>
      </p:sp>
      <p:sp>
        <p:nvSpPr>
          <p:cNvPr id="150" name="Google Shape;150;p14"/>
          <p:cNvSpPr txBox="1"/>
          <p:nvPr/>
        </p:nvSpPr>
        <p:spPr>
          <a:xfrm>
            <a:off x="10668000" y="1328737"/>
            <a:ext cx="135255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1717A"/>
                </a:solidFill>
                <a:latin typeface="JetBrains Mono"/>
                <a:ea typeface="JetBrains Mono"/>
                <a:cs typeface="JetBrains Mono"/>
                <a:sym typeface="JetBrains Mono"/>
              </a:rPr>
              <a:t>PHASE-GATE MODEL</a:t>
            </a:r>
            <a:endParaRPr/>
          </a:p>
        </p:txBody>
      </p:sp>
      <p:sp>
        <p:nvSpPr>
          <p:cNvPr id="151" name="Google Shape;151;p14"/>
          <p:cNvSpPr txBox="1"/>
          <p:nvPr/>
        </p:nvSpPr>
        <p:spPr>
          <a:xfrm>
            <a:off x="619125" y="3023145"/>
            <a:ext cx="49006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2. PHÂN RÃ THEO PHÂN HỆ NGHIỆP VỤ ĐỘC LẬP (WBS)</a:t>
            </a:r>
            <a:endParaRPr/>
          </a:p>
        </p:txBody>
      </p:sp>
      <p:sp>
        <p:nvSpPr>
          <p:cNvPr id="152" name="Google Shape;152;p14"/>
          <p:cNvSpPr txBox="1"/>
          <p:nvPr/>
        </p:nvSpPr>
        <p:spPr>
          <a:xfrm>
            <a:off x="9772650" y="3027908"/>
            <a:ext cx="2250281"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71717A"/>
                </a:solidFill>
                <a:latin typeface="JetBrains Mono"/>
                <a:ea typeface="JetBrains Mono"/>
                <a:cs typeface="JetBrains Mono"/>
                <a:sym typeface="JetBrains Mono"/>
              </a:rPr>
              <a:t>DECOUPLED MODULE BOUNDARIES</a:t>
            </a:r>
            <a:endParaRPr/>
          </a:p>
        </p:txBody>
      </p:sp>
      <p:sp>
        <p:nvSpPr>
          <p:cNvPr id="153" name="Google Shape;153;p14"/>
          <p:cNvSpPr txBox="1"/>
          <p:nvPr/>
        </p:nvSpPr>
        <p:spPr>
          <a:xfrm>
            <a:off x="733425" y="3356520"/>
            <a:ext cx="2519362" cy="63385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Auth &amp; IAM</a:t>
            </a:r>
            <a:endParaRPr/>
          </a:p>
        </p:txBody>
      </p:sp>
      <p:sp>
        <p:nvSpPr>
          <p:cNvPr id="154" name="Google Shape;154;p14"/>
          <p:cNvSpPr txBox="1"/>
          <p:nvPr/>
        </p:nvSpPr>
        <p:spPr>
          <a:xfrm>
            <a:off x="3500437" y="3356520"/>
            <a:ext cx="2519362" cy="63385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Work-Order Core</a:t>
            </a:r>
            <a:endParaRPr/>
          </a:p>
        </p:txBody>
      </p:sp>
      <p:sp>
        <p:nvSpPr>
          <p:cNvPr id="155" name="Google Shape;155;p14"/>
          <p:cNvSpPr txBox="1"/>
          <p:nvPr/>
        </p:nvSpPr>
        <p:spPr>
          <a:xfrm>
            <a:off x="6267450" y="3356520"/>
            <a:ext cx="2519362" cy="63385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Kho &amp; Mutex</a:t>
            </a:r>
            <a:endParaRPr/>
          </a:p>
        </p:txBody>
      </p:sp>
      <p:sp>
        <p:nvSpPr>
          <p:cNvPr id="156" name="Google Shape;156;p14"/>
          <p:cNvSpPr txBox="1"/>
          <p:nvPr/>
        </p:nvSpPr>
        <p:spPr>
          <a:xfrm>
            <a:off x="9034462" y="3356520"/>
            <a:ext cx="2519362" cy="63385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Tài Chính &amp; AI</a:t>
            </a:r>
            <a:endParaRPr/>
          </a:p>
        </p:txBody>
      </p:sp>
      <p:sp>
        <p:nvSpPr>
          <p:cNvPr id="157" name="Google Shape;157;p14"/>
          <p:cNvSpPr txBox="1"/>
          <p:nvPr/>
        </p:nvSpPr>
        <p:spPr>
          <a:xfrm>
            <a:off x="657225" y="1714500"/>
            <a:ext cx="79831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GIAI ĐOẠN 1</a:t>
            </a:r>
            <a:endParaRPr/>
          </a:p>
        </p:txBody>
      </p:sp>
      <p:sp>
        <p:nvSpPr>
          <p:cNvPr id="158" name="Google Shape;158;p14"/>
          <p:cNvSpPr txBox="1"/>
          <p:nvPr/>
        </p:nvSpPr>
        <p:spPr>
          <a:xfrm>
            <a:off x="581025" y="1952625"/>
            <a:ext cx="328166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Khảo sát &amp; Đặc tả</a:t>
            </a:r>
            <a:endParaRPr/>
          </a:p>
        </p:txBody>
      </p:sp>
      <p:sp>
        <p:nvSpPr>
          <p:cNvPr id="159" name="Google Shape;159;p14"/>
          <p:cNvSpPr txBox="1"/>
          <p:nvPr/>
        </p:nvSpPr>
        <p:spPr>
          <a:xfrm>
            <a:off x="581025" y="2143125"/>
            <a:ext cx="259556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Khảo sát thực địa gara ô tô, lập tài liệu đặc tả yêu cầu SRS IEEE 830, thiết kế cấu trúc dữ liệu Polyglot (Postgres, Mongo, Neo4j, Redis).</a:t>
            </a:r>
            <a:endParaRPr/>
          </a:p>
        </p:txBody>
      </p:sp>
      <p:sp>
        <p:nvSpPr>
          <p:cNvPr id="160" name="Google Shape;160;p14"/>
          <p:cNvSpPr txBox="1"/>
          <p:nvPr/>
        </p:nvSpPr>
        <p:spPr>
          <a:xfrm>
            <a:off x="3500437" y="1714500"/>
            <a:ext cx="81736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GIAI ĐOẠN 2</a:t>
            </a:r>
            <a:endParaRPr/>
          </a:p>
        </p:txBody>
      </p:sp>
      <p:sp>
        <p:nvSpPr>
          <p:cNvPr id="161" name="Google Shape;161;p14"/>
          <p:cNvSpPr txBox="1"/>
          <p:nvPr/>
        </p:nvSpPr>
        <p:spPr>
          <a:xfrm>
            <a:off x="3424237" y="1952625"/>
            <a:ext cx="328166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Kiến trúc &amp; Lõi Dịch vụ</a:t>
            </a:r>
            <a:endParaRPr/>
          </a:p>
        </p:txBody>
      </p:sp>
      <p:sp>
        <p:nvSpPr>
          <p:cNvPr id="162" name="Google Shape;162;p14"/>
          <p:cNvSpPr txBox="1"/>
          <p:nvPr/>
        </p:nvSpPr>
        <p:spPr>
          <a:xfrm>
            <a:off x="3424237" y="2143125"/>
            <a:ext cx="259556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Xây dựng khung API Express, phân quyền RBAC/ABAC, thiết lập Local ACID Transaction Engine trên PostgreSQL.</a:t>
            </a:r>
            <a:endParaRPr/>
          </a:p>
        </p:txBody>
      </p:sp>
      <p:sp>
        <p:nvSpPr>
          <p:cNvPr id="163" name="Google Shape;163;p14"/>
          <p:cNvSpPr txBox="1"/>
          <p:nvPr/>
        </p:nvSpPr>
        <p:spPr>
          <a:xfrm>
            <a:off x="6343650" y="1714500"/>
            <a:ext cx="81736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GIAI ĐOẠN 3</a:t>
            </a:r>
            <a:endParaRPr/>
          </a:p>
        </p:txBody>
      </p:sp>
      <p:sp>
        <p:nvSpPr>
          <p:cNvPr id="164" name="Google Shape;164;p14"/>
          <p:cNvSpPr txBox="1"/>
          <p:nvPr/>
        </p:nvSpPr>
        <p:spPr>
          <a:xfrm>
            <a:off x="6267450" y="1952625"/>
            <a:ext cx="328166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Giải thuật Phân tán &amp; AI</a:t>
            </a:r>
            <a:endParaRPr/>
          </a:p>
        </p:txBody>
      </p:sp>
      <p:sp>
        <p:nvSpPr>
          <p:cNvPr id="165" name="Google Shape;165;p14"/>
          <p:cNvSpPr txBox="1"/>
          <p:nvPr/>
        </p:nvSpPr>
        <p:spPr>
          <a:xfrm>
            <a:off x="6267450" y="2143125"/>
            <a:ext cx="259556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Hiện thực hóa Outbox Worker (</a:t>
            </a:r>
            <a:r>
              <a:rPr b="0" i="0" lang="en-US" sz="825" u="none" cap="none" strike="noStrike">
                <a:solidFill>
                  <a:srgbClr val="000000"/>
                </a:solidFill>
                <a:latin typeface="Inter"/>
                <a:ea typeface="Inter"/>
                <a:cs typeface="Inter"/>
                <a:sym typeface="Inter"/>
              </a:rPr>
              <a:t>SKIP LOCKED</a:t>
            </a:r>
            <a:r>
              <a:rPr b="0" i="0" lang="en-US" sz="900" u="none" cap="none" strike="noStrike">
                <a:solidFill>
                  <a:srgbClr val="52525B"/>
                </a:solidFill>
                <a:latin typeface="Inter"/>
                <a:ea typeface="Inter"/>
                <a:cs typeface="Inter"/>
                <a:sym typeface="Inter"/>
              </a:rPr>
              <a:t>), Distributed Mutex Redlock, và trợ lý Gemini 2.5 tích hợp Neo4j.</a:t>
            </a:r>
            <a:endParaRPr/>
          </a:p>
        </p:txBody>
      </p:sp>
      <p:sp>
        <p:nvSpPr>
          <p:cNvPr id="166" name="Google Shape;166;p14"/>
          <p:cNvSpPr txBox="1"/>
          <p:nvPr/>
        </p:nvSpPr>
        <p:spPr>
          <a:xfrm>
            <a:off x="9186862" y="1714500"/>
            <a:ext cx="81736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GIAI ĐOẠN 4</a:t>
            </a:r>
            <a:endParaRPr/>
          </a:p>
        </p:txBody>
      </p:sp>
      <p:sp>
        <p:nvSpPr>
          <p:cNvPr id="167" name="Google Shape;167;p14"/>
          <p:cNvSpPr txBox="1"/>
          <p:nvPr/>
        </p:nvSpPr>
        <p:spPr>
          <a:xfrm>
            <a:off x="9110662" y="1952625"/>
            <a:ext cx="3081337"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UI/UX &amp; Đóng gói</a:t>
            </a:r>
            <a:endParaRPr/>
          </a:p>
        </p:txBody>
      </p:sp>
      <p:sp>
        <p:nvSpPr>
          <p:cNvPr id="168" name="Google Shape;168;p14"/>
          <p:cNvSpPr txBox="1"/>
          <p:nvPr/>
        </p:nvSpPr>
        <p:spPr>
          <a:xfrm>
            <a:off x="9110662" y="2143125"/>
            <a:ext cx="259556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Phát triển Next.js Standalone, WebSocket Realtime, kiểm thử E2E tự động, và đóng gói Docker Compose.</a:t>
            </a:r>
            <a:endParaRPr/>
          </a:p>
        </p:txBody>
      </p:sp>
      <p:sp>
        <p:nvSpPr>
          <p:cNvPr id="169" name="Google Shape;169;p14"/>
          <p:cNvSpPr txBox="1"/>
          <p:nvPr/>
        </p:nvSpPr>
        <p:spPr>
          <a:xfrm>
            <a:off x="762000" y="3537495"/>
            <a:ext cx="2481262" cy="443358"/>
          </a:xfrm>
          <a:prstGeom prst="rect">
            <a:avLst/>
          </a:prstGeom>
          <a:noFill/>
          <a:ln>
            <a:noFill/>
          </a:ln>
        </p:spPr>
        <p:txBody>
          <a:bodyPr anchorCtr="0" anchor="t" bIns="0" lIns="0" spcFirstLastPara="1" rIns="0" wrap="square" tIns="0">
            <a:spAutoFit/>
          </a:bodyPr>
          <a:lstStyle/>
          <a:p>
            <a:pPr indent="0" lvl="0" marL="0" marR="0" rtl="0" algn="l">
              <a:lnSpc>
                <a:spcPct val="135034"/>
              </a:lnSpc>
              <a:spcBef>
                <a:spcPts val="0"/>
              </a:spcBef>
              <a:spcAft>
                <a:spcPts val="0"/>
              </a:spcAft>
              <a:buNone/>
            </a:pPr>
            <a:r>
              <a:rPr b="0" i="0" lang="en-US" sz="862" u="none" cap="none" strike="noStrike">
                <a:solidFill>
                  <a:srgbClr val="52525B"/>
                </a:solidFill>
                <a:latin typeface="Inter"/>
                <a:ea typeface="Inter"/>
                <a:cs typeface="Inter"/>
                <a:sym typeface="Inter"/>
              </a:rPr>
              <a:t>Passwordless OTP qua Gmail SMTP, Redis Rate Limiter trượt, Mobile Portal sổ bảo dưỡng điện tử.</a:t>
            </a:r>
            <a:endParaRPr/>
          </a:p>
        </p:txBody>
      </p:sp>
      <p:sp>
        <p:nvSpPr>
          <p:cNvPr id="170" name="Google Shape;170;p14"/>
          <p:cNvSpPr txBox="1"/>
          <p:nvPr/>
        </p:nvSpPr>
        <p:spPr>
          <a:xfrm>
            <a:off x="3529012" y="3537495"/>
            <a:ext cx="2481262" cy="443358"/>
          </a:xfrm>
          <a:prstGeom prst="rect">
            <a:avLst/>
          </a:prstGeom>
          <a:noFill/>
          <a:ln>
            <a:noFill/>
          </a:ln>
        </p:spPr>
        <p:txBody>
          <a:bodyPr anchorCtr="0" anchor="t" bIns="0" lIns="0" spcFirstLastPara="1" rIns="0" wrap="square" tIns="0">
            <a:spAutoFit/>
          </a:bodyPr>
          <a:lstStyle/>
          <a:p>
            <a:pPr indent="0" lvl="0" marL="0" marR="0" rtl="0" algn="l">
              <a:lnSpc>
                <a:spcPct val="135034"/>
              </a:lnSpc>
              <a:spcBef>
                <a:spcPts val="0"/>
              </a:spcBef>
              <a:spcAft>
                <a:spcPts val="0"/>
              </a:spcAft>
              <a:buNone/>
            </a:pPr>
            <a:r>
              <a:rPr b="0" i="0" lang="en-US" sz="862" u="none" cap="none" strike="noStrike">
                <a:solidFill>
                  <a:srgbClr val="52525B"/>
                </a:solidFill>
                <a:latin typeface="Inter"/>
                <a:ea typeface="Inter"/>
                <a:cs typeface="Inter"/>
                <a:sym typeface="Inter"/>
              </a:rPr>
              <a:t>MongoDB Aggregate Root, Bảng điều phối Kanban Realtime xưởng, giao diện Tablet cho thợ máy.</a:t>
            </a:r>
            <a:endParaRPr/>
          </a:p>
        </p:txBody>
      </p:sp>
      <p:sp>
        <p:nvSpPr>
          <p:cNvPr id="171" name="Google Shape;171;p14"/>
          <p:cNvSpPr txBox="1"/>
          <p:nvPr/>
        </p:nvSpPr>
        <p:spPr>
          <a:xfrm>
            <a:off x="6296025" y="3537495"/>
            <a:ext cx="2481262" cy="443358"/>
          </a:xfrm>
          <a:prstGeom prst="rect">
            <a:avLst/>
          </a:prstGeom>
          <a:noFill/>
          <a:ln>
            <a:noFill/>
          </a:ln>
        </p:spPr>
        <p:txBody>
          <a:bodyPr anchorCtr="0" anchor="t" bIns="0" lIns="0" spcFirstLastPara="1" rIns="0" wrap="square" tIns="0">
            <a:spAutoFit/>
          </a:bodyPr>
          <a:lstStyle/>
          <a:p>
            <a:pPr indent="0" lvl="0" marL="0" marR="0" rtl="0" algn="l">
              <a:lnSpc>
                <a:spcPct val="135034"/>
              </a:lnSpc>
              <a:spcBef>
                <a:spcPts val="0"/>
              </a:spcBef>
              <a:spcAft>
                <a:spcPts val="0"/>
              </a:spcAft>
              <a:buNone/>
            </a:pPr>
            <a:r>
              <a:rPr b="0" i="0" lang="en-US" sz="862" u="none" cap="none" strike="noStrike">
                <a:solidFill>
                  <a:srgbClr val="52525B"/>
                </a:solidFill>
                <a:latin typeface="Inter"/>
                <a:ea typeface="Inter"/>
                <a:cs typeface="Inter"/>
                <a:sym typeface="Inter"/>
              </a:rPr>
              <a:t>Mô hình tồn kho, giải thuật khóa Redlock phân tán trên Redis, cơ chế hoàn trả Compensating Saga.</a:t>
            </a:r>
            <a:endParaRPr/>
          </a:p>
        </p:txBody>
      </p:sp>
      <p:sp>
        <p:nvSpPr>
          <p:cNvPr id="172" name="Google Shape;172;p14"/>
          <p:cNvSpPr txBox="1"/>
          <p:nvPr/>
        </p:nvSpPr>
        <p:spPr>
          <a:xfrm>
            <a:off x="9063037" y="3537495"/>
            <a:ext cx="2481262" cy="443358"/>
          </a:xfrm>
          <a:prstGeom prst="rect">
            <a:avLst/>
          </a:prstGeom>
          <a:noFill/>
          <a:ln>
            <a:noFill/>
          </a:ln>
        </p:spPr>
        <p:txBody>
          <a:bodyPr anchorCtr="0" anchor="t" bIns="0" lIns="0" spcFirstLastPara="1" rIns="0" wrap="square" tIns="0">
            <a:spAutoFit/>
          </a:bodyPr>
          <a:lstStyle/>
          <a:p>
            <a:pPr indent="0" lvl="0" marL="0" marR="0" rtl="0" algn="l">
              <a:lnSpc>
                <a:spcPct val="135034"/>
              </a:lnSpc>
              <a:spcBef>
                <a:spcPts val="0"/>
              </a:spcBef>
              <a:spcAft>
                <a:spcPts val="0"/>
              </a:spcAft>
              <a:buNone/>
            </a:pPr>
            <a:r>
              <a:rPr b="0" i="0" lang="en-US" sz="862" u="none" cap="none" strike="noStrike">
                <a:solidFill>
                  <a:srgbClr val="52525B"/>
                </a:solidFill>
                <a:latin typeface="Inter"/>
                <a:ea typeface="Inter"/>
                <a:cs typeface="Inter"/>
                <a:sym typeface="Inter"/>
              </a:rPr>
              <a:t>PostgreSQL ACID, Transactional Outbox Pattern, Cypher Neo4j kết hợp Gemini Graph-RAG.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5"/>
          <p:cNvSpPr/>
          <p:nvPr/>
        </p:nvSpPr>
        <p:spPr>
          <a:xfrm>
            <a:off x="0" y="6838950"/>
            <a:ext cx="12192000" cy="19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5"/>
          <p:cNvSpPr/>
          <p:nvPr/>
        </p:nvSpPr>
        <p:spPr>
          <a:xfrm>
            <a:off x="10616505" y="609600"/>
            <a:ext cx="1118400"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15"/>
          <p:cNvSpPr txBox="1"/>
          <p:nvPr/>
        </p:nvSpPr>
        <p:spPr>
          <a:xfrm>
            <a:off x="457200" y="1038225"/>
            <a:ext cx="11734800" cy="15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Mô hình hóa trực quan tương tác giữa 4 nhóm Tác nhân và ranh giới hệ thống với quan hệ &lt;&gt; &amp; &lt;&gt;</a:t>
            </a:r>
            <a:endParaRPr/>
          </a:p>
        </p:txBody>
      </p:sp>
      <p:sp>
        <p:nvSpPr>
          <p:cNvPr id="180" name="Google Shape;180;p15"/>
          <p:cNvSpPr txBox="1"/>
          <p:nvPr/>
        </p:nvSpPr>
        <p:spPr>
          <a:xfrm>
            <a:off x="10683180" y="628650"/>
            <a:ext cx="10803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03 / 24</a:t>
            </a:r>
            <a:endParaRPr/>
          </a:p>
        </p:txBody>
      </p:sp>
      <p:sp>
        <p:nvSpPr>
          <p:cNvPr id="181" name="Google Shape;181;p15"/>
          <p:cNvSpPr txBox="1"/>
          <p:nvPr/>
        </p:nvSpPr>
        <p:spPr>
          <a:xfrm>
            <a:off x="457200" y="361950"/>
            <a:ext cx="73401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1: PHÂN TÍCH YÊU CẦU &amp; SRS</a:t>
            </a:r>
            <a:endParaRPr/>
          </a:p>
        </p:txBody>
      </p:sp>
      <p:sp>
        <p:nvSpPr>
          <p:cNvPr id="182" name="Google Shape;182;p15"/>
          <p:cNvSpPr txBox="1"/>
          <p:nvPr/>
        </p:nvSpPr>
        <p:spPr>
          <a:xfrm>
            <a:off x="457200" y="523875"/>
            <a:ext cx="7707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Biểu Đồ Use Case Tổng Quát (UML Use Case Diagram)</a:t>
            </a:r>
            <a:endParaRPr/>
          </a:p>
        </p:txBody>
      </p:sp>
      <p:pic>
        <p:nvPicPr>
          <p:cNvPr id="183" name="Google Shape;183;p15" title="BIỂU ĐỒ USE CASE (SLIDE 3).drawio">
            <a:hlinkClick r:id="rId3"/>
          </p:cNvPr>
          <p:cNvPicPr preferRelativeResize="0"/>
          <p:nvPr/>
        </p:nvPicPr>
        <p:blipFill>
          <a:blip r:embed="rId4">
            <a:alphaModFix/>
          </a:blip>
          <a:stretch>
            <a:fillRect/>
          </a:stretch>
        </p:blipFill>
        <p:spPr>
          <a:xfrm>
            <a:off x="457200" y="1379625"/>
            <a:ext cx="5037226" cy="4963300"/>
          </a:xfrm>
          <a:prstGeom prst="rect">
            <a:avLst/>
          </a:prstGeom>
          <a:noFill/>
          <a:ln>
            <a:noFill/>
          </a:ln>
        </p:spPr>
      </p:pic>
      <p:grpSp>
        <p:nvGrpSpPr>
          <p:cNvPr id="184" name="Google Shape;184;p15"/>
          <p:cNvGrpSpPr/>
          <p:nvPr/>
        </p:nvGrpSpPr>
        <p:grpSpPr>
          <a:xfrm>
            <a:off x="5715000" y="1371600"/>
            <a:ext cx="6019950" cy="4934100"/>
            <a:chOff x="5715000" y="1371600"/>
            <a:chExt cx="6019950" cy="4934100"/>
          </a:xfrm>
        </p:grpSpPr>
        <p:sp>
          <p:nvSpPr>
            <p:cNvPr id="185" name="Google Shape;185;p15"/>
            <p:cNvSpPr/>
            <p:nvPr/>
          </p:nvSpPr>
          <p:spPr>
            <a:xfrm>
              <a:off x="5715000" y="1371600"/>
              <a:ext cx="2952900" cy="1162200"/>
            </a:xfrm>
            <a:prstGeom prst="roundRect">
              <a:avLst>
                <a:gd fmla="val 2459" name="adj"/>
              </a:avLst>
            </a:prstGeom>
            <a:solidFill>
              <a:srgbClr val="FAFAFA"/>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5"/>
            <p:cNvSpPr txBox="1"/>
            <p:nvPr/>
          </p:nvSpPr>
          <p:spPr>
            <a:xfrm>
              <a:off x="5810250" y="144780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UC01: Đăng nhập OTP Passwordless</a:t>
              </a:r>
              <a:endParaRPr b="1" sz="950">
                <a:solidFill>
                  <a:srgbClr val="09090B"/>
                </a:solidFill>
                <a:latin typeface="Inter"/>
                <a:ea typeface="Inter"/>
                <a:cs typeface="Inter"/>
                <a:sym typeface="Inter"/>
              </a:endParaRPr>
            </a:p>
            <a:p>
              <a:pPr indent="0" lvl="0" marL="0" rtl="0" algn="l">
                <a:spcBef>
                  <a:spcPts val="300"/>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Tất cả tác nhân</a:t>
              </a:r>
              <a:endParaRPr sz="800">
                <a:solidFill>
                  <a:srgbClr val="52525B"/>
                </a:solidFill>
                <a:latin typeface="Inter"/>
                <a:ea typeface="Inter"/>
                <a:cs typeface="Inter"/>
                <a:sym typeface="Inter"/>
              </a:endParaRPr>
            </a:p>
            <a:p>
              <a:pPr indent="0" lvl="0" marL="0" rtl="0" algn="l">
                <a:spcBef>
                  <a:spcPts val="150"/>
                </a:spcBef>
                <a:spcAft>
                  <a:spcPts val="0"/>
                </a:spcAft>
                <a:buNone/>
              </a:pPr>
              <a:r>
                <a:rPr lang="en-US" sz="800">
                  <a:solidFill>
                    <a:srgbClr val="52525B"/>
                  </a:solidFill>
                  <a:latin typeface="Inter"/>
                  <a:ea typeface="Inter"/>
                  <a:cs typeface="Inter"/>
                  <a:sym typeface="Inter"/>
                </a:rPr>
                <a:t>Xác thực qua SMS/Email, cấp JWT &amp; phân quyền RBAC.</a:t>
              </a:r>
              <a:endParaRPr sz="800">
                <a:solidFill>
                  <a:srgbClr val="52525B"/>
                </a:solidFill>
                <a:latin typeface="Inter"/>
                <a:ea typeface="Inter"/>
                <a:cs typeface="Inter"/>
                <a:sym typeface="Inter"/>
              </a:endParaRPr>
            </a:p>
          </p:txBody>
        </p:sp>
        <p:sp>
          <p:nvSpPr>
            <p:cNvPr id="187" name="Google Shape;187;p15"/>
            <p:cNvSpPr/>
            <p:nvPr/>
          </p:nvSpPr>
          <p:spPr>
            <a:xfrm>
              <a:off x="5715000" y="2628900"/>
              <a:ext cx="2952900" cy="1162200"/>
            </a:xfrm>
            <a:prstGeom prst="roundRect">
              <a:avLst>
                <a:gd fmla="val 2459" name="adj"/>
              </a:avLst>
            </a:prstGeom>
            <a:solidFill>
              <a:srgbClr val="FFFFFF"/>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5"/>
            <p:cNvSpPr txBox="1"/>
            <p:nvPr/>
          </p:nvSpPr>
          <p:spPr>
            <a:xfrm>
              <a:off x="5810250" y="270510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UC02: Tra cứu &amp; Ký duyệt Báo giá</a:t>
              </a:r>
              <a:endParaRPr b="1" sz="950">
                <a:solidFill>
                  <a:srgbClr val="09090B"/>
                </a:solidFill>
                <a:latin typeface="Inter"/>
                <a:ea typeface="Inter"/>
                <a:cs typeface="Inter"/>
                <a:sym typeface="Inter"/>
              </a:endParaRPr>
            </a:p>
            <a:p>
              <a:pPr indent="0" lvl="0" marL="0" rtl="0" algn="l">
                <a:spcBef>
                  <a:spcPts val="300"/>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Khách hàng</a:t>
              </a:r>
              <a:endParaRPr sz="800">
                <a:solidFill>
                  <a:srgbClr val="52525B"/>
                </a:solidFill>
                <a:latin typeface="Inter"/>
                <a:ea typeface="Inter"/>
                <a:cs typeface="Inter"/>
                <a:sym typeface="Inter"/>
              </a:endParaRPr>
            </a:p>
            <a:p>
              <a:pPr indent="0" lvl="0" marL="0" rtl="0" algn="l">
                <a:spcBef>
                  <a:spcPts val="150"/>
                </a:spcBef>
                <a:spcAft>
                  <a:spcPts val="0"/>
                </a:spcAft>
                <a:buNone/>
              </a:pPr>
              <a:r>
                <a:rPr lang="en-US" sz="800">
                  <a:solidFill>
                    <a:srgbClr val="52525B"/>
                  </a:solidFill>
                  <a:latin typeface="Inter"/>
                  <a:ea typeface="Inter"/>
                  <a:cs typeface="Inter"/>
                  <a:sym typeface="Inter"/>
                </a:rPr>
                <a:t>Khách xem bảng giá linh kiện, duyệt 1-Click để kích hoạt lệnh sửa chữa.</a:t>
              </a:r>
              <a:endParaRPr sz="800">
                <a:solidFill>
                  <a:srgbClr val="52525B"/>
                </a:solidFill>
                <a:latin typeface="Inter"/>
                <a:ea typeface="Inter"/>
                <a:cs typeface="Inter"/>
                <a:sym typeface="Inter"/>
              </a:endParaRPr>
            </a:p>
          </p:txBody>
        </p:sp>
        <p:sp>
          <p:nvSpPr>
            <p:cNvPr id="189" name="Google Shape;189;p15"/>
            <p:cNvSpPr/>
            <p:nvPr/>
          </p:nvSpPr>
          <p:spPr>
            <a:xfrm>
              <a:off x="5715000" y="3886200"/>
              <a:ext cx="2952900" cy="1162200"/>
            </a:xfrm>
            <a:prstGeom prst="roundRect">
              <a:avLst>
                <a:gd fmla="val 2459" name="adj"/>
              </a:avLst>
            </a:prstGeom>
            <a:solidFill>
              <a:srgbClr val="FAFAFA"/>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5"/>
            <p:cNvSpPr txBox="1"/>
            <p:nvPr/>
          </p:nvSpPr>
          <p:spPr>
            <a:xfrm>
              <a:off x="5810250" y="396240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UC03: Tiếp nhận Xe &amp; Khám số hóa</a:t>
              </a:r>
              <a:endParaRPr b="1" sz="950">
                <a:solidFill>
                  <a:srgbClr val="09090B"/>
                </a:solidFill>
                <a:latin typeface="Inter"/>
                <a:ea typeface="Inter"/>
                <a:cs typeface="Inter"/>
                <a:sym typeface="Inter"/>
              </a:endParaRPr>
            </a:p>
            <a:p>
              <a:pPr indent="0" lvl="0" marL="0" rtl="0" algn="l">
                <a:spcBef>
                  <a:spcPts val="300"/>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Cố vấn dịch vụ</a:t>
              </a:r>
              <a:endParaRPr sz="800">
                <a:solidFill>
                  <a:srgbClr val="52525B"/>
                </a:solidFill>
                <a:latin typeface="Inter"/>
                <a:ea typeface="Inter"/>
                <a:cs typeface="Inter"/>
                <a:sym typeface="Inter"/>
              </a:endParaRPr>
            </a:p>
            <a:p>
              <a:pPr indent="0" lvl="0" marL="0" rtl="0" algn="l">
                <a:spcBef>
                  <a:spcPts val="150"/>
                </a:spcBef>
                <a:spcAft>
                  <a:spcPts val="0"/>
                </a:spcAft>
                <a:buNone/>
              </a:pPr>
              <a:r>
                <a:rPr lang="en-US" sz="800">
                  <a:solidFill>
                    <a:srgbClr val="52525B"/>
                  </a:solidFill>
                  <a:latin typeface="Inter"/>
                  <a:ea typeface="Inter"/>
                  <a:cs typeface="Inter"/>
                  <a:sym typeface="Inter"/>
                </a:rPr>
                <a:t>Quét mã VIN, định vị điểm trầy xước trên 3D, tải ảnh hiện trường.</a:t>
              </a:r>
              <a:endParaRPr sz="800">
                <a:solidFill>
                  <a:srgbClr val="52525B"/>
                </a:solidFill>
                <a:latin typeface="Inter"/>
                <a:ea typeface="Inter"/>
                <a:cs typeface="Inter"/>
                <a:sym typeface="Inter"/>
              </a:endParaRPr>
            </a:p>
          </p:txBody>
        </p:sp>
        <p:sp>
          <p:nvSpPr>
            <p:cNvPr id="191" name="Google Shape;191;p15"/>
            <p:cNvSpPr/>
            <p:nvPr/>
          </p:nvSpPr>
          <p:spPr>
            <a:xfrm>
              <a:off x="5715000" y="5143500"/>
              <a:ext cx="2952900" cy="1162200"/>
            </a:xfrm>
            <a:prstGeom prst="roundRect">
              <a:avLst>
                <a:gd fmla="val 2459" name="adj"/>
              </a:avLst>
            </a:prstGeom>
            <a:solidFill>
              <a:srgbClr val="FFFFFF"/>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5"/>
            <p:cNvSpPr txBox="1"/>
            <p:nvPr/>
          </p:nvSpPr>
          <p:spPr>
            <a:xfrm>
              <a:off x="5810250" y="520065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UC04: Lập Báo giá Dự toán Phụ tùng</a:t>
              </a:r>
              <a:endParaRPr b="1" sz="950">
                <a:solidFill>
                  <a:srgbClr val="09090B"/>
                </a:solidFill>
                <a:latin typeface="Inter"/>
                <a:ea typeface="Inter"/>
                <a:cs typeface="Inter"/>
                <a:sym typeface="Inter"/>
              </a:endParaRPr>
            </a:p>
            <a:p>
              <a:pPr indent="0" lvl="0" marL="0" rtl="0" algn="l">
                <a:spcBef>
                  <a:spcPts val="225"/>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Cố vấn dịch vụ | Lập dự toán vật tư, tiền công.</a:t>
              </a:r>
              <a:endParaRPr sz="800">
                <a:solidFill>
                  <a:srgbClr val="52525B"/>
                </a:solidFill>
                <a:latin typeface="Inter"/>
                <a:ea typeface="Inter"/>
                <a:cs typeface="Inter"/>
                <a:sym typeface="Inter"/>
              </a:endParaRPr>
            </a:p>
            <a:p>
              <a:pPr indent="0" lvl="0" marL="0" rtl="0" algn="l">
                <a:spcBef>
                  <a:spcPts val="225"/>
                </a:spcBef>
                <a:spcAft>
                  <a:spcPts val="0"/>
                </a:spcAft>
                <a:buNone/>
              </a:pPr>
              <a:r>
                <a:rPr b="0" lang="en-US" sz="750">
                  <a:solidFill>
                    <a:srgbClr val="15803D"/>
                  </a:solidFill>
                  <a:latin typeface="Inter SemiBold"/>
                  <a:ea typeface="Inter SemiBold"/>
                  <a:cs typeface="Inter SemiBold"/>
                  <a:sym typeface="Inter SemiBold"/>
                </a:rPr>
                <a:t>&lt;&lt;extend&gt;&gt; UC04b (Chẩn đoán AI &amp; Topo Neo4j):</a:t>
              </a:r>
              <a:r>
                <a:rPr b="0" lang="en-US" sz="750">
                  <a:solidFill>
                    <a:srgbClr val="52525B"/>
                  </a:solidFill>
                  <a:latin typeface="Inter"/>
                  <a:ea typeface="Inter"/>
                  <a:cs typeface="Inter"/>
                  <a:sym typeface="Inter"/>
                </a:rPr>
                <a:t> Gọi AI &amp; Neo4j tra phụ tùng khung TNGA-K.</a:t>
              </a:r>
              <a:endParaRPr b="0" sz="750">
                <a:solidFill>
                  <a:srgbClr val="15803D"/>
                </a:solidFill>
                <a:latin typeface="Inter SemiBold"/>
                <a:ea typeface="Inter SemiBold"/>
                <a:cs typeface="Inter SemiBold"/>
                <a:sym typeface="Inter SemiBold"/>
              </a:endParaRPr>
            </a:p>
          </p:txBody>
        </p:sp>
        <p:sp>
          <p:nvSpPr>
            <p:cNvPr id="193" name="Google Shape;193;p15"/>
            <p:cNvSpPr/>
            <p:nvPr/>
          </p:nvSpPr>
          <p:spPr>
            <a:xfrm>
              <a:off x="8782050" y="1371600"/>
              <a:ext cx="2952900" cy="1162200"/>
            </a:xfrm>
            <a:prstGeom prst="roundRect">
              <a:avLst>
                <a:gd fmla="val 2459" name="adj"/>
              </a:avLst>
            </a:prstGeom>
            <a:solidFill>
              <a:srgbClr val="FFFFFF"/>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5"/>
            <p:cNvSpPr txBox="1"/>
            <p:nvPr/>
          </p:nvSpPr>
          <p:spPr>
            <a:xfrm>
              <a:off x="8877300" y="144780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UC05: Điều phối Khoang Kanban</a:t>
              </a:r>
              <a:endParaRPr b="1" sz="950">
                <a:solidFill>
                  <a:srgbClr val="09090B"/>
                </a:solidFill>
                <a:latin typeface="Inter"/>
                <a:ea typeface="Inter"/>
                <a:cs typeface="Inter"/>
                <a:sym typeface="Inter"/>
              </a:endParaRPr>
            </a:p>
            <a:p>
              <a:pPr indent="0" lvl="0" marL="0" rtl="0" algn="l">
                <a:spcBef>
                  <a:spcPts val="300"/>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Quản đốc xưởng</a:t>
              </a:r>
              <a:endParaRPr sz="800">
                <a:solidFill>
                  <a:srgbClr val="52525B"/>
                </a:solidFill>
                <a:latin typeface="Inter"/>
                <a:ea typeface="Inter"/>
                <a:cs typeface="Inter"/>
                <a:sym typeface="Inter"/>
              </a:endParaRPr>
            </a:p>
            <a:p>
              <a:pPr indent="0" lvl="0" marL="0" rtl="0" algn="l">
                <a:spcBef>
                  <a:spcPts val="150"/>
                </a:spcBef>
                <a:spcAft>
                  <a:spcPts val="0"/>
                </a:spcAft>
                <a:buNone/>
              </a:pPr>
              <a:r>
                <a:rPr lang="en-US" sz="800">
                  <a:solidFill>
                    <a:srgbClr val="52525B"/>
                  </a:solidFill>
                  <a:latin typeface="Inter"/>
                  <a:ea typeface="Inter"/>
                  <a:cs typeface="Inter"/>
                  <a:sym typeface="Inter"/>
                </a:rPr>
                <a:t>Kéo thả thẻ xe qua 6 trạng thái, gán lệnh thợ máy theo FRT.</a:t>
              </a:r>
              <a:endParaRPr sz="800">
                <a:solidFill>
                  <a:srgbClr val="52525B"/>
                </a:solidFill>
                <a:latin typeface="Inter"/>
                <a:ea typeface="Inter"/>
                <a:cs typeface="Inter"/>
                <a:sym typeface="Inter"/>
              </a:endParaRPr>
            </a:p>
          </p:txBody>
        </p:sp>
        <p:sp>
          <p:nvSpPr>
            <p:cNvPr id="195" name="Google Shape;195;p15"/>
            <p:cNvSpPr/>
            <p:nvPr/>
          </p:nvSpPr>
          <p:spPr>
            <a:xfrm>
              <a:off x="8782050" y="2628900"/>
              <a:ext cx="2952900" cy="1162200"/>
            </a:xfrm>
            <a:prstGeom prst="roundRect">
              <a:avLst>
                <a:gd fmla="val 2459" name="adj"/>
              </a:avLst>
            </a:prstGeom>
            <a:solidFill>
              <a:srgbClr val="FAFAFA"/>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6" name="Google Shape;196;p15"/>
            <p:cNvSpPr txBox="1"/>
            <p:nvPr/>
          </p:nvSpPr>
          <p:spPr>
            <a:xfrm>
              <a:off x="8877300" y="268605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UC06: Xuất kho &amp; Giữ chỗ Phụ tùng</a:t>
              </a:r>
              <a:endParaRPr b="1" sz="950">
                <a:solidFill>
                  <a:srgbClr val="09090B"/>
                </a:solidFill>
                <a:latin typeface="Inter"/>
                <a:ea typeface="Inter"/>
                <a:cs typeface="Inter"/>
                <a:sym typeface="Inter"/>
              </a:endParaRPr>
            </a:p>
            <a:p>
              <a:pPr indent="0" lvl="0" marL="0" rtl="0" algn="l">
                <a:spcBef>
                  <a:spcPts val="225"/>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Thủ kho, Quản đốc | Xuất vật tư khoang nâng.</a:t>
              </a:r>
              <a:endParaRPr sz="800">
                <a:solidFill>
                  <a:srgbClr val="52525B"/>
                </a:solidFill>
                <a:latin typeface="Inter"/>
                <a:ea typeface="Inter"/>
                <a:cs typeface="Inter"/>
                <a:sym typeface="Inter"/>
              </a:endParaRPr>
            </a:p>
            <a:p>
              <a:pPr indent="0" lvl="0" marL="0" rtl="0" algn="l">
                <a:spcBef>
                  <a:spcPts val="225"/>
                </a:spcBef>
                <a:spcAft>
                  <a:spcPts val="0"/>
                </a:spcAft>
                <a:buNone/>
              </a:pPr>
              <a:r>
                <a:rPr b="0" lang="en-US" sz="750">
                  <a:solidFill>
                    <a:srgbClr val="B91C1C"/>
                  </a:solidFill>
                  <a:latin typeface="Inter SemiBold"/>
                  <a:ea typeface="Inter SemiBold"/>
                  <a:cs typeface="Inter SemiBold"/>
                  <a:sym typeface="Inter SemiBold"/>
                </a:rPr>
                <a:t>&lt;&lt;include&gt;&gt; UC06b (Khóa Mutex Redlock RAM):</a:t>
              </a:r>
              <a:r>
                <a:rPr b="0" lang="en-US" sz="750">
                  <a:solidFill>
                    <a:srgbClr val="52525B"/>
                  </a:solidFill>
                  <a:latin typeface="Inter"/>
                  <a:ea typeface="Inter"/>
                  <a:cs typeface="Inter"/>
                  <a:sym typeface="Inter"/>
                </a:rPr>
                <a:t> Chiếm khóa Redis trước khi trừ kho chống âm kho.</a:t>
              </a:r>
              <a:endParaRPr b="0" sz="750">
                <a:solidFill>
                  <a:srgbClr val="B91C1C"/>
                </a:solidFill>
                <a:latin typeface="Inter SemiBold"/>
                <a:ea typeface="Inter SemiBold"/>
                <a:cs typeface="Inter SemiBold"/>
                <a:sym typeface="Inter SemiBold"/>
              </a:endParaRPr>
            </a:p>
          </p:txBody>
        </p:sp>
        <p:sp>
          <p:nvSpPr>
            <p:cNvPr id="197" name="Google Shape;197;p15"/>
            <p:cNvSpPr/>
            <p:nvPr/>
          </p:nvSpPr>
          <p:spPr>
            <a:xfrm>
              <a:off x="8782050" y="3886200"/>
              <a:ext cx="2952900" cy="1162200"/>
            </a:xfrm>
            <a:prstGeom prst="roundRect">
              <a:avLst>
                <a:gd fmla="val 2459" name="adj"/>
              </a:avLst>
            </a:prstGeom>
            <a:solidFill>
              <a:srgbClr val="FFFFFF"/>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5"/>
            <p:cNvSpPr txBox="1"/>
            <p:nvPr/>
          </p:nvSpPr>
          <p:spPr>
            <a:xfrm>
              <a:off x="8877300" y="396240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UC07: Checklist N.m &amp; KCS</a:t>
              </a:r>
              <a:endParaRPr b="1" sz="950">
                <a:solidFill>
                  <a:srgbClr val="09090B"/>
                </a:solidFill>
                <a:latin typeface="Inter"/>
                <a:ea typeface="Inter"/>
                <a:cs typeface="Inter"/>
                <a:sym typeface="Inter"/>
              </a:endParaRPr>
            </a:p>
            <a:p>
              <a:pPr indent="0" lvl="0" marL="0" rtl="0" algn="l">
                <a:spcBef>
                  <a:spcPts val="300"/>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Kỹ thuật viên</a:t>
              </a:r>
              <a:endParaRPr sz="800">
                <a:solidFill>
                  <a:srgbClr val="52525B"/>
                </a:solidFill>
                <a:latin typeface="Inter"/>
                <a:ea typeface="Inter"/>
                <a:cs typeface="Inter"/>
                <a:sym typeface="Inter"/>
              </a:endParaRPr>
            </a:p>
            <a:p>
              <a:pPr indent="0" lvl="0" marL="0" rtl="0" algn="l">
                <a:spcBef>
                  <a:spcPts val="150"/>
                </a:spcBef>
                <a:spcAft>
                  <a:spcPts val="0"/>
                </a:spcAft>
                <a:buNone/>
              </a:pPr>
              <a:r>
                <a:rPr lang="en-US" sz="800">
                  <a:solidFill>
                    <a:srgbClr val="52525B"/>
                  </a:solidFill>
                  <a:latin typeface="Inter"/>
                  <a:ea typeface="Inter"/>
                  <a:cs typeface="Inter"/>
                  <a:sym typeface="Inter"/>
                </a:rPr>
                <a:t>Bấm giờ làm việc, kiểm tra lực siết đai ốc N.m trên Tablet.</a:t>
              </a:r>
              <a:endParaRPr sz="800">
                <a:solidFill>
                  <a:srgbClr val="52525B"/>
                </a:solidFill>
                <a:latin typeface="Inter"/>
                <a:ea typeface="Inter"/>
                <a:cs typeface="Inter"/>
                <a:sym typeface="Inter"/>
              </a:endParaRPr>
            </a:p>
          </p:txBody>
        </p:sp>
        <p:sp>
          <p:nvSpPr>
            <p:cNvPr id="199" name="Google Shape;199;p15"/>
            <p:cNvSpPr/>
            <p:nvPr/>
          </p:nvSpPr>
          <p:spPr>
            <a:xfrm>
              <a:off x="8782050" y="5143500"/>
              <a:ext cx="2952900" cy="1162200"/>
            </a:xfrm>
            <a:prstGeom prst="roundRect">
              <a:avLst>
                <a:gd fmla="val 2459" name="adj"/>
              </a:avLst>
            </a:prstGeom>
            <a:solidFill>
              <a:srgbClr val="FAFAFA"/>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5"/>
            <p:cNvSpPr txBox="1"/>
            <p:nvPr/>
          </p:nvSpPr>
          <p:spPr>
            <a:xfrm>
              <a:off x="8877300" y="5200650"/>
              <a:ext cx="2762400" cy="1009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09090B"/>
                  </a:solidFill>
                  <a:latin typeface="Inter"/>
                  <a:ea typeface="Inter"/>
                  <a:cs typeface="Inter"/>
                  <a:sym typeface="Inter"/>
                </a:rPr>
                <a:t>UC08: Thanh toán VNPay</a:t>
              </a:r>
              <a:endParaRPr b="1" sz="950">
                <a:solidFill>
                  <a:srgbClr val="09090B"/>
                </a:solidFill>
                <a:latin typeface="Inter"/>
                <a:ea typeface="Inter"/>
                <a:cs typeface="Inter"/>
                <a:sym typeface="Inter"/>
              </a:endParaRPr>
            </a:p>
            <a:p>
              <a:pPr indent="0" lvl="0" marL="0" rtl="0" algn="l">
                <a:spcBef>
                  <a:spcPts val="225"/>
                </a:spcBef>
                <a:spcAft>
                  <a:spcPts val="0"/>
                </a:spcAft>
                <a:buNone/>
              </a:pPr>
              <a:r>
                <a:rPr b="1" lang="en-US" sz="800">
                  <a:solidFill>
                    <a:srgbClr val="09090B"/>
                  </a:solidFill>
                  <a:latin typeface="Inter"/>
                  <a:ea typeface="Inter"/>
                  <a:cs typeface="Inter"/>
                  <a:sym typeface="Inter"/>
                </a:rPr>
                <a:t>Actor:</a:t>
              </a:r>
              <a:r>
                <a:rPr lang="en-US" sz="800">
                  <a:solidFill>
                    <a:srgbClr val="52525B"/>
                  </a:solidFill>
                  <a:latin typeface="Inter"/>
                  <a:ea typeface="Inter"/>
                  <a:cs typeface="Inter"/>
                  <a:sym typeface="Inter"/>
                </a:rPr>
                <a:t> Khách hàng | Quét mã VietQR thanh toán.</a:t>
              </a:r>
              <a:endParaRPr sz="800">
                <a:solidFill>
                  <a:srgbClr val="52525B"/>
                </a:solidFill>
                <a:latin typeface="Inter"/>
                <a:ea typeface="Inter"/>
                <a:cs typeface="Inter"/>
                <a:sym typeface="Inter"/>
              </a:endParaRPr>
            </a:p>
            <a:p>
              <a:pPr indent="0" lvl="0" marL="0" rtl="0" algn="l">
                <a:spcBef>
                  <a:spcPts val="225"/>
                </a:spcBef>
                <a:spcAft>
                  <a:spcPts val="0"/>
                </a:spcAft>
                <a:buNone/>
              </a:pPr>
              <a:r>
                <a:rPr b="0" lang="en-US" sz="750">
                  <a:solidFill>
                    <a:srgbClr val="0369A1"/>
                  </a:solidFill>
                  <a:latin typeface="Inter SemiBold"/>
                  <a:ea typeface="Inter SemiBold"/>
                  <a:cs typeface="Inter SemiBold"/>
                  <a:sym typeface="Inter SemiBold"/>
                </a:rPr>
                <a:t>&lt;&lt;include&gt;&gt; UC08b (Ghi Outbox Event WAL):</a:t>
              </a:r>
              <a:r>
                <a:rPr b="0" lang="en-US" sz="750">
                  <a:solidFill>
                    <a:srgbClr val="52525B"/>
                  </a:solidFill>
                  <a:latin typeface="Inter"/>
                  <a:ea typeface="Inter"/>
                  <a:cs typeface="Inter"/>
                  <a:sym typeface="Inter"/>
                </a:rPr>
                <a:t> Ghi sự kiện vào Outbox trong Txn chống rách data.</a:t>
              </a:r>
              <a:endParaRPr b="0" sz="750">
                <a:solidFill>
                  <a:srgbClr val="0369A1"/>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16"/>
          <p:cNvSpPr/>
          <p:nvPr/>
        </p:nvSpPr>
        <p:spPr>
          <a:xfrm>
            <a:off x="0" y="6838950"/>
            <a:ext cx="12192000" cy="19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16"/>
          <p:cNvSpPr/>
          <p:nvPr/>
        </p:nvSpPr>
        <p:spPr>
          <a:xfrm>
            <a:off x="10616505" y="609600"/>
            <a:ext cx="1118400"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16"/>
          <p:cNvSpPr txBox="1"/>
          <p:nvPr/>
        </p:nvSpPr>
        <p:spPr>
          <a:xfrm>
            <a:off x="457200" y="1038225"/>
            <a:ext cx="11734800" cy="15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Quy trình phân làn (Swimlanes Workflow) trực quan qua 4 tác nhân và đặc tả chi tiết tiêu chuẩn IEEE 830</a:t>
            </a:r>
            <a:endParaRPr/>
          </a:p>
        </p:txBody>
      </p:sp>
      <p:sp>
        <p:nvSpPr>
          <p:cNvPr id="208" name="Google Shape;208;p16"/>
          <p:cNvSpPr txBox="1"/>
          <p:nvPr/>
        </p:nvSpPr>
        <p:spPr>
          <a:xfrm>
            <a:off x="10683180" y="628650"/>
            <a:ext cx="10803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04 / 24</a:t>
            </a:r>
            <a:endParaRPr/>
          </a:p>
        </p:txBody>
      </p:sp>
      <p:sp>
        <p:nvSpPr>
          <p:cNvPr id="209" name="Google Shape;209;p16"/>
          <p:cNvSpPr txBox="1"/>
          <p:nvPr/>
        </p:nvSpPr>
        <p:spPr>
          <a:xfrm>
            <a:off x="457200" y="361950"/>
            <a:ext cx="92214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1: PHÂN TÍCH YÊU CẦU &amp; SRS</a:t>
            </a:r>
            <a:endParaRPr/>
          </a:p>
        </p:txBody>
      </p:sp>
      <p:sp>
        <p:nvSpPr>
          <p:cNvPr id="210" name="Google Shape;210;p16"/>
          <p:cNvSpPr txBox="1"/>
          <p:nvPr/>
        </p:nvSpPr>
        <p:spPr>
          <a:xfrm>
            <a:off x="457200" y="523875"/>
            <a:ext cx="96825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Biểu Đồ Hoạt Động (Activity Diagram) &amp; Đặc Tả Use Case (IEEE 830)</a:t>
            </a:r>
            <a:endParaRPr/>
          </a:p>
        </p:txBody>
      </p:sp>
      <p:pic>
        <p:nvPicPr>
          <p:cNvPr id="211" name="Google Shape;211;p16" title="BIỂU ĐỒ HOẠT ĐỘNG - ACTIVITY DIAGRAM 4 SWIMLANES (SLIDE 4).drawio">
            <a:hlinkClick r:id="rId3"/>
          </p:cNvPr>
          <p:cNvPicPr preferRelativeResize="0"/>
          <p:nvPr/>
        </p:nvPicPr>
        <p:blipFill>
          <a:blip r:embed="rId4">
            <a:alphaModFix/>
          </a:blip>
          <a:stretch>
            <a:fillRect/>
          </a:stretch>
        </p:blipFill>
        <p:spPr>
          <a:xfrm>
            <a:off x="373526" y="1369700"/>
            <a:ext cx="5514898" cy="5610000"/>
          </a:xfrm>
          <a:prstGeom prst="rect">
            <a:avLst/>
          </a:prstGeom>
          <a:noFill/>
          <a:ln>
            <a:noFill/>
          </a:ln>
        </p:spPr>
      </p:pic>
      <p:grpSp>
        <p:nvGrpSpPr>
          <p:cNvPr id="212" name="Google Shape;212;p16"/>
          <p:cNvGrpSpPr/>
          <p:nvPr/>
        </p:nvGrpSpPr>
        <p:grpSpPr>
          <a:xfrm>
            <a:off x="6000750" y="1371600"/>
            <a:ext cx="5734200" cy="5410200"/>
            <a:chOff x="0" y="0"/>
            <a:chExt cx="5734200" cy="5410200"/>
          </a:xfrm>
        </p:grpSpPr>
        <p:sp>
          <p:nvSpPr>
            <p:cNvPr id="213" name="Google Shape;213;p16"/>
            <p:cNvSpPr/>
            <p:nvPr/>
          </p:nvSpPr>
          <p:spPr>
            <a:xfrm>
              <a:off x="0" y="0"/>
              <a:ext cx="5734200" cy="2571900"/>
            </a:xfrm>
            <a:prstGeom prst="roundRect">
              <a:avLst>
                <a:gd fmla="val 1111" name="adj"/>
              </a:avLst>
            </a:prstGeom>
            <a:solidFill>
              <a:srgbClr val="FAFAFA"/>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4" name="Google Shape;214;p16"/>
            <p:cNvSpPr txBox="1"/>
            <p:nvPr/>
          </p:nvSpPr>
          <p:spPr>
            <a:xfrm>
              <a:off x="133350" y="114300"/>
              <a:ext cx="5467500" cy="23433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09090B"/>
                  </a:solidFill>
                  <a:latin typeface="Inter"/>
                  <a:ea typeface="Inter"/>
                  <a:cs typeface="Inter"/>
                  <a:sym typeface="Inter"/>
                </a:rPr>
                <a:t>1. ĐẶC TẢ UC06: XUẤT KHO VẬT TƯ (INVENTORY ALLOCATION)</a:t>
              </a:r>
              <a:endParaRPr b="1" i="0" sz="1100">
                <a:solidFill>
                  <a:srgbClr val="09090B"/>
                </a:solidFill>
                <a:latin typeface="Inter"/>
                <a:ea typeface="Inter"/>
                <a:cs typeface="Inter"/>
                <a:sym typeface="Inter"/>
              </a:endParaRPr>
            </a:p>
            <a:p>
              <a:pPr indent="0" lvl="0" marL="0" rtl="0" algn="l">
                <a:spcBef>
                  <a:spcPts val="300"/>
                </a:spcBef>
                <a:spcAft>
                  <a:spcPts val="0"/>
                </a:spcAft>
                <a:buNone/>
              </a:pPr>
              <a:r>
                <a:rPr b="1" i="0" lang="en-US" sz="950">
                  <a:solidFill>
                    <a:srgbClr val="09090B"/>
                  </a:solidFill>
                  <a:latin typeface="Inter"/>
                  <a:ea typeface="Inter"/>
                  <a:cs typeface="Inter"/>
                  <a:sym typeface="Inter"/>
                </a:rPr>
                <a:t>• Tác nhân chính: </a:t>
              </a:r>
              <a:r>
                <a:rPr b="0" i="0" lang="en-US" sz="950">
                  <a:solidFill>
                    <a:srgbClr val="52525B"/>
                  </a:solidFill>
                  <a:latin typeface="Inter"/>
                  <a:ea typeface="Inter"/>
                  <a:cs typeface="Inter"/>
                  <a:sym typeface="Inter"/>
                </a:rPr>
                <a:t>Thủ kho, Quản đốc xưởng.</a:t>
              </a:r>
              <a:endParaRPr b="1" i="0" sz="95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Tiền điều kiện: </a:t>
              </a:r>
              <a:r>
                <a:rPr b="0" i="0" lang="en-US" sz="950">
                  <a:solidFill>
                    <a:srgbClr val="52525B"/>
                  </a:solidFill>
                  <a:latin typeface="Inter"/>
                  <a:ea typeface="Inter"/>
                  <a:cs typeface="Inter"/>
                  <a:sym typeface="Inter"/>
                </a:rPr>
                <a:t>Lệnh sửa chữa ở trạng thái QUOTE_APPROVED, vật tư đã được khách ký duyệt.</a:t>
              </a:r>
              <a:endParaRPr b="1" i="0" sz="95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Luồng sự kiện chính (Normal Flow):</a:t>
              </a:r>
              <a:endParaRPr b="1" i="0" sz="950">
                <a:solidFill>
                  <a:srgbClr val="09090B"/>
                </a:solidFill>
                <a:latin typeface="Inter"/>
                <a:ea typeface="Inter"/>
                <a:cs typeface="Inter"/>
                <a:sym typeface="Inter"/>
              </a:endParaRPr>
            </a:p>
            <a:p>
              <a:pPr indent="-285750" lvl="0" marL="457200" rtl="0" algn="l">
                <a:spcBef>
                  <a:spcPts val="100"/>
                </a:spcBef>
                <a:spcAft>
                  <a:spcPts val="0"/>
                </a:spcAft>
                <a:buClr>
                  <a:srgbClr val="09090B"/>
                </a:buClr>
                <a:buSzPts val="900"/>
                <a:buFont typeface="Inter"/>
                <a:buAutoNum type="arabicPeriod"/>
              </a:pPr>
              <a:r>
                <a:rPr b="0" i="0" lang="en-US" sz="950">
                  <a:solidFill>
                    <a:srgbClr val="52525B"/>
                  </a:solidFill>
                  <a:latin typeface="Inter"/>
                  <a:ea typeface="Inter"/>
                  <a:cs typeface="Inter"/>
                  <a:sym typeface="Inter"/>
                </a:rPr>
                <a:t>Gửi yêu cầu chiếm khóa phân tán Redlock </a:t>
              </a:r>
              <a:r>
                <a:rPr b="1" i="0" lang="en-US" sz="900">
                  <a:solidFill>
                    <a:srgbClr val="09090B"/>
                  </a:solidFill>
                  <a:latin typeface="JetBrains Mono"/>
                  <a:ea typeface="JetBrains Mono"/>
                  <a:cs typeface="JetBrains Mono"/>
                  <a:sym typeface="JetBrains Mono"/>
                </a:rPr>
                <a:t>inventory:lock:{sku}</a:t>
              </a:r>
              <a:r>
                <a:rPr b="0" i="0" lang="en-US" sz="950">
                  <a:solidFill>
                    <a:srgbClr val="52525B"/>
                  </a:solidFill>
                  <a:latin typeface="Inter"/>
                  <a:ea typeface="Inter"/>
                  <a:cs typeface="Inter"/>
                  <a:sym typeface="Inter"/>
                </a:rPr>
                <a:t> trên Redis (TTL 3s).</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Thẩm định tồn kho khả dụng ≥ số lượng yêu cầu.</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Thực hiện trừ tồn kho và chuyển trạng thái lệnh sang WAITING_PARTS.</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Giải phóng khóa Redlock an toàn trong khối finally.</a:t>
              </a:r>
              <a:endParaRPr b="1" i="0" sz="110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Luồng ngoại lệ (Exception Flow): </a:t>
              </a:r>
              <a:r>
                <a:rPr b="0" i="0" lang="en-US" sz="950">
                  <a:solidFill>
                    <a:srgbClr val="B91C1C"/>
                  </a:solidFill>
                  <a:latin typeface="Inter"/>
                  <a:ea typeface="Inter"/>
                  <a:cs typeface="Inter"/>
                  <a:sym typeface="Inter"/>
                </a:rPr>
                <a:t>2a. Thiếu hàng:</a:t>
              </a:r>
              <a:r>
                <a:rPr b="1" i="0" lang="en-US" sz="950">
                  <a:solidFill>
                    <a:srgbClr val="09090B"/>
                  </a:solidFill>
                  <a:latin typeface="Inter"/>
                  <a:ea typeface="Inter"/>
                  <a:cs typeface="Inter"/>
                  <a:sym typeface="Inter"/>
                </a:rPr>
                <a:t> </a:t>
              </a:r>
              <a:r>
                <a:rPr b="0" i="0" lang="en-US" sz="950">
                  <a:solidFill>
                    <a:srgbClr val="52525B"/>
                  </a:solidFill>
                  <a:latin typeface="Inter"/>
                  <a:ea typeface="Inter"/>
                  <a:cs typeface="Inter"/>
                  <a:sym typeface="Inter"/>
                </a:rPr>
                <a:t>Kích hoạt giao dịch bồi hoàn Saga, gửi cảnh báo mua hàng khẩn cấp và rollback trạng thái lệnh.</a:t>
              </a:r>
              <a:endParaRPr b="1" i="0" sz="950">
                <a:solidFill>
                  <a:srgbClr val="09090B"/>
                </a:solidFill>
                <a:latin typeface="Inter"/>
                <a:ea typeface="Inter"/>
                <a:cs typeface="Inter"/>
                <a:sym typeface="Inter"/>
              </a:endParaRPr>
            </a:p>
            <a:p>
              <a:pPr indent="0" lvl="0" marL="0" rtl="0" algn="l">
                <a:spcBef>
                  <a:spcPts val="200"/>
                </a:spcBef>
                <a:spcAft>
                  <a:spcPts val="200"/>
                </a:spcAft>
                <a:buNone/>
              </a:pPr>
              <a:r>
                <a:rPr b="1" i="0" lang="en-US" sz="950">
                  <a:solidFill>
                    <a:srgbClr val="09090B"/>
                  </a:solidFill>
                  <a:latin typeface="Inter"/>
                  <a:ea typeface="Inter"/>
                  <a:cs typeface="Inter"/>
                  <a:sym typeface="Inter"/>
                </a:rPr>
                <a:t>• Hậu điều kiện: </a:t>
              </a:r>
              <a:r>
                <a:rPr b="0" i="0" lang="en-US" sz="950">
                  <a:solidFill>
                    <a:srgbClr val="52525B"/>
                  </a:solidFill>
                  <a:latin typeface="Inter"/>
                  <a:ea typeface="Inter"/>
                  <a:cs typeface="Inter"/>
                  <a:sym typeface="Inter"/>
                </a:rPr>
                <a:t>Phụ tùng được gán đích danh vào khoang nâng, tồn kho vật lý giảm.</a:t>
              </a:r>
              <a:endParaRPr b="1" i="0" sz="950">
                <a:solidFill>
                  <a:srgbClr val="09090B"/>
                </a:solidFill>
                <a:latin typeface="Inter"/>
                <a:ea typeface="Inter"/>
                <a:cs typeface="Inter"/>
                <a:sym typeface="Inter"/>
              </a:endParaRPr>
            </a:p>
          </p:txBody>
        </p:sp>
        <p:sp>
          <p:nvSpPr>
            <p:cNvPr id="215" name="Google Shape;215;p16"/>
            <p:cNvSpPr/>
            <p:nvPr/>
          </p:nvSpPr>
          <p:spPr>
            <a:xfrm>
              <a:off x="0" y="2667000"/>
              <a:ext cx="5734200" cy="2743200"/>
            </a:xfrm>
            <a:prstGeom prst="roundRect">
              <a:avLst>
                <a:gd fmla="val 1041" name="adj"/>
              </a:avLst>
            </a:prstGeom>
            <a:solidFill>
              <a:srgbClr val="FFFFFF"/>
            </a:solidFill>
            <a:ln cap="flat" cmpd="sng" w="9525">
              <a:solidFill>
                <a:srgbClr val="0909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6"/>
            <p:cNvSpPr txBox="1"/>
            <p:nvPr/>
          </p:nvSpPr>
          <p:spPr>
            <a:xfrm>
              <a:off x="133350" y="2781300"/>
              <a:ext cx="5467500" cy="2514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i="0" lang="en-US" sz="1100">
                  <a:solidFill>
                    <a:srgbClr val="09090B"/>
                  </a:solidFill>
                  <a:latin typeface="Inter"/>
                  <a:ea typeface="Inter"/>
                  <a:cs typeface="Inter"/>
                  <a:sym typeface="Inter"/>
                </a:rPr>
                <a:t>2. ĐẶC TẢ UC08: THANH TOÁN OUTBOX (PAYMENT &amp; INVOICE)</a:t>
              </a:r>
              <a:endParaRPr b="1" i="0" sz="1100">
                <a:solidFill>
                  <a:srgbClr val="09090B"/>
                </a:solidFill>
                <a:latin typeface="Inter"/>
                <a:ea typeface="Inter"/>
                <a:cs typeface="Inter"/>
                <a:sym typeface="Inter"/>
              </a:endParaRPr>
            </a:p>
            <a:p>
              <a:pPr indent="0" lvl="0" marL="0" rtl="0" algn="l">
                <a:spcBef>
                  <a:spcPts val="300"/>
                </a:spcBef>
                <a:spcAft>
                  <a:spcPts val="0"/>
                </a:spcAft>
                <a:buNone/>
              </a:pPr>
              <a:r>
                <a:rPr b="1" i="0" lang="en-US" sz="950">
                  <a:solidFill>
                    <a:srgbClr val="09090B"/>
                  </a:solidFill>
                  <a:latin typeface="Inter"/>
                  <a:ea typeface="Inter"/>
                  <a:cs typeface="Inter"/>
                  <a:sym typeface="Inter"/>
                </a:rPr>
                <a:t>• Tác nhân chính: </a:t>
              </a:r>
              <a:r>
                <a:rPr b="0" i="0" lang="en-US" sz="950">
                  <a:solidFill>
                    <a:srgbClr val="52525B"/>
                  </a:solidFill>
                  <a:latin typeface="Inter"/>
                  <a:ea typeface="Inter"/>
                  <a:cs typeface="Inter"/>
                  <a:sym typeface="Inter"/>
                </a:rPr>
                <a:t>Khách hàng.</a:t>
              </a:r>
              <a:endParaRPr b="1" i="0" sz="95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Tiền điều kiện: </a:t>
              </a:r>
              <a:r>
                <a:rPr b="0" i="0" lang="en-US" sz="950">
                  <a:solidFill>
                    <a:srgbClr val="52525B"/>
                  </a:solidFill>
                  <a:latin typeface="Inter"/>
                  <a:ea typeface="Inter"/>
                  <a:cs typeface="Inter"/>
                  <a:sym typeface="Inter"/>
                </a:rPr>
                <a:t>Lệnh sửa xe ở trạng thái COMPLETED, biên bản nghiệm thu KCS đạt chuẩn.</a:t>
              </a:r>
              <a:endParaRPr b="1" i="0" sz="95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Luồng sự kiện chính (Normal Flow):</a:t>
              </a:r>
              <a:endParaRPr b="1" i="0" sz="950">
                <a:solidFill>
                  <a:srgbClr val="09090B"/>
                </a:solidFill>
                <a:latin typeface="Inter"/>
                <a:ea typeface="Inter"/>
                <a:cs typeface="Inter"/>
                <a:sym typeface="Inter"/>
              </a:endParaRPr>
            </a:p>
            <a:p>
              <a:pPr indent="-298450" lvl="0" marL="457200" rtl="0" algn="l">
                <a:spcBef>
                  <a:spcPts val="10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Khách hàng quét mã VietQR thanh toán trên điện thoại.</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Cổng VNPay gọi Webhook phản hồi kết quả về backend.</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Backend đối soát chữ ký số mật mã HMAC-SHA512 chống giả mạo.</a:t>
              </a:r>
              <a:endParaRPr b="1" i="0" sz="1100">
                <a:solidFill>
                  <a:srgbClr val="09090B"/>
                </a:solidFill>
                <a:latin typeface="Inter"/>
                <a:ea typeface="Inter"/>
                <a:cs typeface="Inter"/>
                <a:sym typeface="Inter"/>
              </a:endParaRPr>
            </a:p>
            <a:p>
              <a:pPr indent="-298450" lvl="0" marL="457200" rtl="0" algn="l">
                <a:spcBef>
                  <a:spcPts val="50"/>
                </a:spcBef>
                <a:spcAft>
                  <a:spcPts val="0"/>
                </a:spcAft>
                <a:buClr>
                  <a:srgbClr val="09090B"/>
                </a:buClr>
                <a:buSzPts val="1100"/>
                <a:buFont typeface="Inter"/>
                <a:buAutoNum type="arabicPeriod"/>
              </a:pPr>
              <a:r>
                <a:rPr b="0" i="0" lang="en-US" sz="950">
                  <a:solidFill>
                    <a:srgbClr val="52525B"/>
                  </a:solidFill>
                  <a:latin typeface="Inter"/>
                  <a:ea typeface="Inter"/>
                  <a:cs typeface="Inter"/>
                  <a:sym typeface="Inter"/>
                </a:rPr>
                <a:t>Mở Local Transaction trong PostgreSQL ghi đồng thời Hóa đơn (invoices) và Sự kiện Outbox (outbox_events).</a:t>
              </a:r>
              <a:endParaRPr b="1" i="0" sz="1100">
                <a:solidFill>
                  <a:srgbClr val="09090B"/>
                </a:solidFill>
                <a:latin typeface="Inter"/>
                <a:ea typeface="Inter"/>
                <a:cs typeface="Inter"/>
                <a:sym typeface="Inter"/>
              </a:endParaRPr>
            </a:p>
            <a:p>
              <a:pPr indent="-285750" lvl="0" marL="457200" rtl="0" algn="l">
                <a:spcBef>
                  <a:spcPts val="50"/>
                </a:spcBef>
                <a:spcAft>
                  <a:spcPts val="0"/>
                </a:spcAft>
                <a:buClr>
                  <a:srgbClr val="09090B"/>
                </a:buClr>
                <a:buSzPts val="900"/>
                <a:buFont typeface="Inter"/>
                <a:buAutoNum type="arabicPeriod"/>
              </a:pPr>
              <a:r>
                <a:rPr b="0" i="0" lang="en-US" sz="950">
                  <a:solidFill>
                    <a:srgbClr val="52525B"/>
                  </a:solidFill>
                  <a:latin typeface="Inter"/>
                  <a:ea typeface="Inter"/>
                  <a:cs typeface="Inter"/>
                  <a:sym typeface="Inter"/>
                </a:rPr>
                <a:t>Background Worker quét </a:t>
              </a:r>
              <a:r>
                <a:rPr b="1" i="0" lang="en-US" sz="900">
                  <a:solidFill>
                    <a:srgbClr val="09090B"/>
                  </a:solidFill>
                  <a:latin typeface="JetBrains Mono"/>
                  <a:ea typeface="JetBrains Mono"/>
                  <a:cs typeface="JetBrains Mono"/>
                  <a:sym typeface="JetBrains Mono"/>
                </a:rPr>
                <a:t>SKIP LOCKED</a:t>
              </a:r>
              <a:r>
                <a:rPr b="0" i="0" lang="en-US" sz="950">
                  <a:solidFill>
                    <a:srgbClr val="52525B"/>
                  </a:solidFill>
                  <a:latin typeface="Inter"/>
                  <a:ea typeface="Inter"/>
                  <a:cs typeface="Inter"/>
                  <a:sym typeface="Inter"/>
                </a:rPr>
                <a:t> đồng bộ trạng thái PAID sang MongoDB và bắn Socket.io.</a:t>
              </a:r>
              <a:endParaRPr b="1" i="0" sz="1100">
                <a:solidFill>
                  <a:srgbClr val="09090B"/>
                </a:solidFill>
                <a:latin typeface="Inter"/>
                <a:ea typeface="Inter"/>
                <a:cs typeface="Inter"/>
                <a:sym typeface="Inter"/>
              </a:endParaRPr>
            </a:p>
            <a:p>
              <a:pPr indent="0" lvl="0" marL="0" rtl="0" algn="l">
                <a:spcBef>
                  <a:spcPts val="200"/>
                </a:spcBef>
                <a:spcAft>
                  <a:spcPts val="0"/>
                </a:spcAft>
                <a:buNone/>
              </a:pPr>
              <a:r>
                <a:rPr b="1" i="0" lang="en-US" sz="950">
                  <a:solidFill>
                    <a:srgbClr val="09090B"/>
                  </a:solidFill>
                  <a:latin typeface="Inter"/>
                  <a:ea typeface="Inter"/>
                  <a:cs typeface="Inter"/>
                  <a:sym typeface="Inter"/>
                </a:rPr>
                <a:t>• Luồng ngoại lệ (Exception Flow): </a:t>
              </a:r>
              <a:r>
                <a:rPr b="0" i="0" lang="en-US" sz="950">
                  <a:solidFill>
                    <a:srgbClr val="B91C1C"/>
                  </a:solidFill>
                  <a:latin typeface="Inter"/>
                  <a:ea typeface="Inter"/>
                  <a:cs typeface="Inter"/>
                  <a:sym typeface="Inter"/>
                </a:rPr>
                <a:t>3a. Sai chữ ký số HMAC:</a:t>
              </a:r>
              <a:r>
                <a:rPr b="1" i="0" lang="en-US" sz="950">
                  <a:solidFill>
                    <a:srgbClr val="09090B"/>
                  </a:solidFill>
                  <a:latin typeface="Inter"/>
                  <a:ea typeface="Inter"/>
                  <a:cs typeface="Inter"/>
                  <a:sym typeface="Inter"/>
                </a:rPr>
                <a:t> </a:t>
              </a:r>
              <a:r>
                <a:rPr b="0" i="0" lang="en-US" sz="950">
                  <a:solidFill>
                    <a:srgbClr val="52525B"/>
                  </a:solidFill>
                  <a:latin typeface="Inter"/>
                  <a:ea typeface="Inter"/>
                  <a:cs typeface="Inter"/>
                  <a:sym typeface="Inter"/>
                </a:rPr>
                <a:t>Hủy bỏ giao dịch ngay lập tức, ghi log cảnh báo tấn công.</a:t>
              </a:r>
              <a:endParaRPr b="1" i="0" sz="950">
                <a:solidFill>
                  <a:srgbClr val="09090B"/>
                </a:solidFill>
                <a:latin typeface="Inter"/>
                <a:ea typeface="Inter"/>
                <a:cs typeface="Inter"/>
                <a:sym typeface="Inter"/>
              </a:endParaRPr>
            </a:p>
            <a:p>
              <a:pPr indent="0" lvl="0" marL="0" rtl="0" algn="l">
                <a:spcBef>
                  <a:spcPts val="200"/>
                </a:spcBef>
                <a:spcAft>
                  <a:spcPts val="200"/>
                </a:spcAft>
                <a:buNone/>
              </a:pPr>
              <a:r>
                <a:rPr b="1" i="0" lang="en-US" sz="950">
                  <a:solidFill>
                    <a:srgbClr val="09090B"/>
                  </a:solidFill>
                  <a:latin typeface="Inter"/>
                  <a:ea typeface="Inter"/>
                  <a:cs typeface="Inter"/>
                  <a:sym typeface="Inter"/>
                </a:rPr>
                <a:t>• Hậu điều kiện: </a:t>
              </a:r>
              <a:r>
                <a:rPr b="0" i="0" lang="en-US" sz="950">
                  <a:solidFill>
                    <a:srgbClr val="52525B"/>
                  </a:solidFill>
                  <a:latin typeface="Inter"/>
                  <a:ea typeface="Inter"/>
                  <a:cs typeface="Inter"/>
                  <a:sym typeface="Inter"/>
                </a:rPr>
                <a:t>Trạng thái đơn chuyển sang PAID, biên lai VAT điện tử phát hành, xe sẵn sàng xuất xưởng.</a:t>
              </a:r>
              <a:endParaRPr b="1" i="0" sz="950">
                <a:solidFill>
                  <a:srgbClr val="09090B"/>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17"/>
          <p:cNvSpPr/>
          <p:nvPr/>
        </p:nvSpPr>
        <p:spPr>
          <a:xfrm>
            <a:off x="0" y="6838950"/>
            <a:ext cx="12192000" cy="19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7"/>
          <p:cNvSpPr/>
          <p:nvPr/>
        </p:nvSpPr>
        <p:spPr>
          <a:xfrm>
            <a:off x="10616505" y="609600"/>
            <a:ext cx="1118400"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7"/>
          <p:cNvSpPr txBox="1"/>
          <p:nvPr/>
        </p:nvSpPr>
        <p:spPr>
          <a:xfrm>
            <a:off x="457200" y="967950"/>
            <a:ext cx="11734800" cy="15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Phân tách rành mạch giữa Luồng Đồng bộ (Sync) và Luồng Bất đồng bộ (Async) qua 4 Tầng độc lập</a:t>
            </a:r>
            <a:endParaRPr/>
          </a:p>
        </p:txBody>
      </p:sp>
      <p:sp>
        <p:nvSpPr>
          <p:cNvPr id="224" name="Google Shape;224;p17"/>
          <p:cNvSpPr txBox="1"/>
          <p:nvPr/>
        </p:nvSpPr>
        <p:spPr>
          <a:xfrm>
            <a:off x="10683180" y="628650"/>
            <a:ext cx="10803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05 / 24</a:t>
            </a:r>
            <a:endParaRPr/>
          </a:p>
        </p:txBody>
      </p:sp>
      <p:sp>
        <p:nvSpPr>
          <p:cNvPr id="225" name="Google Shape;225;p17"/>
          <p:cNvSpPr txBox="1"/>
          <p:nvPr/>
        </p:nvSpPr>
        <p:spPr>
          <a:xfrm>
            <a:off x="457200" y="361950"/>
            <a:ext cx="9608400" cy="126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2: KIẾN TRÚC HỆ THỐNG</a:t>
            </a:r>
            <a:endParaRPr/>
          </a:p>
        </p:txBody>
      </p:sp>
      <p:sp>
        <p:nvSpPr>
          <p:cNvPr id="226" name="Google Shape;226;p17"/>
          <p:cNvSpPr txBox="1"/>
          <p:nvPr/>
        </p:nvSpPr>
        <p:spPr>
          <a:xfrm>
            <a:off x="457200" y="523875"/>
            <a:ext cx="100887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Kiến Trúc Phân Tầng Tổng Thể (Layered &amp; Event-Driven Architecture)</a:t>
            </a:r>
            <a:endParaRPr/>
          </a:p>
        </p:txBody>
      </p:sp>
      <p:pic>
        <p:nvPicPr>
          <p:cNvPr id="227" name="Google Shape;227;p17" title="BIỂU ĐỒ KIẾN TRÚC PHÂN TẦNG (SLIDE 5).drawio">
            <a:hlinkClick r:id="rId3"/>
          </p:cNvPr>
          <p:cNvPicPr preferRelativeResize="0"/>
          <p:nvPr/>
        </p:nvPicPr>
        <p:blipFill>
          <a:blip r:embed="rId4">
            <a:alphaModFix/>
          </a:blip>
          <a:stretch>
            <a:fillRect/>
          </a:stretch>
        </p:blipFill>
        <p:spPr>
          <a:xfrm>
            <a:off x="196125" y="1428749"/>
            <a:ext cx="6932957" cy="5012450"/>
          </a:xfrm>
          <a:prstGeom prst="rect">
            <a:avLst/>
          </a:prstGeom>
          <a:noFill/>
          <a:ln>
            <a:noFill/>
          </a:ln>
        </p:spPr>
      </p:pic>
      <p:grpSp>
        <p:nvGrpSpPr>
          <p:cNvPr id="228" name="Google Shape;228;p17"/>
          <p:cNvGrpSpPr/>
          <p:nvPr/>
        </p:nvGrpSpPr>
        <p:grpSpPr>
          <a:xfrm>
            <a:off x="7239000" y="1428750"/>
            <a:ext cx="4495800" cy="4810050"/>
            <a:chOff x="0" y="0"/>
            <a:chExt cx="4495800" cy="4810050"/>
          </a:xfrm>
        </p:grpSpPr>
        <p:sp>
          <p:nvSpPr>
            <p:cNvPr id="229" name="Google Shape;229;p17"/>
            <p:cNvSpPr/>
            <p:nvPr/>
          </p:nvSpPr>
          <p:spPr>
            <a:xfrm>
              <a:off x="0" y="0"/>
              <a:ext cx="4495800" cy="1095300"/>
            </a:xfrm>
            <a:prstGeom prst="roundRect">
              <a:avLst>
                <a:gd fmla="val 1739" name="adj"/>
              </a:avLst>
            </a:prstGeom>
            <a:solidFill>
              <a:srgbClr val="FAFAFA"/>
            </a:solidFill>
            <a:ln cap="flat" cmpd="sng" w="9525">
              <a:solidFill>
                <a:srgbClr val="E4E4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7"/>
            <p:cNvSpPr/>
            <p:nvPr/>
          </p:nvSpPr>
          <p:spPr>
            <a:xfrm>
              <a:off x="0" y="0"/>
              <a:ext cx="28500" cy="1095300"/>
            </a:xfrm>
            <a:prstGeom prst="rect">
              <a:avLst/>
            </a:prstGeom>
            <a:solidFill>
              <a:srgbClr val="0909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17"/>
            <p:cNvSpPr txBox="1"/>
            <p:nvPr/>
          </p:nvSpPr>
          <p:spPr>
            <a:xfrm>
              <a:off x="152400" y="133350"/>
              <a:ext cx="4191000" cy="8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09090B"/>
                  </a:solidFill>
                  <a:latin typeface="Inter"/>
                  <a:ea typeface="Inter"/>
                  <a:cs typeface="Inter"/>
                  <a:sym typeface="Inter"/>
                </a:rPr>
                <a:t> Luồng Đồng bộ (Sync &lt; 50ms)</a:t>
              </a:r>
              <a:endParaRPr b="1" i="0" sz="1000">
                <a:solidFill>
                  <a:srgbClr val="09090B"/>
                </a:solidFill>
                <a:latin typeface="Inter"/>
                <a:ea typeface="Inter"/>
                <a:cs typeface="Inter"/>
                <a:sym typeface="Inter"/>
              </a:endParaRPr>
            </a:p>
            <a:p>
              <a:pPr indent="0" lvl="0" marL="0" rtl="0" algn="l">
                <a:spcBef>
                  <a:spcPts val="500"/>
                </a:spcBef>
                <a:spcAft>
                  <a:spcPts val="0"/>
                </a:spcAft>
                <a:buNone/>
              </a:pPr>
              <a:r>
                <a:rPr b="0" i="0" lang="en-US" sz="850">
                  <a:solidFill>
                    <a:srgbClr val="52525B"/>
                  </a:solidFill>
                  <a:latin typeface="Inter"/>
                  <a:ea typeface="Inter"/>
                  <a:cs typeface="Inter"/>
                  <a:sym typeface="Inter"/>
                </a:rPr>
                <a:t>• Client → Ingress → Core API → DB cục bộ.</a:t>
              </a:r>
              <a:endParaRPr b="0" i="0" sz="850">
                <a:solidFill>
                  <a:srgbClr val="52525B"/>
                </a:solidFill>
                <a:latin typeface="Inter"/>
                <a:ea typeface="Inter"/>
                <a:cs typeface="Inter"/>
                <a:sym typeface="Inter"/>
              </a:endParaRPr>
            </a:p>
            <a:p>
              <a:pPr indent="0" lvl="0" marL="0" rtl="0" algn="l">
                <a:spcBef>
                  <a:spcPts val="300"/>
                </a:spcBef>
                <a:spcAft>
                  <a:spcPts val="0"/>
                </a:spcAft>
                <a:buNone/>
              </a:pPr>
              <a:r>
                <a:rPr b="0" i="0" lang="en-US" sz="850">
                  <a:solidFill>
                    <a:srgbClr val="52525B"/>
                  </a:solidFill>
                  <a:latin typeface="Inter"/>
                  <a:ea typeface="Inter"/>
                  <a:cs typeface="Inter"/>
                  <a:sym typeface="Inter"/>
                </a:rPr>
                <a:t>• Phản hồi tức thì cho người dùng, giải phóng kết nối mạng ngay lập tức.</a:t>
              </a:r>
              <a:endParaRPr b="0" i="0" sz="850">
                <a:solidFill>
                  <a:srgbClr val="52525B"/>
                </a:solidFill>
                <a:latin typeface="Inter"/>
                <a:ea typeface="Inter"/>
                <a:cs typeface="Inter"/>
                <a:sym typeface="Inter"/>
              </a:endParaRPr>
            </a:p>
          </p:txBody>
        </p:sp>
        <p:sp>
          <p:nvSpPr>
            <p:cNvPr id="232" name="Google Shape;232;p17"/>
            <p:cNvSpPr/>
            <p:nvPr/>
          </p:nvSpPr>
          <p:spPr>
            <a:xfrm>
              <a:off x="0" y="1238250"/>
              <a:ext cx="4495800" cy="1095300"/>
            </a:xfrm>
            <a:prstGeom prst="roundRect">
              <a:avLst>
                <a:gd fmla="val 1739" name="adj"/>
              </a:avLst>
            </a:prstGeom>
            <a:solidFill>
              <a:srgbClr val="FAFAFA"/>
            </a:solidFill>
            <a:ln cap="flat" cmpd="sng" w="9525">
              <a:solidFill>
                <a:srgbClr val="E4E4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p:nvPr/>
          </p:nvSpPr>
          <p:spPr>
            <a:xfrm>
              <a:off x="0" y="1238250"/>
              <a:ext cx="28500" cy="1095300"/>
            </a:xfrm>
            <a:prstGeom prst="rect">
              <a:avLst/>
            </a:prstGeom>
            <a:solidFill>
              <a:srgbClr val="0909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7"/>
            <p:cNvSpPr txBox="1"/>
            <p:nvPr/>
          </p:nvSpPr>
          <p:spPr>
            <a:xfrm>
              <a:off x="152400" y="1371600"/>
              <a:ext cx="4191000" cy="8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09090B"/>
                  </a:solidFill>
                  <a:latin typeface="Inter"/>
                  <a:ea typeface="Inter"/>
                  <a:cs typeface="Inter"/>
                  <a:sym typeface="Inter"/>
                </a:rPr>
                <a:t>Luồng Bất đồng bộ (Async Event-Driven)</a:t>
              </a:r>
              <a:endParaRPr b="1" i="0" sz="1000">
                <a:solidFill>
                  <a:srgbClr val="09090B"/>
                </a:solidFill>
                <a:latin typeface="Inter"/>
                <a:ea typeface="Inter"/>
                <a:cs typeface="Inter"/>
                <a:sym typeface="Inter"/>
              </a:endParaRPr>
            </a:p>
            <a:p>
              <a:pPr indent="0" lvl="0" marL="0" rtl="0" algn="l">
                <a:spcBef>
                  <a:spcPts val="500"/>
                </a:spcBef>
                <a:spcAft>
                  <a:spcPts val="0"/>
                </a:spcAft>
                <a:buNone/>
              </a:pPr>
              <a:r>
                <a:rPr b="0" i="0" lang="en-US" sz="850">
                  <a:solidFill>
                    <a:srgbClr val="52525B"/>
                  </a:solidFill>
                  <a:latin typeface="Inter"/>
                  <a:ea typeface="Inter"/>
                  <a:cs typeface="Inter"/>
                  <a:sym typeface="Inter"/>
                </a:rPr>
                <a:t>• Outbox Worker quét SKIP LOCKED → đồng bộ Neo4j, Mongo &amp; Socket.io.</a:t>
              </a:r>
              <a:endParaRPr b="0" i="0" sz="850">
                <a:solidFill>
                  <a:srgbClr val="52525B"/>
                </a:solidFill>
                <a:latin typeface="Inter"/>
                <a:ea typeface="Inter"/>
                <a:cs typeface="Inter"/>
                <a:sym typeface="Inter"/>
              </a:endParaRPr>
            </a:p>
            <a:p>
              <a:pPr indent="0" lvl="0" marL="0" rtl="0" algn="l">
                <a:spcBef>
                  <a:spcPts val="300"/>
                </a:spcBef>
                <a:spcAft>
                  <a:spcPts val="0"/>
                </a:spcAft>
                <a:buNone/>
              </a:pPr>
              <a:r>
                <a:rPr b="0" i="0" lang="en-US" sz="850">
                  <a:solidFill>
                    <a:srgbClr val="52525B"/>
                  </a:solidFill>
                  <a:latin typeface="Inter"/>
                  <a:ea typeface="Inter"/>
                  <a:cs typeface="Inter"/>
                  <a:sym typeface="Inter"/>
                </a:rPr>
                <a:t>• Lan truyền sự kiện xưởng thời gian thực &lt;80ms.</a:t>
              </a:r>
              <a:endParaRPr b="0" i="0" sz="850">
                <a:solidFill>
                  <a:srgbClr val="52525B"/>
                </a:solidFill>
                <a:latin typeface="Inter"/>
                <a:ea typeface="Inter"/>
                <a:cs typeface="Inter"/>
                <a:sym typeface="Inter"/>
              </a:endParaRPr>
            </a:p>
          </p:txBody>
        </p:sp>
        <p:sp>
          <p:nvSpPr>
            <p:cNvPr id="235" name="Google Shape;235;p17"/>
            <p:cNvSpPr/>
            <p:nvPr/>
          </p:nvSpPr>
          <p:spPr>
            <a:xfrm>
              <a:off x="0" y="2476500"/>
              <a:ext cx="4495800" cy="1095300"/>
            </a:xfrm>
            <a:prstGeom prst="roundRect">
              <a:avLst>
                <a:gd fmla="val 1739" name="adj"/>
              </a:avLst>
            </a:prstGeom>
            <a:solidFill>
              <a:srgbClr val="FAFAFA"/>
            </a:solidFill>
            <a:ln cap="flat" cmpd="sng" w="9525">
              <a:solidFill>
                <a:srgbClr val="E4E4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7"/>
            <p:cNvSpPr/>
            <p:nvPr/>
          </p:nvSpPr>
          <p:spPr>
            <a:xfrm>
              <a:off x="0" y="2476500"/>
              <a:ext cx="28500" cy="1095300"/>
            </a:xfrm>
            <a:prstGeom prst="rect">
              <a:avLst/>
            </a:prstGeom>
            <a:solidFill>
              <a:srgbClr val="0909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7"/>
            <p:cNvSpPr txBox="1"/>
            <p:nvPr/>
          </p:nvSpPr>
          <p:spPr>
            <a:xfrm>
              <a:off x="152400" y="2609850"/>
              <a:ext cx="4191000" cy="8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09090B"/>
                  </a:solidFill>
                  <a:latin typeface="Inter"/>
                  <a:ea typeface="Inter"/>
                  <a:cs typeface="Inter"/>
                  <a:sym typeface="Inter"/>
                </a:rPr>
                <a:t> Phân rã Độc lập (Decoupling)</a:t>
              </a:r>
              <a:endParaRPr b="1" i="0" sz="1000">
                <a:solidFill>
                  <a:srgbClr val="09090B"/>
                </a:solidFill>
                <a:latin typeface="Inter"/>
                <a:ea typeface="Inter"/>
                <a:cs typeface="Inter"/>
                <a:sym typeface="Inter"/>
              </a:endParaRPr>
            </a:p>
            <a:p>
              <a:pPr indent="0" lvl="0" marL="0" rtl="0" algn="l">
                <a:spcBef>
                  <a:spcPts val="500"/>
                </a:spcBef>
                <a:spcAft>
                  <a:spcPts val="0"/>
                </a:spcAft>
                <a:buNone/>
              </a:pPr>
              <a:r>
                <a:rPr b="0" i="0" lang="en-US" sz="850">
                  <a:solidFill>
                    <a:srgbClr val="52525B"/>
                  </a:solidFill>
                  <a:latin typeface="Inter"/>
                  <a:ea typeface="Inter"/>
                  <a:cs typeface="Inter"/>
                  <a:sym typeface="Inter"/>
                </a:rPr>
                <a:t>• Sự cố ở tầng AI hoặc Đồ thị không bao giờ làm gián đoạn việc thu tiền hay điều phối xưởng.</a:t>
              </a:r>
              <a:endParaRPr b="0" i="0" sz="850">
                <a:solidFill>
                  <a:srgbClr val="52525B"/>
                </a:solidFill>
                <a:latin typeface="Inter"/>
                <a:ea typeface="Inter"/>
                <a:cs typeface="Inter"/>
                <a:sym typeface="Inter"/>
              </a:endParaRPr>
            </a:p>
          </p:txBody>
        </p:sp>
        <p:sp>
          <p:nvSpPr>
            <p:cNvPr id="238" name="Google Shape;238;p17"/>
            <p:cNvSpPr/>
            <p:nvPr/>
          </p:nvSpPr>
          <p:spPr>
            <a:xfrm>
              <a:off x="0" y="3714750"/>
              <a:ext cx="4495800" cy="1095300"/>
            </a:xfrm>
            <a:prstGeom prst="roundRect">
              <a:avLst>
                <a:gd fmla="val 1739" name="adj"/>
              </a:avLst>
            </a:prstGeom>
            <a:solidFill>
              <a:srgbClr val="FAFAFA"/>
            </a:solidFill>
            <a:ln cap="flat" cmpd="sng" w="9525">
              <a:solidFill>
                <a:srgbClr val="E4E4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17"/>
            <p:cNvSpPr/>
            <p:nvPr/>
          </p:nvSpPr>
          <p:spPr>
            <a:xfrm>
              <a:off x="0" y="3714750"/>
              <a:ext cx="28500" cy="1095300"/>
            </a:xfrm>
            <a:prstGeom prst="rect">
              <a:avLst/>
            </a:prstGeom>
            <a:solidFill>
              <a:srgbClr val="0909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7"/>
            <p:cNvSpPr txBox="1"/>
            <p:nvPr/>
          </p:nvSpPr>
          <p:spPr>
            <a:xfrm>
              <a:off x="152400" y="3848100"/>
              <a:ext cx="4191000" cy="8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000">
                  <a:solidFill>
                    <a:srgbClr val="09090B"/>
                  </a:solidFill>
                  <a:latin typeface="Inter"/>
                  <a:ea typeface="Inter"/>
                  <a:cs typeface="Inter"/>
                  <a:sym typeface="Inter"/>
                </a:rPr>
                <a:t>An ninh Tầng dữ liệu (Zero Open Ports)</a:t>
              </a:r>
              <a:endParaRPr b="1" i="0" sz="1000">
                <a:solidFill>
                  <a:srgbClr val="09090B"/>
                </a:solidFill>
                <a:latin typeface="Inter"/>
                <a:ea typeface="Inter"/>
                <a:cs typeface="Inter"/>
                <a:sym typeface="Inter"/>
              </a:endParaRPr>
            </a:p>
            <a:p>
              <a:pPr indent="0" lvl="0" marL="0" rtl="0" algn="l">
                <a:spcBef>
                  <a:spcPts val="500"/>
                </a:spcBef>
                <a:spcAft>
                  <a:spcPts val="0"/>
                </a:spcAft>
                <a:buNone/>
              </a:pPr>
              <a:r>
                <a:rPr b="0" i="0" lang="en-US" sz="850">
                  <a:solidFill>
                    <a:srgbClr val="52525B"/>
                  </a:solidFill>
                  <a:latin typeface="Inter"/>
                  <a:ea typeface="Inter"/>
                  <a:cs typeface="Inter"/>
                  <a:sym typeface="Inter"/>
                </a:rPr>
                <a:t>• Cả 4 CSDL nằm kín trong mạng Docker Bridge, tàng hình 100% trước Internet.</a:t>
              </a:r>
              <a:endParaRPr b="0" i="0" sz="850">
                <a:solidFill>
                  <a:srgbClr val="52525B"/>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8"/>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18"/>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8"/>
          <p:cNvSpPr/>
          <p:nvPr/>
        </p:nvSpPr>
        <p:spPr>
          <a:xfrm>
            <a:off x="5660082" y="1323975"/>
            <a:ext cx="6074717"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8"/>
          <p:cNvSpPr/>
          <p:nvPr/>
        </p:nvSpPr>
        <p:spPr>
          <a:xfrm>
            <a:off x="457200" y="1323975"/>
            <a:ext cx="5050482" cy="90859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8"/>
          <p:cNvSpPr/>
          <p:nvPr/>
        </p:nvSpPr>
        <p:spPr>
          <a:xfrm>
            <a:off x="457200" y="2308770"/>
            <a:ext cx="5050482" cy="90859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8"/>
          <p:cNvSpPr/>
          <p:nvPr/>
        </p:nvSpPr>
        <p:spPr>
          <a:xfrm>
            <a:off x="457200" y="3293566"/>
            <a:ext cx="5050482" cy="74860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8"/>
          <p:cNvSpPr/>
          <p:nvPr/>
        </p:nvSpPr>
        <p:spPr>
          <a:xfrm>
            <a:off x="5793432" y="5679876"/>
            <a:ext cx="5808017" cy="663773"/>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18"/>
          <p:cNvSpPr/>
          <p:nvPr/>
        </p:nvSpPr>
        <p:spPr>
          <a:xfrm>
            <a:off x="457200" y="222304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8"/>
          <p:cNvSpPr/>
          <p:nvPr/>
        </p:nvSpPr>
        <p:spPr>
          <a:xfrm>
            <a:off x="457200" y="132397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8"/>
          <p:cNvSpPr/>
          <p:nvPr/>
        </p:nvSpPr>
        <p:spPr>
          <a:xfrm>
            <a:off x="457200" y="1323975"/>
            <a:ext cx="28575" cy="90859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8"/>
          <p:cNvSpPr/>
          <p:nvPr/>
        </p:nvSpPr>
        <p:spPr>
          <a:xfrm>
            <a:off x="5498157" y="1323975"/>
            <a:ext cx="9525" cy="90859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8"/>
          <p:cNvSpPr/>
          <p:nvPr/>
        </p:nvSpPr>
        <p:spPr>
          <a:xfrm>
            <a:off x="457200" y="3207841"/>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8"/>
          <p:cNvSpPr/>
          <p:nvPr/>
        </p:nvSpPr>
        <p:spPr>
          <a:xfrm>
            <a:off x="457200" y="2308770"/>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8" name="Google Shape;258;p18"/>
          <p:cNvSpPr/>
          <p:nvPr/>
        </p:nvSpPr>
        <p:spPr>
          <a:xfrm>
            <a:off x="457200" y="2308770"/>
            <a:ext cx="28575" cy="90859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18"/>
          <p:cNvSpPr/>
          <p:nvPr/>
        </p:nvSpPr>
        <p:spPr>
          <a:xfrm>
            <a:off x="5498157" y="2308770"/>
            <a:ext cx="9525" cy="90859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18"/>
          <p:cNvSpPr/>
          <p:nvPr/>
        </p:nvSpPr>
        <p:spPr>
          <a:xfrm>
            <a:off x="457200" y="4032646"/>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8"/>
          <p:cNvSpPr/>
          <p:nvPr/>
        </p:nvSpPr>
        <p:spPr>
          <a:xfrm>
            <a:off x="457200" y="3293566"/>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18"/>
          <p:cNvSpPr/>
          <p:nvPr/>
        </p:nvSpPr>
        <p:spPr>
          <a:xfrm>
            <a:off x="457200" y="3293566"/>
            <a:ext cx="28575" cy="74860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8"/>
          <p:cNvSpPr/>
          <p:nvPr/>
        </p:nvSpPr>
        <p:spPr>
          <a:xfrm>
            <a:off x="5498157" y="3293566"/>
            <a:ext cx="9525" cy="74860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4" name="Google Shape;264;p18"/>
          <p:cNvSpPr/>
          <p:nvPr/>
        </p:nvSpPr>
        <p:spPr>
          <a:xfrm>
            <a:off x="10801350" y="1457325"/>
            <a:ext cx="800100"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8"/>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Đảm bảo tính toàn vẹn tiền tệ bằng Fixed-Point Arithmetic và Partial Index</a:t>
            </a:r>
            <a:endParaRPr/>
          </a:p>
        </p:txBody>
      </p:sp>
      <p:sp>
        <p:nvSpPr>
          <p:cNvPr id="266" name="Google Shape;266;p18"/>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06 / 24</a:t>
            </a:r>
            <a:endParaRPr/>
          </a:p>
        </p:txBody>
      </p:sp>
      <p:sp>
        <p:nvSpPr>
          <p:cNvPr id="267" name="Google Shape;267;p18"/>
          <p:cNvSpPr txBox="1"/>
          <p:nvPr/>
        </p:nvSpPr>
        <p:spPr>
          <a:xfrm>
            <a:off x="457200" y="361950"/>
            <a:ext cx="78581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2: KIẾN TRÚC POLYGLOT</a:t>
            </a:r>
            <a:endParaRPr/>
          </a:p>
        </p:txBody>
      </p:sp>
      <p:sp>
        <p:nvSpPr>
          <p:cNvPr id="268" name="Google Shape;268;p18"/>
          <p:cNvSpPr txBox="1"/>
          <p:nvPr/>
        </p:nvSpPr>
        <p:spPr>
          <a:xfrm>
            <a:off x="457200" y="523875"/>
            <a:ext cx="825103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PostgreSQL Engine: Két Sắt Tài Chính &amp; Write-Ahead Log</a:t>
            </a:r>
            <a:endParaRPr/>
          </a:p>
        </p:txBody>
      </p:sp>
      <p:sp>
        <p:nvSpPr>
          <p:cNvPr id="269" name="Google Shape;269;p18"/>
          <p:cNvSpPr txBox="1"/>
          <p:nvPr/>
        </p:nvSpPr>
        <p:spPr>
          <a:xfrm>
            <a:off x="5907732" y="5756076"/>
            <a:ext cx="5674667" cy="51137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FFFFFF"/>
                </a:solidFill>
                <a:latin typeface="Inter"/>
                <a:ea typeface="Inter"/>
                <a:cs typeface="Inter"/>
                <a:sym typeface="Inter"/>
              </a:rPr>
              <a:t>Lợi thế kiến trúc Partial Index:</a:t>
            </a:r>
            <a:endParaRPr/>
          </a:p>
        </p:txBody>
      </p:sp>
      <p:sp>
        <p:nvSpPr>
          <p:cNvPr id="270" name="Google Shape;270;p18"/>
          <p:cNvSpPr txBox="1"/>
          <p:nvPr/>
        </p:nvSpPr>
        <p:spPr>
          <a:xfrm>
            <a:off x="619125" y="1447800"/>
            <a:ext cx="6228708"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Fixed-Point Arithmetic (Kiểu NUMERIC)</a:t>
            </a:r>
            <a:endParaRPr/>
          </a:p>
        </p:txBody>
      </p:sp>
      <p:sp>
        <p:nvSpPr>
          <p:cNvPr id="271" name="Google Shape;271;p18"/>
          <p:cNvSpPr txBox="1"/>
          <p:nvPr/>
        </p:nvSpPr>
        <p:spPr>
          <a:xfrm>
            <a:off x="619125" y="1628775"/>
            <a:ext cx="484093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JavaScript và MongoDB lưu số thực bằng chuẩn IEEE 754 (Double) gây ra lỗi sai số làm tròn số học (0.1 + 0.2 != 0.3). PostgreSQL lưu kiểu NUMERIC(15,2) dưới dạng mảng số nguyên cơ số 10.000, tính tiền chính xác tuyệt đối từng xu.</a:t>
            </a:r>
            <a:endParaRPr/>
          </a:p>
        </p:txBody>
      </p:sp>
      <p:sp>
        <p:nvSpPr>
          <p:cNvPr id="272" name="Google Shape;272;p18"/>
          <p:cNvSpPr txBox="1"/>
          <p:nvPr/>
        </p:nvSpPr>
        <p:spPr>
          <a:xfrm>
            <a:off x="619125" y="2432595"/>
            <a:ext cx="6228708"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Write-Ahead Logging (WAL Engine)</a:t>
            </a:r>
            <a:endParaRPr/>
          </a:p>
        </p:txBody>
      </p:sp>
      <p:sp>
        <p:nvSpPr>
          <p:cNvPr id="273" name="Google Shape;273;p18"/>
          <p:cNvSpPr txBox="1"/>
          <p:nvPr/>
        </p:nvSpPr>
        <p:spPr>
          <a:xfrm>
            <a:off x="619125" y="2613570"/>
            <a:ext cx="4840932" cy="4799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Mọi thay đổi dữ liệu bắt buộc ghi tuần tự vào WAL buffer trên đĩa cứng bằng lệnh </a:t>
            </a:r>
            <a:r>
              <a:rPr b="0" i="0" lang="en-US" sz="825" u="none" cap="none" strike="noStrike">
                <a:solidFill>
                  <a:srgbClr val="000000"/>
                </a:solidFill>
                <a:latin typeface="Inter"/>
                <a:ea typeface="Inter"/>
                <a:cs typeface="Inter"/>
                <a:sym typeface="Inter"/>
              </a:rPr>
              <a:t>fsync()</a:t>
            </a:r>
            <a:r>
              <a:rPr b="0" i="0" lang="en-US" sz="900" u="none" cap="none" strike="noStrike">
                <a:solidFill>
                  <a:srgbClr val="52525B"/>
                </a:solidFill>
                <a:latin typeface="Inter"/>
                <a:ea typeface="Inter"/>
                <a:cs typeface="Inter"/>
                <a:sym typeface="Inter"/>
              </a:rPr>
              <a:t> trước khi báo COMMIT. Kể cả khi máy chủ sập nguồn đột ngột, engine tự động replay WAL để khôi phục 100% dữ liệu.</a:t>
            </a:r>
            <a:endParaRPr/>
          </a:p>
        </p:txBody>
      </p:sp>
      <p:sp>
        <p:nvSpPr>
          <p:cNvPr id="274" name="Google Shape;274;p18"/>
          <p:cNvSpPr txBox="1"/>
          <p:nvPr/>
        </p:nvSpPr>
        <p:spPr>
          <a:xfrm>
            <a:off x="619125" y="3417391"/>
            <a:ext cx="6228708"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Physical Integrity Constraints</a:t>
            </a:r>
            <a:endParaRPr/>
          </a:p>
        </p:txBody>
      </p:sp>
      <p:sp>
        <p:nvSpPr>
          <p:cNvPr id="275" name="Google Shape;275;p18"/>
          <p:cNvSpPr txBox="1"/>
          <p:nvPr/>
        </p:nvSpPr>
        <p:spPr>
          <a:xfrm>
            <a:off x="619125" y="3598366"/>
            <a:ext cx="4840932" cy="31998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900" u="none" cap="none" strike="noStrike">
                <a:solidFill>
                  <a:srgbClr val="52525B"/>
                </a:solidFill>
                <a:latin typeface="Inter"/>
                <a:ea typeface="Inter"/>
                <a:cs typeface="Inter"/>
                <a:sym typeface="Inter"/>
              </a:rPr>
              <a:t>Ràng buộc CHECK (amount &gt; 0) và CHECK (status IN (...)) ngăn chặn dữ liệu rác ngay từ tầng engine lưu trữ vật lý.</a:t>
            </a:r>
            <a:endParaRPr/>
          </a:p>
        </p:txBody>
      </p:sp>
      <p:sp>
        <p:nvSpPr>
          <p:cNvPr id="276" name="Google Shape;276;p18"/>
          <p:cNvSpPr txBox="1"/>
          <p:nvPr/>
        </p:nvSpPr>
        <p:spPr>
          <a:xfrm>
            <a:off x="5793432" y="1771650"/>
            <a:ext cx="5903267" cy="2299394"/>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1" i="0" lang="en-US" sz="862" u="none" cap="none" strike="noStrike">
                <a:solidFill>
                  <a:srgbClr val="FFFFFF"/>
                </a:solidFill>
                <a:latin typeface="JetBrains Mono"/>
                <a:ea typeface="JetBrains Mono"/>
                <a:cs typeface="JetBrains Mono"/>
                <a:sym typeface="JetBrains Mono"/>
              </a:rPr>
              <a:t>CREATE TABLE payment_transactions ( txn_id UUID PRIMARY KEY DEFAULT gen_random_uuid(), order_code </a:t>
            </a:r>
            <a:r>
              <a:rPr b="1" i="0" lang="en-US" sz="862" u="none" cap="none" strike="noStrike">
                <a:solidFill>
                  <a:srgbClr val="A1A1AA"/>
                </a:solidFill>
                <a:latin typeface="JetBrains Mono"/>
                <a:ea typeface="JetBrains Mono"/>
                <a:cs typeface="JetBrains Mono"/>
                <a:sym typeface="JetBrains Mono"/>
              </a:rPr>
              <a:t>VARCHAR(50)</a:t>
            </a:r>
            <a:r>
              <a:rPr b="1" i="0" lang="en-US" sz="862" u="none" cap="none" strike="noStrike">
                <a:solidFill>
                  <a:srgbClr val="FFFFFF"/>
                </a:solidFill>
                <a:latin typeface="JetBrains Mono"/>
                <a:ea typeface="JetBrains Mono"/>
                <a:cs typeface="JetBrains Mono"/>
                <a:sym typeface="JetBrains Mono"/>
              </a:rPr>
              <a:t> NOT NULL, vnp_txn_ref </a:t>
            </a:r>
            <a:r>
              <a:rPr b="1" i="0" lang="en-US" sz="862" u="none" cap="none" strike="noStrike">
                <a:solidFill>
                  <a:srgbClr val="A1A1AA"/>
                </a:solidFill>
                <a:latin typeface="JetBrains Mono"/>
                <a:ea typeface="JetBrains Mono"/>
                <a:cs typeface="JetBrains Mono"/>
                <a:sym typeface="JetBrains Mono"/>
              </a:rPr>
              <a:t>VARCHAR(100) UNIQUE NOT NULL</a:t>
            </a:r>
            <a:r>
              <a:rPr b="1" i="0" lang="en-US" sz="862" u="none" cap="none" strike="noStrike">
                <a:solidFill>
                  <a:srgbClr val="FFFFFF"/>
                </a:solidFill>
                <a:latin typeface="JetBrains Mono"/>
                <a:ea typeface="JetBrains Mono"/>
                <a:cs typeface="JetBrains Mono"/>
                <a:sym typeface="JetBrains Mono"/>
              </a:rPr>
              <a:t>, amount </a:t>
            </a:r>
            <a:r>
              <a:rPr b="1" i="0" lang="en-US" sz="862" u="none" cap="none" strike="noStrike">
                <a:solidFill>
                  <a:srgbClr val="A1A1AA"/>
                </a:solidFill>
                <a:latin typeface="JetBrains Mono"/>
                <a:ea typeface="JetBrains Mono"/>
                <a:cs typeface="JetBrains Mono"/>
                <a:sym typeface="JetBrains Mono"/>
              </a:rPr>
              <a:t>NUMERIC(15,2)</a:t>
            </a:r>
            <a:r>
              <a:rPr b="1" i="0" lang="en-US" sz="862" u="none" cap="none" strike="noStrike">
                <a:solidFill>
                  <a:srgbClr val="FFFFFF"/>
                </a:solidFill>
                <a:latin typeface="JetBrains Mono"/>
                <a:ea typeface="JetBrains Mono"/>
                <a:cs typeface="JetBrains Mono"/>
                <a:sym typeface="JetBrains Mono"/>
              </a:rPr>
              <a:t> NOT NULL DEFAULT 2808000.00, status </a:t>
            </a:r>
            <a:r>
              <a:rPr b="1" i="0" lang="en-US" sz="862" u="none" cap="none" strike="noStrike">
                <a:solidFill>
                  <a:srgbClr val="A1A1AA"/>
                </a:solidFill>
                <a:latin typeface="JetBrains Mono"/>
                <a:ea typeface="JetBrains Mono"/>
                <a:cs typeface="JetBrains Mono"/>
                <a:sym typeface="JetBrains Mono"/>
              </a:rPr>
              <a:t>VARCHAR(20)</a:t>
            </a:r>
            <a:r>
              <a:rPr b="1" i="0" lang="en-US" sz="862" u="none" cap="none" strike="noStrike">
                <a:solidFill>
                  <a:srgbClr val="FFFFFF"/>
                </a:solidFill>
                <a:latin typeface="JetBrains Mono"/>
                <a:ea typeface="JetBrains Mono"/>
                <a:cs typeface="JetBrains Mono"/>
                <a:sym typeface="JetBrains Mono"/>
              </a:rPr>
              <a:t> NOT NULL DEFAULT </a:t>
            </a:r>
            <a:r>
              <a:rPr b="1" i="0" lang="en-US" sz="862" u="none" cap="none" strike="noStrike">
                <a:solidFill>
                  <a:srgbClr val="D4D4D8"/>
                </a:solidFill>
                <a:latin typeface="JetBrains Mono"/>
                <a:ea typeface="JetBrains Mono"/>
                <a:cs typeface="JetBrains Mono"/>
                <a:sym typeface="JetBrains Mono"/>
              </a:rPr>
              <a:t>'PENDING'</a:t>
            </a:r>
            <a:r>
              <a:rPr b="1" i="0" lang="en-US" sz="862" u="none" cap="none" strike="noStrike">
                <a:solidFill>
                  <a:srgbClr val="FFFFFF"/>
                </a:solidFill>
                <a:latin typeface="JetBrains Mono"/>
                <a:ea typeface="JetBrains Mono"/>
                <a:cs typeface="JetBrains Mono"/>
                <a:sym typeface="JetBrains Mono"/>
              </a:rPr>
              <a:t>, CONSTRAINT chk_payment_amount CHECK (amount &gt; 0), CONSTRAINT chk_payment_status CHECK (status IN (</a:t>
            </a:r>
            <a:r>
              <a:rPr b="1" i="0" lang="en-US" sz="862" u="none" cap="none" strike="noStrike">
                <a:solidFill>
                  <a:srgbClr val="D4D4D8"/>
                </a:solidFill>
                <a:latin typeface="JetBrains Mono"/>
                <a:ea typeface="JetBrains Mono"/>
                <a:cs typeface="JetBrains Mono"/>
                <a:sym typeface="JetBrains Mono"/>
              </a:rPr>
              <a:t>'PENDING'</a:t>
            </a:r>
            <a:r>
              <a:rPr b="1" i="0" lang="en-US" sz="862" u="none" cap="none" strike="noStrike">
                <a:solidFill>
                  <a:srgbClr val="FFFFFF"/>
                </a:solidFill>
                <a:latin typeface="JetBrains Mono"/>
                <a:ea typeface="JetBrains Mono"/>
                <a:cs typeface="JetBrains Mono"/>
                <a:sym typeface="JetBrains Mono"/>
              </a:rPr>
              <a:t>, </a:t>
            </a:r>
            <a:r>
              <a:rPr b="1" i="0" lang="en-US" sz="862" u="none" cap="none" strike="noStrike">
                <a:solidFill>
                  <a:srgbClr val="D4D4D8"/>
                </a:solidFill>
                <a:latin typeface="JetBrains Mono"/>
                <a:ea typeface="JetBrains Mono"/>
                <a:cs typeface="JetBrains Mono"/>
                <a:sym typeface="JetBrains Mono"/>
              </a:rPr>
              <a:t>'SUCCESS'</a:t>
            </a:r>
            <a:r>
              <a:rPr b="1" i="0" lang="en-US" sz="862" u="none" cap="none" strike="noStrike">
                <a:solidFill>
                  <a:srgbClr val="FFFFFF"/>
                </a:solidFill>
                <a:latin typeface="JetBrains Mono"/>
                <a:ea typeface="JetBrains Mono"/>
                <a:cs typeface="JetBrains Mono"/>
                <a:sym typeface="JetBrains Mono"/>
              </a:rPr>
              <a:t>, </a:t>
            </a:r>
            <a:r>
              <a:rPr b="1" i="0" lang="en-US" sz="862" u="none" cap="none" strike="noStrike">
                <a:solidFill>
                  <a:srgbClr val="D4D4D8"/>
                </a:solidFill>
                <a:latin typeface="JetBrains Mono"/>
                <a:ea typeface="JetBrains Mono"/>
                <a:cs typeface="JetBrains Mono"/>
                <a:sym typeface="JetBrains Mono"/>
              </a:rPr>
              <a:t>'FAILED'</a:t>
            </a:r>
            <a:r>
              <a:rPr b="1" i="0" lang="en-US" sz="862" u="none" cap="none" strike="noStrike">
                <a:solidFill>
                  <a:srgbClr val="FFFFFF"/>
                </a:solidFill>
                <a:latin typeface="JetBrains Mono"/>
                <a:ea typeface="JetBrains Mono"/>
                <a:cs typeface="JetBrains Mono"/>
                <a:sym typeface="JetBrains Mono"/>
              </a:rPr>
              <a:t>)) ); </a:t>
            </a:r>
            <a:r>
              <a:rPr b="1" i="0" lang="en-US" sz="862" u="none" cap="none" strike="noStrike">
                <a:solidFill>
                  <a:srgbClr val="71717A"/>
                </a:solidFill>
                <a:latin typeface="JetBrains Mono"/>
                <a:ea typeface="JetBrains Mono"/>
                <a:cs typeface="JetBrains Mono"/>
                <a:sym typeface="JetBrains Mono"/>
              </a:rPr>
              <a:t>-- TOI UU HOA PARTIAL B-TREE INDEX</a:t>
            </a:r>
            <a:r>
              <a:rPr b="1" i="0" lang="en-US" sz="862" u="none" cap="none" strike="noStrike">
                <a:solidFill>
                  <a:srgbClr val="FFFFFF"/>
                </a:solidFill>
                <a:latin typeface="JetBrains Mono"/>
                <a:ea typeface="JetBrains Mono"/>
                <a:cs typeface="JetBrains Mono"/>
                <a:sym typeface="JetBrains Mono"/>
              </a:rPr>
              <a:t> CREATE INDEX idx_outbox_pending ON outbox_events(processed_status) WHERE processed_status = </a:t>
            </a:r>
            <a:r>
              <a:rPr b="1" i="0" lang="en-US" sz="862" u="none" cap="none" strike="noStrike">
                <a:solidFill>
                  <a:srgbClr val="D4D4D8"/>
                </a:solidFill>
                <a:latin typeface="JetBrains Mono"/>
                <a:ea typeface="JetBrains Mono"/>
                <a:cs typeface="JetBrains Mono"/>
                <a:sym typeface="JetBrains Mono"/>
              </a:rPr>
              <a:t>'PENDING'</a:t>
            </a:r>
            <a:r>
              <a:rPr b="1" i="0" lang="en-US" sz="862" u="none" cap="none" strike="noStrike">
                <a:solidFill>
                  <a:srgbClr val="FFFFFF"/>
                </a:solidFill>
                <a:latin typeface="JetBrains Mono"/>
                <a:ea typeface="JetBrains Mono"/>
                <a:cs typeface="JetBrains Mono"/>
                <a:sym typeface="JetBrains Mono"/>
              </a:rPr>
              <a:t>;</a:t>
            </a:r>
            <a:endParaRPr/>
          </a:p>
        </p:txBody>
      </p:sp>
      <p:sp>
        <p:nvSpPr>
          <p:cNvPr id="277" name="Google Shape;277;p18"/>
          <p:cNvSpPr txBox="1"/>
          <p:nvPr/>
        </p:nvSpPr>
        <p:spPr>
          <a:xfrm>
            <a:off x="5917257" y="5975151"/>
            <a:ext cx="5655617" cy="282773"/>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US" sz="825" u="none" cap="none" strike="noStrike">
                <a:solidFill>
                  <a:srgbClr val="A1A1AA"/>
                </a:solidFill>
                <a:latin typeface="Inter"/>
                <a:ea typeface="Inter"/>
                <a:cs typeface="Inter"/>
                <a:sym typeface="Inter"/>
              </a:rPr>
              <a:t>Khi bảng có 1.000.000 dòng đã xử lý, Index chỉ chứa đúng vài dòng PENDING. Độ sâu B-Tree H = 1, nằm trọn trong L1/L2 Cache!</a:t>
            </a:r>
            <a:endParaRPr/>
          </a:p>
        </p:txBody>
      </p:sp>
      <p:sp>
        <p:nvSpPr>
          <p:cNvPr id="278" name="Google Shape;278;p18"/>
          <p:cNvSpPr txBox="1"/>
          <p:nvPr/>
        </p:nvSpPr>
        <p:spPr>
          <a:xfrm>
            <a:off x="5793432" y="1471612"/>
            <a:ext cx="14192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init_postgres.sql</a:t>
            </a:r>
            <a:endParaRPr/>
          </a:p>
        </p:txBody>
      </p:sp>
      <p:sp>
        <p:nvSpPr>
          <p:cNvPr id="279" name="Google Shape;279;p18"/>
          <p:cNvSpPr txBox="1"/>
          <p:nvPr/>
        </p:nvSpPr>
        <p:spPr>
          <a:xfrm>
            <a:off x="10868025" y="1476375"/>
            <a:ext cx="7620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STRICT DDL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19"/>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19"/>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19"/>
          <p:cNvSpPr/>
          <p:nvPr/>
        </p:nvSpPr>
        <p:spPr>
          <a:xfrm>
            <a:off x="5660082" y="1323975"/>
            <a:ext cx="6074717"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9"/>
          <p:cNvSpPr/>
          <p:nvPr/>
        </p:nvSpPr>
        <p:spPr>
          <a:xfrm>
            <a:off x="457200" y="1323975"/>
            <a:ext cx="5050482" cy="690413"/>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19"/>
          <p:cNvSpPr/>
          <p:nvPr/>
        </p:nvSpPr>
        <p:spPr>
          <a:xfrm>
            <a:off x="457200" y="2081063"/>
            <a:ext cx="5050482" cy="68758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19"/>
          <p:cNvSpPr/>
          <p:nvPr/>
        </p:nvSpPr>
        <p:spPr>
          <a:xfrm>
            <a:off x="457200" y="2835324"/>
            <a:ext cx="5050482" cy="68758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19"/>
          <p:cNvSpPr/>
          <p:nvPr/>
        </p:nvSpPr>
        <p:spPr>
          <a:xfrm>
            <a:off x="457200" y="3589585"/>
            <a:ext cx="5050482" cy="68758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19"/>
          <p:cNvSpPr/>
          <p:nvPr/>
        </p:nvSpPr>
        <p:spPr>
          <a:xfrm>
            <a:off x="457200" y="2004863"/>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19"/>
          <p:cNvSpPr/>
          <p:nvPr/>
        </p:nvSpPr>
        <p:spPr>
          <a:xfrm>
            <a:off x="457200" y="132397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19"/>
          <p:cNvSpPr/>
          <p:nvPr/>
        </p:nvSpPr>
        <p:spPr>
          <a:xfrm>
            <a:off x="457200" y="1323975"/>
            <a:ext cx="28575" cy="690413"/>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19"/>
          <p:cNvSpPr/>
          <p:nvPr/>
        </p:nvSpPr>
        <p:spPr>
          <a:xfrm>
            <a:off x="5498157" y="1323975"/>
            <a:ext cx="9525" cy="690413"/>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19"/>
          <p:cNvSpPr/>
          <p:nvPr/>
        </p:nvSpPr>
        <p:spPr>
          <a:xfrm>
            <a:off x="457200" y="2759124"/>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19"/>
          <p:cNvSpPr/>
          <p:nvPr/>
        </p:nvSpPr>
        <p:spPr>
          <a:xfrm>
            <a:off x="457200" y="2081063"/>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9"/>
          <p:cNvSpPr/>
          <p:nvPr/>
        </p:nvSpPr>
        <p:spPr>
          <a:xfrm>
            <a:off x="457200" y="2081063"/>
            <a:ext cx="28575" cy="68758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19"/>
          <p:cNvSpPr/>
          <p:nvPr/>
        </p:nvSpPr>
        <p:spPr>
          <a:xfrm>
            <a:off x="5498157" y="2081063"/>
            <a:ext cx="9525" cy="68758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19"/>
          <p:cNvSpPr/>
          <p:nvPr/>
        </p:nvSpPr>
        <p:spPr>
          <a:xfrm>
            <a:off x="457200" y="351338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19"/>
          <p:cNvSpPr/>
          <p:nvPr/>
        </p:nvSpPr>
        <p:spPr>
          <a:xfrm>
            <a:off x="457200" y="2835324"/>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19"/>
          <p:cNvSpPr/>
          <p:nvPr/>
        </p:nvSpPr>
        <p:spPr>
          <a:xfrm>
            <a:off x="457200" y="2835324"/>
            <a:ext cx="28575" cy="68758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19"/>
          <p:cNvSpPr/>
          <p:nvPr/>
        </p:nvSpPr>
        <p:spPr>
          <a:xfrm>
            <a:off x="5498157" y="2835324"/>
            <a:ext cx="9525" cy="68758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19"/>
          <p:cNvSpPr/>
          <p:nvPr/>
        </p:nvSpPr>
        <p:spPr>
          <a:xfrm>
            <a:off x="457200" y="4267646"/>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19"/>
          <p:cNvSpPr/>
          <p:nvPr/>
        </p:nvSpPr>
        <p:spPr>
          <a:xfrm>
            <a:off x="457200" y="358958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19"/>
          <p:cNvSpPr/>
          <p:nvPr/>
        </p:nvSpPr>
        <p:spPr>
          <a:xfrm>
            <a:off x="457200" y="3589585"/>
            <a:ext cx="28575" cy="68758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9"/>
          <p:cNvSpPr/>
          <p:nvPr/>
        </p:nvSpPr>
        <p:spPr>
          <a:xfrm>
            <a:off x="5498157" y="3589585"/>
            <a:ext cx="9525" cy="68758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19"/>
          <p:cNvSpPr/>
          <p:nvPr/>
        </p:nvSpPr>
        <p:spPr>
          <a:xfrm>
            <a:off x="10797480" y="1457325"/>
            <a:ext cx="80396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19"/>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Lưu trữ toàn bộ vòng đời phiếu sửa xe trong 1 BSON Document duy nhất</a:t>
            </a:r>
            <a:endParaRPr/>
          </a:p>
        </p:txBody>
      </p:sp>
      <p:sp>
        <p:nvSpPr>
          <p:cNvPr id="309" name="Google Shape;309;p19"/>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07 / 24</a:t>
            </a:r>
            <a:endParaRPr/>
          </a:p>
        </p:txBody>
      </p:sp>
      <p:sp>
        <p:nvSpPr>
          <p:cNvPr id="310" name="Google Shape;310;p19"/>
          <p:cNvSpPr txBox="1"/>
          <p:nvPr/>
        </p:nvSpPr>
        <p:spPr>
          <a:xfrm>
            <a:off x="457200" y="361950"/>
            <a:ext cx="907256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2: KIẾN TRÚC POLYGLOT</a:t>
            </a:r>
            <a:endParaRPr/>
          </a:p>
        </p:txBody>
      </p:sp>
      <p:sp>
        <p:nvSpPr>
          <p:cNvPr id="311" name="Google Shape;311;p19"/>
          <p:cNvSpPr txBox="1"/>
          <p:nvPr/>
        </p:nvSpPr>
        <p:spPr>
          <a:xfrm>
            <a:off x="457200" y="523875"/>
            <a:ext cx="952619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MongoDB Engine: Aggregate Root (DDD) &amp; Snapshot Immutability</a:t>
            </a:r>
            <a:endParaRPr/>
          </a:p>
        </p:txBody>
      </p:sp>
      <p:sp>
        <p:nvSpPr>
          <p:cNvPr id="312" name="Google Shape;312;p19"/>
          <p:cNvSpPr txBox="1"/>
          <p:nvPr/>
        </p:nvSpPr>
        <p:spPr>
          <a:xfrm>
            <a:off x="5793432" y="1771650"/>
            <a:ext cx="5903267" cy="3811488"/>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825" u="none" cap="none" strike="noStrike">
                <a:solidFill>
                  <a:srgbClr val="FFFFFF"/>
                </a:solidFill>
                <a:latin typeface="JetBrains Mono"/>
                <a:ea typeface="JetBrains Mono"/>
                <a:cs typeface="JetBrains Mono"/>
                <a:sym typeface="JetBrains Mono"/>
              </a:rPr>
              <a:t>const WorkOrderSchema = new Schema({ order_code: { type: String, unique: </a:t>
            </a:r>
            <a:r>
              <a:rPr b="1" i="0" lang="en-US" sz="825" u="none" cap="none" strike="noStrike">
                <a:solidFill>
                  <a:srgbClr val="A1A1AA"/>
                </a:solidFill>
                <a:latin typeface="JetBrains Mono"/>
                <a:ea typeface="JetBrains Mono"/>
                <a:cs typeface="JetBrains Mono"/>
                <a:sym typeface="JetBrains Mono"/>
              </a:rPr>
              <a:t>true</a:t>
            </a:r>
            <a:r>
              <a:rPr b="1" i="0" lang="en-US" sz="825" u="none" cap="none" strike="noStrike">
                <a:solidFill>
                  <a:srgbClr val="FFFFFF"/>
                </a:solidFill>
                <a:latin typeface="JetBrains Mono"/>
                <a:ea typeface="JetBrains Mono"/>
                <a:cs typeface="JetBrains Mono"/>
                <a:sym typeface="JetBrains Mono"/>
              </a:rPr>
              <a:t>, index: </a:t>
            </a:r>
            <a:r>
              <a:rPr b="1" i="0" lang="en-US" sz="825" u="none" cap="none" strike="noStrike">
                <a:solidFill>
                  <a:srgbClr val="A1A1AA"/>
                </a:solidFill>
                <a:latin typeface="JetBrains Mono"/>
                <a:ea typeface="JetBrains Mono"/>
                <a:cs typeface="JetBrains Mono"/>
                <a:sym typeface="JetBrains Mono"/>
              </a:rPr>
              <a:t>true</a:t>
            </a:r>
            <a:r>
              <a:rPr b="1" i="0" lang="en-US" sz="825" u="none" cap="none" strike="noStrike">
                <a:solidFill>
                  <a:srgbClr val="FFFFFF"/>
                </a:solidFill>
                <a:latin typeface="JetBrains Mono"/>
                <a:ea typeface="JetBrains Mono"/>
                <a:cs typeface="JetBrains Mono"/>
                <a:sym typeface="JetBrains Mono"/>
              </a:rPr>
              <a:t> }, current_status: { type: String, default: </a:t>
            </a:r>
            <a:r>
              <a:rPr b="1" i="0" lang="en-US" sz="825" u="none" cap="none" strike="noStrike">
                <a:solidFill>
                  <a:srgbClr val="D4D4D8"/>
                </a:solidFill>
                <a:latin typeface="JetBrains Mono"/>
                <a:ea typeface="JetBrains Mono"/>
                <a:cs typeface="JetBrains Mono"/>
                <a:sym typeface="JetBrains Mono"/>
              </a:rPr>
              <a:t>'TIEP_NHAN'</a:t>
            </a:r>
            <a:r>
              <a:rPr b="1" i="0" lang="en-US" sz="825" u="none" cap="none" strike="noStrike">
                <a:solidFill>
                  <a:srgbClr val="FFFFFF"/>
                </a:solidFill>
                <a:latin typeface="JetBrains Mono"/>
                <a:ea typeface="JetBrains Mono"/>
                <a:cs typeface="JetBrains Mono"/>
                <a:sym typeface="JetBrains Mono"/>
              </a:rPr>
              <a:t> }, payment_status: { type: String, default: </a:t>
            </a:r>
            <a:r>
              <a:rPr b="1" i="0" lang="en-US" sz="825" u="none" cap="none" strike="noStrike">
                <a:solidFill>
                  <a:srgbClr val="D4D4D8"/>
                </a:solidFill>
                <a:latin typeface="JetBrains Mono"/>
                <a:ea typeface="JetBrains Mono"/>
                <a:cs typeface="JetBrains Mono"/>
                <a:sym typeface="JetBrains Mono"/>
              </a:rPr>
              <a:t>'UNPAID'</a:t>
            </a:r>
            <a:r>
              <a:rPr b="1" i="0" lang="en-US" sz="825" u="none" cap="none" strike="noStrike">
                <a:solidFill>
                  <a:srgbClr val="FFFFFF"/>
                </a:solidFill>
                <a:latin typeface="JetBrains Mono"/>
                <a:ea typeface="JetBrains Mono"/>
                <a:cs typeface="JetBrains Mono"/>
                <a:sym typeface="JetBrains Mono"/>
              </a:rPr>
              <a:t> }, </a:t>
            </a:r>
            <a:r>
              <a:rPr b="1" i="0" lang="en-US" sz="825" u="none" cap="none" strike="noStrike">
                <a:solidFill>
                  <a:srgbClr val="71717A"/>
                </a:solidFill>
                <a:latin typeface="JetBrains Mono"/>
                <a:ea typeface="JetBrains Mono"/>
                <a:cs typeface="JetBrains Mono"/>
                <a:sym typeface="JetBrains Mono"/>
              </a:rPr>
              <a:t>// SNAPSHOT KHACH HANG &amp; XE LICH SU</a:t>
            </a:r>
            <a:r>
              <a:rPr b="1" i="0" lang="en-US" sz="825" u="none" cap="none" strike="noStrike">
                <a:solidFill>
                  <a:srgbClr val="FFFFFF"/>
                </a:solidFill>
                <a:latin typeface="JetBrains Mono"/>
                <a:ea typeface="JetBrains Mono"/>
                <a:cs typeface="JetBrains Mono"/>
                <a:sym typeface="JetBrains Mono"/>
              </a:rPr>
              <a:t> customer_snapshot: { name: String, phone: String, email: String }, vehicle_snapshot: { license_plate: String, vin: String, model: String }, </a:t>
            </a:r>
            <a:r>
              <a:rPr b="1" i="0" lang="en-US" sz="825" u="none" cap="none" strike="noStrike">
                <a:solidFill>
                  <a:srgbClr val="71717A"/>
                </a:solidFill>
                <a:latin typeface="JetBrains Mono"/>
                <a:ea typeface="JetBrains Mono"/>
                <a:cs typeface="JetBrains Mono"/>
                <a:sym typeface="JetBrains Mono"/>
              </a:rPr>
              <a:t>// MANG EMBEDDED PHU TUNG &amp; CONG THO</a:t>
            </a:r>
            <a:r>
              <a:rPr b="1" i="0" lang="en-US" sz="825" u="none" cap="none" strike="noStrike">
                <a:solidFill>
                  <a:srgbClr val="FFFFFF"/>
                </a:solidFill>
                <a:latin typeface="JetBrains Mono"/>
                <a:ea typeface="JetBrains Mono"/>
                <a:cs typeface="JetBrains Mono"/>
                <a:sym typeface="JetBrains Mono"/>
              </a:rPr>
              <a:t> items: [{ part_code: String, part_name: String, quantity: Number, unit_price: Number, is_allocated: { type: Boolean, default: </a:t>
            </a:r>
            <a:r>
              <a:rPr b="1" i="0" lang="en-US" sz="825" u="none" cap="none" strike="noStrike">
                <a:solidFill>
                  <a:srgbClr val="A1A1AA"/>
                </a:solidFill>
                <a:latin typeface="JetBrains Mono"/>
                <a:ea typeface="JetBrains Mono"/>
                <a:cs typeface="JetBrains Mono"/>
                <a:sym typeface="JetBrains Mono"/>
              </a:rPr>
              <a:t>false</a:t>
            </a:r>
            <a:r>
              <a:rPr b="1" i="0" lang="en-US" sz="825" u="none" cap="none" strike="noStrike">
                <a:solidFill>
                  <a:srgbClr val="FFFFFF"/>
                </a:solidFill>
                <a:latin typeface="JetBrains Mono"/>
                <a:ea typeface="JetBrains Mono"/>
                <a:cs typeface="JetBrains Mono"/>
                <a:sym typeface="JetBrains Mono"/>
              </a:rPr>
              <a:t> } }], </a:t>
            </a:r>
            <a:r>
              <a:rPr b="1" i="0" lang="en-US" sz="825" u="none" cap="none" strike="noStrike">
                <a:solidFill>
                  <a:srgbClr val="71717A"/>
                </a:solidFill>
                <a:latin typeface="JetBrains Mono"/>
                <a:ea typeface="JetBrains Mono"/>
                <a:cs typeface="JetBrains Mono"/>
                <a:sym typeface="JetBrains Mono"/>
              </a:rPr>
              <a:t>// NHAT KY THI CONG THEO THOI GIAN</a:t>
            </a:r>
            <a:r>
              <a:rPr b="1" i="0" lang="en-US" sz="825" u="none" cap="none" strike="noStrike">
                <a:solidFill>
                  <a:srgbClr val="FFFFFF"/>
                </a:solidFill>
                <a:latin typeface="JetBrains Mono"/>
                <a:ea typeface="JetBrains Mono"/>
                <a:cs typeface="JetBrains Mono"/>
                <a:sym typeface="JetBrains Mono"/>
              </a:rPr>
              <a:t> workflow_timeline: [{ status: String, updated_by: String, updated_at: { type: Date, default: Date.now }, note: String }] });</a:t>
            </a:r>
            <a:endParaRPr/>
          </a:p>
        </p:txBody>
      </p:sp>
      <p:sp>
        <p:nvSpPr>
          <p:cNvPr id="313" name="Google Shape;313;p19"/>
          <p:cNvSpPr txBox="1"/>
          <p:nvPr/>
        </p:nvSpPr>
        <p:spPr>
          <a:xfrm>
            <a:off x="600075" y="1428750"/>
            <a:ext cx="627871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Aggregate Root Pattern (DDD)</a:t>
            </a:r>
            <a:endParaRPr/>
          </a:p>
        </p:txBody>
      </p:sp>
      <p:sp>
        <p:nvSpPr>
          <p:cNvPr id="314" name="Google Shape;314;p19"/>
          <p:cNvSpPr txBox="1"/>
          <p:nvPr/>
        </p:nvSpPr>
        <p:spPr>
          <a:xfrm>
            <a:off x="600075" y="1600200"/>
            <a:ext cx="4879032" cy="309413"/>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WorkOrder lồng nhau: </a:t>
            </a:r>
            <a:r>
              <a:rPr b="0" i="0" lang="en-US" sz="825" u="none" cap="none" strike="noStrike">
                <a:solidFill>
                  <a:srgbClr val="000000"/>
                </a:solidFill>
                <a:latin typeface="Inter"/>
                <a:ea typeface="Inter"/>
                <a:cs typeface="Inter"/>
                <a:sym typeface="Inter"/>
              </a:rPr>
              <a:t>items[]</a:t>
            </a:r>
            <a:r>
              <a:rPr b="0" i="0" lang="en-US" sz="862" u="none" cap="none" strike="noStrike">
                <a:solidFill>
                  <a:srgbClr val="52525B"/>
                </a:solidFill>
                <a:latin typeface="Inter"/>
                <a:ea typeface="Inter"/>
                <a:cs typeface="Inter"/>
                <a:sym typeface="Inter"/>
              </a:rPr>
              <a:t>, </a:t>
            </a:r>
            <a:r>
              <a:rPr b="0" i="0" lang="en-US" sz="825" u="none" cap="none" strike="noStrike">
                <a:solidFill>
                  <a:srgbClr val="000000"/>
                </a:solidFill>
                <a:latin typeface="Inter"/>
                <a:ea typeface="Inter"/>
                <a:cs typeface="Inter"/>
                <a:sym typeface="Inter"/>
              </a:rPr>
              <a:t>checklist[]</a:t>
            </a:r>
            <a:r>
              <a:rPr b="0" i="0" lang="en-US" sz="862" u="none" cap="none" strike="noStrike">
                <a:solidFill>
                  <a:srgbClr val="52525B"/>
                </a:solidFill>
                <a:latin typeface="Inter"/>
                <a:ea typeface="Inter"/>
                <a:cs typeface="Inter"/>
                <a:sym typeface="Inter"/>
              </a:rPr>
              <a:t>, và </a:t>
            </a:r>
            <a:r>
              <a:rPr b="0" i="0" lang="en-US" sz="825" u="none" cap="none" strike="noStrike">
                <a:solidFill>
                  <a:srgbClr val="000000"/>
                </a:solidFill>
                <a:latin typeface="Inter"/>
                <a:ea typeface="Inter"/>
                <a:cs typeface="Inter"/>
                <a:sym typeface="Inter"/>
              </a:rPr>
              <a:t>workflow_timeline[]</a:t>
            </a:r>
            <a:r>
              <a:rPr b="0" i="0" lang="en-US" sz="862" u="none" cap="none" strike="noStrike">
                <a:solidFill>
                  <a:srgbClr val="52525B"/>
                </a:solidFill>
                <a:latin typeface="Inter"/>
                <a:ea typeface="Inter"/>
                <a:cs typeface="Inter"/>
                <a:sym typeface="Inter"/>
              </a:rPr>
              <a:t>. Đọc/ghi toàn bộ phiếu sửa xe chỉ tốn đúng 1 Disk Seek I/O (O(1)).</a:t>
            </a:r>
            <a:endParaRPr/>
          </a:p>
        </p:txBody>
      </p:sp>
      <p:sp>
        <p:nvSpPr>
          <p:cNvPr id="315" name="Google Shape;315;p19"/>
          <p:cNvSpPr txBox="1"/>
          <p:nvPr/>
        </p:nvSpPr>
        <p:spPr>
          <a:xfrm>
            <a:off x="600075" y="2185838"/>
            <a:ext cx="627871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Triệt tiêu chi phí 6 phép JOIN trong RDBMS</a:t>
            </a:r>
            <a:endParaRPr/>
          </a:p>
        </p:txBody>
      </p:sp>
      <p:sp>
        <p:nvSpPr>
          <p:cNvPr id="316" name="Google Shape;316;p19"/>
          <p:cNvSpPr txBox="1"/>
          <p:nvPr/>
        </p:nvSpPr>
        <p:spPr>
          <a:xfrm>
            <a:off x="600075" y="2357288"/>
            <a:ext cx="487903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Nếu chuẩn hóa 3NF trong SQL cần 7 bảng liên kết. Mỗi lần đọc đơn phải tính tích Descartes, gây nghẽn CPU và phân mảnh bộ nhớ.</a:t>
            </a:r>
            <a:endParaRPr/>
          </a:p>
        </p:txBody>
      </p:sp>
      <p:sp>
        <p:nvSpPr>
          <p:cNvPr id="317" name="Google Shape;317;p19"/>
          <p:cNvSpPr txBox="1"/>
          <p:nvPr/>
        </p:nvSpPr>
        <p:spPr>
          <a:xfrm>
            <a:off x="600075" y="2940099"/>
            <a:ext cx="627871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Snapshot Immutability Pattern</a:t>
            </a:r>
            <a:endParaRPr/>
          </a:p>
        </p:txBody>
      </p:sp>
      <p:sp>
        <p:nvSpPr>
          <p:cNvPr id="318" name="Google Shape;318;p19"/>
          <p:cNvSpPr txBox="1"/>
          <p:nvPr/>
        </p:nvSpPr>
        <p:spPr>
          <a:xfrm>
            <a:off x="600075" y="3111549"/>
            <a:ext cx="487903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Giá phụ tùng và tên thợ máy tại thời điểm ký duyệt được lưu snapshot trực tiếp vào Document. Khi giá kho đổi trong tương lai, lịch sử hóa đơn khách hàng vẫn bất biến.</a:t>
            </a:r>
            <a:endParaRPr/>
          </a:p>
        </p:txBody>
      </p:sp>
      <p:sp>
        <p:nvSpPr>
          <p:cNvPr id="319" name="Google Shape;319;p19"/>
          <p:cNvSpPr txBox="1"/>
          <p:nvPr/>
        </p:nvSpPr>
        <p:spPr>
          <a:xfrm>
            <a:off x="600075" y="3694360"/>
            <a:ext cx="627871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WiredTiger Ticket Concurrency</a:t>
            </a:r>
            <a:endParaRPr/>
          </a:p>
        </p:txBody>
      </p:sp>
      <p:sp>
        <p:nvSpPr>
          <p:cNvPr id="320" name="Google Shape;320;p19"/>
          <p:cNvSpPr txBox="1"/>
          <p:nvPr/>
        </p:nvSpPr>
        <p:spPr>
          <a:xfrm>
            <a:off x="600075" y="3865810"/>
            <a:ext cx="487903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Khóa ở cấp Document (Document-level locking) cho phép hàng chục thợ máy cập nhật checklist song song vào các xe khác nhau mà không bị khóa bảng.</a:t>
            </a:r>
            <a:endParaRPr/>
          </a:p>
        </p:txBody>
      </p:sp>
      <p:sp>
        <p:nvSpPr>
          <p:cNvPr id="321" name="Google Shape;321;p19"/>
          <p:cNvSpPr txBox="1"/>
          <p:nvPr/>
        </p:nvSpPr>
        <p:spPr>
          <a:xfrm>
            <a:off x="5793432" y="1471612"/>
            <a:ext cx="30003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work-order.model.js (BSON STRUCTURE)</a:t>
            </a:r>
            <a:endParaRPr/>
          </a:p>
        </p:txBody>
      </p:sp>
      <p:sp>
        <p:nvSpPr>
          <p:cNvPr id="322" name="Google Shape;322;p19"/>
          <p:cNvSpPr txBox="1"/>
          <p:nvPr/>
        </p:nvSpPr>
        <p:spPr>
          <a:xfrm>
            <a:off x="10864155" y="1476375"/>
            <a:ext cx="76586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MONGOOSE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p20"/>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0"/>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0"/>
          <p:cNvSpPr/>
          <p:nvPr/>
        </p:nvSpPr>
        <p:spPr>
          <a:xfrm>
            <a:off x="5660082" y="1323975"/>
            <a:ext cx="6074717"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0"/>
          <p:cNvSpPr/>
          <p:nvPr/>
        </p:nvSpPr>
        <p:spPr>
          <a:xfrm>
            <a:off x="457200" y="1323975"/>
            <a:ext cx="5050482" cy="875109"/>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0"/>
          <p:cNvSpPr/>
          <p:nvPr/>
        </p:nvSpPr>
        <p:spPr>
          <a:xfrm>
            <a:off x="457200" y="2275284"/>
            <a:ext cx="5050482" cy="869453"/>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0"/>
          <p:cNvSpPr/>
          <p:nvPr/>
        </p:nvSpPr>
        <p:spPr>
          <a:xfrm>
            <a:off x="457200" y="3220938"/>
            <a:ext cx="5050482" cy="70663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0"/>
          <p:cNvSpPr/>
          <p:nvPr/>
        </p:nvSpPr>
        <p:spPr>
          <a:xfrm>
            <a:off x="5793432" y="5829300"/>
            <a:ext cx="5808017" cy="514350"/>
          </a:xfrm>
          <a:prstGeom prst="rect">
            <a:avLst/>
          </a:prstGeom>
          <a:solidFill>
            <a:srgbClr val="18181B"/>
          </a:solidFill>
          <a:ln cap="flat" cmpd="sng" w="9525">
            <a:solidFill>
              <a:srgbClr val="272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0"/>
          <p:cNvSpPr/>
          <p:nvPr/>
        </p:nvSpPr>
        <p:spPr>
          <a:xfrm>
            <a:off x="457200" y="2189559"/>
            <a:ext cx="505048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0"/>
          <p:cNvSpPr/>
          <p:nvPr/>
        </p:nvSpPr>
        <p:spPr>
          <a:xfrm>
            <a:off x="457200" y="1323975"/>
            <a:ext cx="505048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0"/>
          <p:cNvSpPr/>
          <p:nvPr/>
        </p:nvSpPr>
        <p:spPr>
          <a:xfrm>
            <a:off x="457200" y="1323975"/>
            <a:ext cx="28575" cy="875109"/>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0"/>
          <p:cNvSpPr/>
          <p:nvPr/>
        </p:nvSpPr>
        <p:spPr>
          <a:xfrm>
            <a:off x="5498157" y="1323975"/>
            <a:ext cx="9525" cy="875109"/>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0"/>
          <p:cNvSpPr/>
          <p:nvPr/>
        </p:nvSpPr>
        <p:spPr>
          <a:xfrm>
            <a:off x="457200" y="3135213"/>
            <a:ext cx="505048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0"/>
          <p:cNvSpPr/>
          <p:nvPr/>
        </p:nvSpPr>
        <p:spPr>
          <a:xfrm>
            <a:off x="457200" y="2275284"/>
            <a:ext cx="5050482"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0"/>
          <p:cNvSpPr/>
          <p:nvPr/>
        </p:nvSpPr>
        <p:spPr>
          <a:xfrm>
            <a:off x="457200" y="2275284"/>
            <a:ext cx="28575" cy="869453"/>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0"/>
          <p:cNvSpPr/>
          <p:nvPr/>
        </p:nvSpPr>
        <p:spPr>
          <a:xfrm>
            <a:off x="5498157" y="2275284"/>
            <a:ext cx="9525" cy="869453"/>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0"/>
          <p:cNvSpPr/>
          <p:nvPr/>
        </p:nvSpPr>
        <p:spPr>
          <a:xfrm>
            <a:off x="457200" y="3918049"/>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0"/>
          <p:cNvSpPr/>
          <p:nvPr/>
        </p:nvSpPr>
        <p:spPr>
          <a:xfrm>
            <a:off x="457200" y="3220938"/>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0"/>
          <p:cNvSpPr/>
          <p:nvPr/>
        </p:nvSpPr>
        <p:spPr>
          <a:xfrm>
            <a:off x="457200" y="3220938"/>
            <a:ext cx="28575" cy="70663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0"/>
          <p:cNvSpPr/>
          <p:nvPr/>
        </p:nvSpPr>
        <p:spPr>
          <a:xfrm>
            <a:off x="5498157" y="3220938"/>
            <a:ext cx="9525" cy="70663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0"/>
          <p:cNvSpPr/>
          <p:nvPr/>
        </p:nvSpPr>
        <p:spPr>
          <a:xfrm>
            <a:off x="10808940" y="1457325"/>
            <a:ext cx="79250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0"/>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Truy vấn tương thích phụ tùng dùng chung qua con trỏ bộ nhớ O(1)</a:t>
            </a:r>
            <a:endParaRPr/>
          </a:p>
        </p:txBody>
      </p:sp>
      <p:sp>
        <p:nvSpPr>
          <p:cNvPr id="348" name="Google Shape;348;p20"/>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08 / 24</a:t>
            </a:r>
            <a:endParaRPr/>
          </a:p>
        </p:txBody>
      </p:sp>
      <p:sp>
        <p:nvSpPr>
          <p:cNvPr id="349" name="Google Shape;349;p20"/>
          <p:cNvSpPr txBox="1"/>
          <p:nvPr/>
        </p:nvSpPr>
        <p:spPr>
          <a:xfrm>
            <a:off x="457200" y="361950"/>
            <a:ext cx="9215437"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2: KIẾN TRÚC POLYGLOT</a:t>
            </a:r>
            <a:endParaRPr/>
          </a:p>
        </p:txBody>
      </p:sp>
      <p:sp>
        <p:nvSpPr>
          <p:cNvPr id="350" name="Google Shape;350;p20"/>
          <p:cNvSpPr txBox="1"/>
          <p:nvPr/>
        </p:nvSpPr>
        <p:spPr>
          <a:xfrm>
            <a:off x="457200" y="523875"/>
            <a:ext cx="967620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Neo4j Graph Engine: Index-Free Adjacency (IFA) vs. Relational Join</a:t>
            </a:r>
            <a:endParaRPr/>
          </a:p>
        </p:txBody>
      </p:sp>
      <p:sp>
        <p:nvSpPr>
          <p:cNvPr id="351" name="Google Shape;351;p20"/>
          <p:cNvSpPr txBox="1"/>
          <p:nvPr/>
        </p:nvSpPr>
        <p:spPr>
          <a:xfrm>
            <a:off x="609600" y="1438275"/>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Relational B-Tree Recursion [ O(k log N) ]</a:t>
            </a:r>
            <a:endParaRPr/>
          </a:p>
        </p:txBody>
      </p:sp>
      <p:sp>
        <p:nvSpPr>
          <p:cNvPr id="352" name="Google Shape;352;p20"/>
          <p:cNvSpPr txBox="1"/>
          <p:nvPr/>
        </p:nvSpPr>
        <p:spPr>
          <a:xfrm>
            <a:off x="609600" y="1619250"/>
            <a:ext cx="4859982" cy="465534"/>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Trong RDBMS, để tìm phụ tùng dùng chung phải JOIN 5 bảng: </a:t>
            </a:r>
            <a:r>
              <a:rPr b="0" i="0" lang="en-US" sz="825" u="none" cap="none" strike="noStrike">
                <a:solidFill>
                  <a:srgbClr val="000000"/>
                </a:solidFill>
                <a:latin typeface="Inter"/>
                <a:ea typeface="Inter"/>
                <a:cs typeface="Inter"/>
                <a:sym typeface="Inter"/>
              </a:rPr>
              <a:t>Car -&gt; Platform -&gt; Subsystem -&gt; Part -&gt; OEM</a:t>
            </a:r>
            <a:r>
              <a:rPr b="0" i="0" lang="en-US" sz="862" u="none" cap="none" strike="noStrike">
                <a:solidFill>
                  <a:srgbClr val="52525B"/>
                </a:solidFill>
                <a:latin typeface="Inter"/>
                <a:ea typeface="Inter"/>
                <a:cs typeface="Inter"/>
                <a:sym typeface="Inter"/>
              </a:rPr>
              <a:t>. Mỗi bước JOIN phải duyệt cây B-Tree tốn O(log N). Đệ quy nhiều cấp gây bùng nổ tài nguyên tính toán.</a:t>
            </a:r>
            <a:endParaRPr/>
          </a:p>
        </p:txBody>
      </p:sp>
      <p:sp>
        <p:nvSpPr>
          <p:cNvPr id="353" name="Google Shape;353;p20"/>
          <p:cNvSpPr txBox="1"/>
          <p:nvPr/>
        </p:nvSpPr>
        <p:spPr>
          <a:xfrm>
            <a:off x="609600" y="2389584"/>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Index-Free Adjacency (IFA) trong Neo4j [ O(1) ]</a:t>
            </a:r>
            <a:endParaRPr/>
          </a:p>
        </p:txBody>
      </p:sp>
      <p:sp>
        <p:nvSpPr>
          <p:cNvPr id="354" name="Google Shape;354;p20"/>
          <p:cNvSpPr txBox="1"/>
          <p:nvPr/>
        </p:nvSpPr>
        <p:spPr>
          <a:xfrm>
            <a:off x="609600" y="2570559"/>
            <a:ext cx="4859982" cy="459878"/>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Mỗi Node lưu con trỏ RAM (Double-linked pointers) trỏ thẳng tới các Node kề. Duyệt quan hệ là thao tác nhảy con trỏ bộ nhớ (Pointer-Hopping) chi phí hằng số O(1), độc lập với việc đồ thị có 1.000 hay 10.000.000 Node!</a:t>
            </a:r>
            <a:endParaRPr/>
          </a:p>
        </p:txBody>
      </p:sp>
      <p:sp>
        <p:nvSpPr>
          <p:cNvPr id="355" name="Google Shape;355;p20"/>
          <p:cNvSpPr txBox="1"/>
          <p:nvPr/>
        </p:nvSpPr>
        <p:spPr>
          <a:xfrm>
            <a:off x="609600" y="3335238"/>
            <a:ext cx="6253711"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Mô hình Nền tảng Xe thực tế (seed_neo4j.js)</a:t>
            </a:r>
            <a:endParaRPr/>
          </a:p>
        </p:txBody>
      </p:sp>
      <p:sp>
        <p:nvSpPr>
          <p:cNvPr id="356" name="Google Shape;356;p20"/>
          <p:cNvSpPr txBox="1"/>
          <p:nvPr/>
        </p:nvSpPr>
        <p:spPr>
          <a:xfrm>
            <a:off x="609600" y="3506688"/>
            <a:ext cx="485998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Khung gầm TNGA-K liên kết cả Toyota Camry 2.5Q và Lexus ES250. Má phanh trước dùng chung được nhận diện tức thì.</a:t>
            </a:r>
            <a:endParaRPr/>
          </a:p>
        </p:txBody>
      </p:sp>
      <p:sp>
        <p:nvSpPr>
          <p:cNvPr id="357" name="Google Shape;357;p20"/>
          <p:cNvSpPr txBox="1"/>
          <p:nvPr/>
        </p:nvSpPr>
        <p:spPr>
          <a:xfrm>
            <a:off x="5793432" y="1771650"/>
            <a:ext cx="5903267" cy="1821656"/>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71717A"/>
                </a:solidFill>
                <a:latin typeface="JetBrains Mono"/>
                <a:ea typeface="JetBrains Mono"/>
                <a:cs typeface="JetBrains Mono"/>
                <a:sym typeface="JetBrains Mono"/>
              </a:rPr>
              <a:t>// DUYỆT ĐỒ THỊ TỪ DÒNG XE QUA KHUNG GẦM SANG LINH KIỆN </a:t>
            </a:r>
            <a:r>
              <a:rPr b="1" i="0" lang="en-US" sz="825" u="none" cap="none" strike="noStrike">
                <a:solidFill>
                  <a:srgbClr val="FFFFFF"/>
                </a:solidFill>
                <a:latin typeface="JetBrains Mono"/>
                <a:ea typeface="JetBrains Mono"/>
                <a:cs typeface="JetBrains Mono"/>
                <a:sym typeface="JetBrains Mono"/>
              </a:rPr>
              <a:t>MATCH</a:t>
            </a:r>
            <a:r>
              <a:rPr b="0" i="0" lang="en-US" sz="825" u="none" cap="none" strike="noStrike">
                <a:solidFill>
                  <a:srgbClr val="71717A"/>
                </a:solidFill>
                <a:latin typeface="JetBrains Mono"/>
                <a:ea typeface="JetBrains Mono"/>
                <a:cs typeface="JetBrains Mono"/>
                <a:sym typeface="JetBrains Mono"/>
              </a:rPr>
              <a:t> (targetCar:VehicleModel) </a:t>
            </a:r>
            <a:r>
              <a:rPr b="1" i="0" lang="en-US" sz="825" u="none" cap="none" strike="noStrike">
                <a:solidFill>
                  <a:srgbClr val="FFFFFF"/>
                </a:solidFill>
                <a:latin typeface="JetBrains Mono"/>
                <a:ea typeface="JetBrains Mono"/>
                <a:cs typeface="JetBrains Mono"/>
                <a:sym typeface="JetBrains Mono"/>
              </a:rPr>
              <a:t>WHERE</a:t>
            </a:r>
            <a:r>
              <a:rPr b="0" i="0" lang="en-US" sz="825" u="none" cap="none" strike="noStrike">
                <a:solidFill>
                  <a:srgbClr val="71717A"/>
                </a:solidFill>
                <a:latin typeface="JetBrains Mono"/>
                <a:ea typeface="JetBrains Mono"/>
                <a:cs typeface="JetBrains Mono"/>
                <a:sym typeface="JetBrains Mono"/>
              </a:rPr>
              <a:t> toLower(targetCar.name) </a:t>
            </a:r>
            <a:r>
              <a:rPr b="1" i="0" lang="en-US" sz="825" u="none" cap="none" strike="noStrike">
                <a:solidFill>
                  <a:srgbClr val="FFFFFF"/>
                </a:solidFill>
                <a:latin typeface="JetBrains Mono"/>
                <a:ea typeface="JetBrains Mono"/>
                <a:cs typeface="JetBrains Mono"/>
                <a:sym typeface="JetBrains Mono"/>
              </a:rPr>
              <a:t>CONTAINS</a:t>
            </a:r>
            <a:r>
              <a:rPr b="0" i="0" lang="en-US" sz="825" u="none" cap="none" strike="noStrike">
                <a:solidFill>
                  <a:srgbClr val="71717A"/>
                </a:solidFill>
                <a:latin typeface="JetBrains Mono"/>
                <a:ea typeface="JetBrains Mono"/>
                <a:cs typeface="JetBrains Mono"/>
                <a:sym typeface="JetBrains Mono"/>
              </a:rPr>
              <a:t> </a:t>
            </a:r>
            <a:r>
              <a:rPr b="0" i="0" lang="en-US" sz="825" u="none" cap="none" strike="noStrike">
                <a:solidFill>
                  <a:srgbClr val="D4D4D8"/>
                </a:solidFill>
                <a:latin typeface="JetBrains Mono"/>
                <a:ea typeface="JetBrains Mono"/>
                <a:cs typeface="JetBrains Mono"/>
                <a:sym typeface="JetBrains Mono"/>
              </a:rPr>
              <a:t>'camry'</a:t>
            </a:r>
            <a:r>
              <a:rPr b="0" i="0" lang="en-US" sz="825" u="none" cap="none" strike="noStrike">
                <a:solidFill>
                  <a:srgbClr val="71717A"/>
                </a:solidFill>
                <a:latin typeface="JetBrains Mono"/>
                <a:ea typeface="JetBrains Mono"/>
                <a:cs typeface="JetBrains Mono"/>
                <a:sym typeface="JetBrains Mono"/>
              </a:rPr>
              <a:t> </a:t>
            </a:r>
            <a:r>
              <a:rPr b="1" i="0" lang="en-US" sz="825" u="none" cap="none" strike="noStrike">
                <a:solidFill>
                  <a:srgbClr val="FFFFFF"/>
                </a:solidFill>
                <a:latin typeface="JetBrains Mono"/>
                <a:ea typeface="JetBrains Mono"/>
                <a:cs typeface="JetBrains Mono"/>
                <a:sym typeface="JetBrains Mono"/>
              </a:rPr>
              <a:t>MATCH</a:t>
            </a:r>
            <a:r>
              <a:rPr b="0" i="0" lang="en-US" sz="825" u="none" cap="none" strike="noStrike">
                <a:solidFill>
                  <a:srgbClr val="71717A"/>
                </a:solidFill>
                <a:latin typeface="JetBrains Mono"/>
                <a:ea typeface="JetBrains Mono"/>
                <a:cs typeface="JetBrains Mono"/>
                <a:sym typeface="JetBrains Mono"/>
              </a:rPr>
              <a:t> (targetCar)-[:USES_PLATFORM]-&gt;(platform:Platform) &lt;-[:MOUNTED_ON_PLATFORM]-(sub:Subsystem) &lt;-[:FITS_SUB_ASSEMBLY]-(p:Part) </a:t>
            </a:r>
            <a:r>
              <a:rPr b="1" i="0" lang="en-US" sz="825" u="none" cap="none" strike="noStrike">
                <a:solidFill>
                  <a:srgbClr val="FFFFFF"/>
                </a:solidFill>
                <a:latin typeface="JetBrains Mono"/>
                <a:ea typeface="JetBrains Mono"/>
                <a:cs typeface="JetBrains Mono"/>
                <a:sym typeface="JetBrains Mono"/>
              </a:rPr>
              <a:t>RETURN DISTINCT</a:t>
            </a:r>
            <a:r>
              <a:rPr b="0" i="0" lang="en-US" sz="825" u="none" cap="none" strike="noStrike">
                <a:solidFill>
                  <a:srgbClr val="71717A"/>
                </a:solidFill>
                <a:latin typeface="JetBrains Mono"/>
                <a:ea typeface="JetBrains Mono"/>
                <a:cs typeface="JetBrains Mono"/>
                <a:sym typeface="JetBrains Mono"/>
              </a:rPr>
              <a:t> p.code </a:t>
            </a:r>
            <a:r>
              <a:rPr b="1" i="0" lang="en-US" sz="825" u="none" cap="none" strike="noStrike">
                <a:solidFill>
                  <a:srgbClr val="FFFFFF"/>
                </a:solidFill>
                <a:latin typeface="JetBrains Mono"/>
                <a:ea typeface="JetBrains Mono"/>
                <a:cs typeface="JetBrains Mono"/>
                <a:sym typeface="JetBrains Mono"/>
              </a:rPr>
              <a:t>AS</a:t>
            </a:r>
            <a:r>
              <a:rPr b="0" i="0" lang="en-US" sz="825" u="none" cap="none" strike="noStrike">
                <a:solidFill>
                  <a:srgbClr val="71717A"/>
                </a:solidFill>
                <a:latin typeface="JetBrains Mono"/>
                <a:ea typeface="JetBrains Mono"/>
                <a:cs typeface="JetBrains Mono"/>
                <a:sym typeface="JetBrains Mono"/>
              </a:rPr>
              <a:t> part_code, p.name </a:t>
            </a:r>
            <a:r>
              <a:rPr b="1" i="0" lang="en-US" sz="825" u="none" cap="none" strike="noStrike">
                <a:solidFill>
                  <a:srgbClr val="FFFFFF"/>
                </a:solidFill>
                <a:latin typeface="JetBrains Mono"/>
                <a:ea typeface="JetBrains Mono"/>
                <a:cs typeface="JetBrains Mono"/>
                <a:sym typeface="JetBrains Mono"/>
              </a:rPr>
              <a:t>AS</a:t>
            </a:r>
            <a:r>
              <a:rPr b="0" i="0" lang="en-US" sz="825" u="none" cap="none" strike="noStrike">
                <a:solidFill>
                  <a:srgbClr val="71717A"/>
                </a:solidFill>
                <a:latin typeface="JetBrains Mono"/>
                <a:ea typeface="JetBrains Mono"/>
                <a:cs typeface="JetBrains Mono"/>
                <a:sym typeface="JetBrains Mono"/>
              </a:rPr>
              <a:t> part_name, sub.name </a:t>
            </a:r>
            <a:r>
              <a:rPr b="1" i="0" lang="en-US" sz="825" u="none" cap="none" strike="noStrike">
                <a:solidFill>
                  <a:srgbClr val="FFFFFF"/>
                </a:solidFill>
                <a:latin typeface="JetBrains Mono"/>
                <a:ea typeface="JetBrains Mono"/>
                <a:cs typeface="JetBrains Mono"/>
                <a:sym typeface="JetBrains Mono"/>
              </a:rPr>
              <a:t>AS</a:t>
            </a:r>
            <a:r>
              <a:rPr b="0" i="0" lang="en-US" sz="825" u="none" cap="none" strike="noStrike">
                <a:solidFill>
                  <a:srgbClr val="71717A"/>
                </a:solidFill>
                <a:latin typeface="JetBrains Mono"/>
                <a:ea typeface="JetBrains Mono"/>
                <a:cs typeface="JetBrains Mono"/>
                <a:sym typeface="JetBrains Mono"/>
              </a:rPr>
              <a:t> subsystem_name, platform.code </a:t>
            </a:r>
            <a:r>
              <a:rPr b="1" i="0" lang="en-US" sz="825" u="none" cap="none" strike="noStrike">
                <a:solidFill>
                  <a:srgbClr val="FFFFFF"/>
                </a:solidFill>
                <a:latin typeface="JetBrains Mono"/>
                <a:ea typeface="JetBrains Mono"/>
                <a:cs typeface="JetBrains Mono"/>
                <a:sym typeface="JetBrains Mono"/>
              </a:rPr>
              <a:t>AS</a:t>
            </a:r>
            <a:r>
              <a:rPr b="0" i="0" lang="en-US" sz="825" u="none" cap="none" strike="noStrike">
                <a:solidFill>
                  <a:srgbClr val="71717A"/>
                </a:solidFill>
                <a:latin typeface="JetBrains Mono"/>
                <a:ea typeface="JetBrains Mono"/>
                <a:cs typeface="JetBrains Mono"/>
                <a:sym typeface="JetBrains Mono"/>
              </a:rPr>
              <a:t> platform_code </a:t>
            </a:r>
            <a:r>
              <a:rPr b="1" i="0" lang="en-US" sz="825" u="none" cap="none" strike="noStrike">
                <a:solidFill>
                  <a:srgbClr val="FFFFFF"/>
                </a:solidFill>
                <a:latin typeface="JetBrains Mono"/>
                <a:ea typeface="JetBrains Mono"/>
                <a:cs typeface="JetBrains Mono"/>
                <a:sym typeface="JetBrains Mono"/>
              </a:rPr>
              <a:t>LIMIT</a:t>
            </a:r>
            <a:r>
              <a:rPr b="0" i="0" lang="en-US" sz="825" u="none" cap="none" strike="noStrike">
                <a:solidFill>
                  <a:srgbClr val="71717A"/>
                </a:solidFill>
                <a:latin typeface="JetBrains Mono"/>
                <a:ea typeface="JetBrains Mono"/>
                <a:cs typeface="JetBrains Mono"/>
                <a:sym typeface="JetBrains Mono"/>
              </a:rPr>
              <a:t> 5;</a:t>
            </a:r>
            <a:endParaRPr/>
          </a:p>
        </p:txBody>
      </p:sp>
      <p:sp>
        <p:nvSpPr>
          <p:cNvPr id="358" name="Google Shape;358;p20"/>
          <p:cNvSpPr txBox="1"/>
          <p:nvPr/>
        </p:nvSpPr>
        <p:spPr>
          <a:xfrm>
            <a:off x="5917257" y="5915025"/>
            <a:ext cx="300037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FFFFFF"/>
                </a:solidFill>
                <a:latin typeface="Inter"/>
                <a:ea typeface="Inter"/>
                <a:cs typeface="Inter"/>
                <a:sym typeface="Inter"/>
              </a:rPr>
              <a:t>Độ trễ đo lường thực nghiệm:</a:t>
            </a:r>
            <a:endParaRPr/>
          </a:p>
        </p:txBody>
      </p:sp>
      <p:sp>
        <p:nvSpPr>
          <p:cNvPr id="359" name="Google Shape;359;p20"/>
          <p:cNvSpPr txBox="1"/>
          <p:nvPr/>
        </p:nvSpPr>
        <p:spPr>
          <a:xfrm>
            <a:off x="10791825" y="5962650"/>
            <a:ext cx="971550" cy="247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JetBrains Mono"/>
                <a:ea typeface="JetBrains Mono"/>
                <a:cs typeface="JetBrains Mono"/>
                <a:sym typeface="JetBrains Mono"/>
              </a:rPr>
              <a:t>&lt; 15ms</a:t>
            </a:r>
            <a:endParaRPr/>
          </a:p>
        </p:txBody>
      </p:sp>
      <p:sp>
        <p:nvSpPr>
          <p:cNvPr id="360" name="Google Shape;360;p20"/>
          <p:cNvSpPr txBox="1"/>
          <p:nvPr/>
        </p:nvSpPr>
        <p:spPr>
          <a:xfrm>
            <a:off x="5793432" y="1471612"/>
            <a:ext cx="23336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seed_neo4j.js (CYPHER QUERY)</a:t>
            </a:r>
            <a:endParaRPr/>
          </a:p>
        </p:txBody>
      </p:sp>
      <p:sp>
        <p:nvSpPr>
          <p:cNvPr id="361" name="Google Shape;361;p20"/>
          <p:cNvSpPr txBox="1"/>
          <p:nvPr/>
        </p:nvSpPr>
        <p:spPr>
          <a:xfrm>
            <a:off x="10875615" y="1476375"/>
            <a:ext cx="75440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TRAVERSAL</a:t>
            </a:r>
            <a:endParaRPr/>
          </a:p>
        </p:txBody>
      </p:sp>
      <p:sp>
        <p:nvSpPr>
          <p:cNvPr id="362" name="Google Shape;362;p20"/>
          <p:cNvSpPr txBox="1"/>
          <p:nvPr/>
        </p:nvSpPr>
        <p:spPr>
          <a:xfrm>
            <a:off x="5917257" y="6124575"/>
            <a:ext cx="3631406"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A1A1AA"/>
                </a:solidFill>
                <a:latin typeface="Inter"/>
                <a:ea typeface="Inter"/>
                <a:cs typeface="Inter"/>
                <a:sym typeface="Inter"/>
              </a:rPr>
              <a:t>Nhanh hơn gấp 14 lần so với phép JOIN SQL tương đương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1"/>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8" name="Google Shape;368;p21"/>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9" name="Google Shape;369;p21"/>
          <p:cNvSpPr/>
          <p:nvPr/>
        </p:nvSpPr>
        <p:spPr>
          <a:xfrm>
            <a:off x="5660082" y="1323975"/>
            <a:ext cx="6074717"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21"/>
          <p:cNvSpPr/>
          <p:nvPr/>
        </p:nvSpPr>
        <p:spPr>
          <a:xfrm>
            <a:off x="457200" y="1323975"/>
            <a:ext cx="5050482" cy="869453"/>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1"/>
          <p:cNvSpPr/>
          <p:nvPr/>
        </p:nvSpPr>
        <p:spPr>
          <a:xfrm>
            <a:off x="457200" y="2269628"/>
            <a:ext cx="5050482" cy="71616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2" name="Google Shape;372;p21"/>
          <p:cNvSpPr/>
          <p:nvPr/>
        </p:nvSpPr>
        <p:spPr>
          <a:xfrm>
            <a:off x="457200" y="3061989"/>
            <a:ext cx="5050482" cy="71616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3" name="Google Shape;373;p21"/>
          <p:cNvSpPr/>
          <p:nvPr/>
        </p:nvSpPr>
        <p:spPr>
          <a:xfrm>
            <a:off x="5793432" y="5829300"/>
            <a:ext cx="5808017" cy="51435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4" name="Google Shape;374;p21"/>
          <p:cNvSpPr/>
          <p:nvPr/>
        </p:nvSpPr>
        <p:spPr>
          <a:xfrm>
            <a:off x="457200" y="2183903"/>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5" name="Google Shape;375;p21"/>
          <p:cNvSpPr/>
          <p:nvPr/>
        </p:nvSpPr>
        <p:spPr>
          <a:xfrm>
            <a:off x="457200" y="132397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21"/>
          <p:cNvSpPr/>
          <p:nvPr/>
        </p:nvSpPr>
        <p:spPr>
          <a:xfrm>
            <a:off x="457200" y="1323975"/>
            <a:ext cx="28575" cy="869453"/>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7" name="Google Shape;377;p21"/>
          <p:cNvSpPr/>
          <p:nvPr/>
        </p:nvSpPr>
        <p:spPr>
          <a:xfrm>
            <a:off x="5498157" y="1323975"/>
            <a:ext cx="9525" cy="869453"/>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8" name="Google Shape;378;p21"/>
          <p:cNvSpPr/>
          <p:nvPr/>
        </p:nvSpPr>
        <p:spPr>
          <a:xfrm>
            <a:off x="457200" y="2976264"/>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9" name="Google Shape;379;p21"/>
          <p:cNvSpPr/>
          <p:nvPr/>
        </p:nvSpPr>
        <p:spPr>
          <a:xfrm>
            <a:off x="457200" y="2269628"/>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0" name="Google Shape;380;p21"/>
          <p:cNvSpPr/>
          <p:nvPr/>
        </p:nvSpPr>
        <p:spPr>
          <a:xfrm>
            <a:off x="457200" y="2269628"/>
            <a:ext cx="28575" cy="71616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1" name="Google Shape;381;p21"/>
          <p:cNvSpPr/>
          <p:nvPr/>
        </p:nvSpPr>
        <p:spPr>
          <a:xfrm>
            <a:off x="5498157" y="2269628"/>
            <a:ext cx="9525" cy="71616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21"/>
          <p:cNvSpPr/>
          <p:nvPr/>
        </p:nvSpPr>
        <p:spPr>
          <a:xfrm>
            <a:off x="457200" y="376862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1"/>
          <p:cNvSpPr/>
          <p:nvPr/>
        </p:nvSpPr>
        <p:spPr>
          <a:xfrm>
            <a:off x="457200" y="3061989"/>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21"/>
          <p:cNvSpPr/>
          <p:nvPr/>
        </p:nvSpPr>
        <p:spPr>
          <a:xfrm>
            <a:off x="457200" y="3061989"/>
            <a:ext cx="28575" cy="71616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21"/>
          <p:cNvSpPr/>
          <p:nvPr/>
        </p:nvSpPr>
        <p:spPr>
          <a:xfrm>
            <a:off x="5498157" y="3061989"/>
            <a:ext cx="9525" cy="71616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21"/>
          <p:cNvSpPr/>
          <p:nvPr/>
        </p:nvSpPr>
        <p:spPr>
          <a:xfrm>
            <a:off x="10801350" y="1457325"/>
            <a:ext cx="800100"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1"/>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Tầng kiểm soát đồng thời siêu nhẹ, phản hồi micro-giây trong RAM</a:t>
            </a:r>
            <a:endParaRPr/>
          </a:p>
        </p:txBody>
      </p:sp>
      <p:sp>
        <p:nvSpPr>
          <p:cNvPr id="388" name="Google Shape;388;p21"/>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09 / 24</a:t>
            </a:r>
            <a:endParaRPr/>
          </a:p>
        </p:txBody>
      </p:sp>
      <p:sp>
        <p:nvSpPr>
          <p:cNvPr id="389" name="Google Shape;389;p21"/>
          <p:cNvSpPr txBox="1"/>
          <p:nvPr/>
        </p:nvSpPr>
        <p:spPr>
          <a:xfrm>
            <a:off x="457200" y="361950"/>
            <a:ext cx="987623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2: KIẾN TRÚC POLYGLOT</a:t>
            </a:r>
            <a:endParaRPr/>
          </a:p>
        </p:txBody>
      </p:sp>
      <p:sp>
        <p:nvSpPr>
          <p:cNvPr id="390" name="Google Shape;390;p21"/>
          <p:cNvSpPr txBox="1"/>
          <p:nvPr/>
        </p:nvSpPr>
        <p:spPr>
          <a:xfrm>
            <a:off x="457200" y="523875"/>
            <a:ext cx="1037004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Redis In-Memory Engine: Single-Threaded Reactor &amp; Distributed Mutex</a:t>
            </a:r>
            <a:endParaRPr/>
          </a:p>
        </p:txBody>
      </p:sp>
      <p:sp>
        <p:nvSpPr>
          <p:cNvPr id="391" name="Google Shape;391;p21"/>
          <p:cNvSpPr txBox="1"/>
          <p:nvPr/>
        </p:nvSpPr>
        <p:spPr>
          <a:xfrm>
            <a:off x="5907732" y="5905500"/>
            <a:ext cx="5674667"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FFFFFF"/>
                </a:solidFill>
                <a:latin typeface="Inter"/>
                <a:ea typeface="Inter"/>
                <a:cs typeface="Inter"/>
                <a:sym typeface="Inter"/>
              </a:rPr>
              <a:t>Bản chất nguyên tử:</a:t>
            </a:r>
            <a:endParaRPr/>
          </a:p>
        </p:txBody>
      </p:sp>
      <p:sp>
        <p:nvSpPr>
          <p:cNvPr id="392" name="Google Shape;392;p21"/>
          <p:cNvSpPr txBox="1"/>
          <p:nvPr/>
        </p:nvSpPr>
        <p:spPr>
          <a:xfrm>
            <a:off x="609600" y="1438275"/>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Single-Threaded Event Loop (Reactor Pattern)</a:t>
            </a:r>
            <a:endParaRPr/>
          </a:p>
        </p:txBody>
      </p:sp>
      <p:sp>
        <p:nvSpPr>
          <p:cNvPr id="393" name="Google Shape;393;p21"/>
          <p:cNvSpPr txBox="1"/>
          <p:nvPr/>
        </p:nvSpPr>
        <p:spPr>
          <a:xfrm>
            <a:off x="609600" y="1619250"/>
            <a:ext cx="4859982" cy="459878"/>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Xử lý lệnh tuần tự trên một luồng CPU duy nhất qua cơ chế I/O Multiplexing (epoll). Không có đa luồng nội bộ tranh chấp RAM, các thao tác SET NX PX đều đạt tính Nguyên tử tuyệt đối (Thread-Safe Atomic).</a:t>
            </a:r>
            <a:endParaRPr/>
          </a:p>
        </p:txBody>
      </p:sp>
      <p:sp>
        <p:nvSpPr>
          <p:cNvPr id="394" name="Google Shape;394;p21"/>
          <p:cNvSpPr txBox="1"/>
          <p:nvPr/>
        </p:nvSpPr>
        <p:spPr>
          <a:xfrm>
            <a:off x="609600" y="2383928"/>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Tại sao không dùng DB Lock (SELECT FOR UPDATE)?</a:t>
            </a:r>
            <a:endParaRPr/>
          </a:p>
        </p:txBody>
      </p:sp>
      <p:sp>
        <p:nvSpPr>
          <p:cNvPr id="395" name="Google Shape;395;p21"/>
          <p:cNvSpPr txBox="1"/>
          <p:nvPr/>
        </p:nvSpPr>
        <p:spPr>
          <a:xfrm>
            <a:off x="609600" y="2564903"/>
            <a:ext cx="485998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Giữ khóa trên ổ đĩa sẽ chiếm dụng Connection Pool (Postgres tối đa 100 kết nối). Khi hàng trăm thợ cùng xuất kho, Connection Pool cạn kiệt sẽ kéo sập toàn bộ hệ thống API khác.</a:t>
            </a:r>
            <a:endParaRPr/>
          </a:p>
        </p:txBody>
      </p:sp>
      <p:sp>
        <p:nvSpPr>
          <p:cNvPr id="396" name="Google Shape;396;p21"/>
          <p:cNvSpPr txBox="1"/>
          <p:nvPr/>
        </p:nvSpPr>
        <p:spPr>
          <a:xfrm>
            <a:off x="609600" y="3176289"/>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Tại sao không dùng biến RAM của Node.js?</a:t>
            </a:r>
            <a:endParaRPr/>
          </a:p>
        </p:txBody>
      </p:sp>
      <p:sp>
        <p:nvSpPr>
          <p:cNvPr id="397" name="Google Shape;397;p21"/>
          <p:cNvSpPr txBox="1"/>
          <p:nvPr/>
        </p:nvSpPr>
        <p:spPr>
          <a:xfrm>
            <a:off x="609600" y="3357264"/>
            <a:ext cx="485998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RAM Node.js bị cô lập trong 1 Process. Khi chạy nhiều container song song, các instance không chia sẻ bộ nhớ, Race Condition vẫn xảy ra. Redis là Distributed Shared Memory.</a:t>
            </a:r>
            <a:endParaRPr/>
          </a:p>
        </p:txBody>
      </p:sp>
      <p:sp>
        <p:nvSpPr>
          <p:cNvPr id="398" name="Google Shape;398;p21"/>
          <p:cNvSpPr txBox="1"/>
          <p:nvPr/>
        </p:nvSpPr>
        <p:spPr>
          <a:xfrm>
            <a:off x="5793432" y="1771650"/>
            <a:ext cx="5903267" cy="1669851"/>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FFFFFF"/>
                </a:solidFill>
                <a:latin typeface="JetBrains Mono"/>
                <a:ea typeface="JetBrains Mono"/>
                <a:cs typeface="JetBrains Mono"/>
                <a:sym typeface="JetBrains Mono"/>
              </a:rPr>
              <a:t>const Redlock = require(</a:t>
            </a:r>
            <a:r>
              <a:rPr b="1" i="0" lang="en-US" sz="825" u="none" cap="none" strike="noStrike">
                <a:solidFill>
                  <a:srgbClr val="D4D4D8"/>
                </a:solidFill>
                <a:latin typeface="JetBrains Mono"/>
                <a:ea typeface="JetBrains Mono"/>
                <a:cs typeface="JetBrains Mono"/>
                <a:sym typeface="JetBrains Mono"/>
              </a:rPr>
              <a:t>'redlock'</a:t>
            </a:r>
            <a:r>
              <a:rPr b="1" i="0" lang="en-US" sz="825" u="none" cap="none" strike="noStrike">
                <a:solidFill>
                  <a:srgbClr val="FFFFFF"/>
                </a:solidFill>
                <a:latin typeface="JetBrains Mono"/>
                <a:ea typeface="JetBrains Mono"/>
                <a:cs typeface="JetBrains Mono"/>
                <a:sym typeface="JetBrains Mono"/>
              </a:rPr>
              <a:t>).default; const { redis } = require(</a:t>
            </a:r>
            <a:r>
              <a:rPr b="1" i="0" lang="en-US" sz="825" u="none" cap="none" strike="noStrike">
                <a:solidFill>
                  <a:srgbClr val="D4D4D8"/>
                </a:solidFill>
                <a:latin typeface="JetBrains Mono"/>
                <a:ea typeface="JetBrains Mono"/>
                <a:cs typeface="JetBrains Mono"/>
                <a:sym typeface="JetBrains Mono"/>
              </a:rPr>
              <a:t>'./redis'</a:t>
            </a:r>
            <a:r>
              <a:rPr b="1" i="0" lang="en-US" sz="825" u="none" cap="none" strike="noStrike">
                <a:solidFill>
                  <a:srgbClr val="FFFFFF"/>
                </a:solidFill>
                <a:latin typeface="JetBrains Mono"/>
                <a:ea typeface="JetBrains Mono"/>
                <a:cs typeface="JetBrains Mono"/>
                <a:sym typeface="JetBrains Mono"/>
              </a:rPr>
              <a:t>); </a:t>
            </a:r>
            <a:r>
              <a:rPr b="1" i="0" lang="en-US" sz="825" u="none" cap="none" strike="noStrike">
                <a:solidFill>
                  <a:srgbClr val="71717A"/>
                </a:solidFill>
                <a:latin typeface="JetBrains Mono"/>
                <a:ea typeface="JetBrains Mono"/>
                <a:cs typeface="JetBrains Mono"/>
                <a:sym typeface="JetBrains Mono"/>
              </a:rPr>
              <a:t>// KHOI TAO INSTANCE REDLOCK PHAN TAN</a:t>
            </a:r>
            <a:r>
              <a:rPr b="1" i="0" lang="en-US" sz="825" u="none" cap="none" strike="noStrike">
                <a:solidFill>
                  <a:srgbClr val="FFFFFF"/>
                </a:solidFill>
                <a:latin typeface="JetBrains Mono"/>
                <a:ea typeface="JetBrains Mono"/>
                <a:cs typeface="JetBrains Mono"/>
                <a:sym typeface="JetBrains Mono"/>
              </a:rPr>
              <a:t> const redlock = new Redlock([redis], { driftFactor: 0.01, </a:t>
            </a:r>
            <a:r>
              <a:rPr b="1" i="0" lang="en-US" sz="825" u="none" cap="none" strike="noStrike">
                <a:solidFill>
                  <a:srgbClr val="71717A"/>
                </a:solidFill>
                <a:latin typeface="JetBrains Mono"/>
                <a:ea typeface="JetBrains Mono"/>
                <a:cs typeface="JetBrains Mono"/>
                <a:sym typeface="JetBrains Mono"/>
              </a:rPr>
              <a:t>// Do lech dong ho (1%)</a:t>
            </a:r>
            <a:r>
              <a:rPr b="1" i="0" lang="en-US" sz="825" u="none" cap="none" strike="noStrike">
                <a:solidFill>
                  <a:srgbClr val="FFFFFF"/>
                </a:solidFill>
                <a:latin typeface="JetBrains Mono"/>
                <a:ea typeface="JetBrains Mono"/>
                <a:cs typeface="JetBrains Mono"/>
                <a:sym typeface="JetBrains Mono"/>
              </a:rPr>
              <a:t> retryCount: 3, </a:t>
            </a:r>
            <a:r>
              <a:rPr b="1" i="0" lang="en-US" sz="825" u="none" cap="none" strike="noStrike">
                <a:solidFill>
                  <a:srgbClr val="71717A"/>
                </a:solidFill>
                <a:latin typeface="JetBrains Mono"/>
                <a:ea typeface="JetBrains Mono"/>
                <a:cs typeface="JetBrains Mono"/>
                <a:sym typeface="JetBrains Mono"/>
              </a:rPr>
              <a:t>// So lan thu lai neu ban</a:t>
            </a:r>
            <a:r>
              <a:rPr b="1" i="0" lang="en-US" sz="825" u="none" cap="none" strike="noStrike">
                <a:solidFill>
                  <a:srgbClr val="FFFFFF"/>
                </a:solidFill>
                <a:latin typeface="JetBrains Mono"/>
                <a:ea typeface="JetBrains Mono"/>
                <a:cs typeface="JetBrains Mono"/>
                <a:sym typeface="JetBrains Mono"/>
              </a:rPr>
              <a:t> retryDelay: 200, </a:t>
            </a:r>
            <a:r>
              <a:rPr b="1" i="0" lang="en-US" sz="825" u="none" cap="none" strike="noStrike">
                <a:solidFill>
                  <a:srgbClr val="71717A"/>
                </a:solidFill>
                <a:latin typeface="JetBrains Mono"/>
                <a:ea typeface="JetBrains Mono"/>
                <a:cs typeface="JetBrains Mono"/>
                <a:sym typeface="JetBrains Mono"/>
              </a:rPr>
              <a:t>// Cho giua cac lan (200ms)</a:t>
            </a:r>
            <a:r>
              <a:rPr b="1" i="0" lang="en-US" sz="825" u="none" cap="none" strike="noStrike">
                <a:solidFill>
                  <a:srgbClr val="FFFFFF"/>
                </a:solidFill>
                <a:latin typeface="JetBrains Mono"/>
                <a:ea typeface="JetBrains Mono"/>
                <a:cs typeface="JetBrains Mono"/>
                <a:sym typeface="JetBrains Mono"/>
              </a:rPr>
              <a:t> retryJitter: 50, </a:t>
            </a:r>
            <a:r>
              <a:rPr b="1" i="0" lang="en-US" sz="825" u="none" cap="none" strike="noStrike">
                <a:solidFill>
                  <a:srgbClr val="71717A"/>
                </a:solidFill>
                <a:latin typeface="JetBrains Mono"/>
                <a:ea typeface="JetBrains Mono"/>
                <a:cs typeface="JetBrains Mono"/>
                <a:sym typeface="JetBrains Mono"/>
              </a:rPr>
              <a:t>// Random tranh xung dot</a:t>
            </a:r>
            <a:r>
              <a:rPr b="1" i="0" lang="en-US" sz="825" u="none" cap="none" strike="noStrike">
                <a:solidFill>
                  <a:srgbClr val="FFFFFF"/>
                </a:solidFill>
                <a:latin typeface="JetBrains Mono"/>
                <a:ea typeface="JetBrains Mono"/>
                <a:cs typeface="JetBrains Mono"/>
                <a:sym typeface="JetBrains Mono"/>
              </a:rPr>
              <a:t> automaticExtensionThreshold: 500 </a:t>
            </a:r>
            <a:r>
              <a:rPr b="1" i="0" lang="en-US" sz="825" u="none" cap="none" strike="noStrike">
                <a:solidFill>
                  <a:srgbClr val="71717A"/>
                </a:solidFill>
                <a:latin typeface="JetBrains Mono"/>
                <a:ea typeface="JetBrains Mono"/>
                <a:cs typeface="JetBrains Mono"/>
                <a:sym typeface="JetBrains Mono"/>
              </a:rPr>
              <a:t>// Tu dong gia han</a:t>
            </a:r>
            <a:r>
              <a:rPr b="1" i="0" lang="en-US" sz="825" u="none" cap="none" strike="noStrike">
                <a:solidFill>
                  <a:srgbClr val="FFFFFF"/>
                </a:solidFill>
                <a:latin typeface="JetBrains Mono"/>
                <a:ea typeface="JetBrains Mono"/>
                <a:cs typeface="JetBrains Mono"/>
                <a:sym typeface="JetBrains Mono"/>
              </a:rPr>
              <a:t> });</a:t>
            </a:r>
            <a:endParaRPr/>
          </a:p>
        </p:txBody>
      </p:sp>
      <p:sp>
        <p:nvSpPr>
          <p:cNvPr id="399" name="Google Shape;399;p21"/>
          <p:cNvSpPr txBox="1"/>
          <p:nvPr/>
        </p:nvSpPr>
        <p:spPr>
          <a:xfrm>
            <a:off x="5917257" y="6124575"/>
            <a:ext cx="627474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A1A1AA"/>
                </a:solidFill>
                <a:latin typeface="Inter"/>
                <a:ea typeface="Inter"/>
                <a:cs typeface="Inter"/>
                <a:sym typeface="Inter"/>
              </a:rPr>
              <a:t>Lệnh xin khóa </a:t>
            </a:r>
            <a:r>
              <a:rPr b="0" i="0" lang="en-US" sz="825" u="none" cap="none" strike="noStrike">
                <a:solidFill>
                  <a:srgbClr val="FFFFFF"/>
                </a:solidFill>
                <a:latin typeface="Inter"/>
                <a:ea typeface="Inter"/>
                <a:cs typeface="Inter"/>
                <a:sym typeface="Inter"/>
              </a:rPr>
              <a:t>'SET key uuid NX PX 5000'</a:t>
            </a:r>
            <a:r>
              <a:rPr b="0" i="0" lang="en-US" sz="825" u="none" cap="none" strike="noStrike">
                <a:solidFill>
                  <a:srgbClr val="A1A1AA"/>
                </a:solidFill>
                <a:latin typeface="Inter"/>
                <a:ea typeface="Inter"/>
                <a:cs typeface="Inter"/>
                <a:sym typeface="Inter"/>
              </a:rPr>
              <a:t> thực thi trong RAM chưa đầy 0.5ms!</a:t>
            </a:r>
            <a:endParaRPr/>
          </a:p>
        </p:txBody>
      </p:sp>
      <p:sp>
        <p:nvSpPr>
          <p:cNvPr id="400" name="Google Shape;400;p21"/>
          <p:cNvSpPr txBox="1"/>
          <p:nvPr/>
        </p:nvSpPr>
        <p:spPr>
          <a:xfrm>
            <a:off x="5793432" y="1471612"/>
            <a:ext cx="25003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redlock.js (DISTRIBUTED MUTEX)</a:t>
            </a:r>
            <a:endParaRPr/>
          </a:p>
        </p:txBody>
      </p:sp>
      <p:sp>
        <p:nvSpPr>
          <p:cNvPr id="401" name="Google Shape;401;p21"/>
          <p:cNvSpPr txBox="1"/>
          <p:nvPr/>
        </p:nvSpPr>
        <p:spPr>
          <a:xfrm>
            <a:off x="10868025" y="1476375"/>
            <a:ext cx="7620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REDIS LOCK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22"/>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7" name="Google Shape;407;p22"/>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8" name="Google Shape;408;p22"/>
          <p:cNvSpPr/>
          <p:nvPr/>
        </p:nvSpPr>
        <p:spPr>
          <a:xfrm>
            <a:off x="457200" y="6115050"/>
            <a:ext cx="11277600" cy="361950"/>
          </a:xfrm>
          <a:prstGeom prst="rect">
            <a:avLst/>
          </a:prstGeom>
          <a:solidFill>
            <a:srgbClr val="FAFAFA"/>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2"/>
          <p:cNvSpPr/>
          <p:nvPr/>
        </p:nvSpPr>
        <p:spPr>
          <a:xfrm>
            <a:off x="9696450" y="6200775"/>
            <a:ext cx="1895475"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2"/>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Mô hình hóa các thực thể cốt lõi theo hướng đối tượng OOAD chuẩn UML 3 khoang</a:t>
            </a:r>
            <a:endParaRPr/>
          </a:p>
        </p:txBody>
      </p:sp>
      <p:sp>
        <p:nvSpPr>
          <p:cNvPr id="411" name="Google Shape;411;p22"/>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10 / 24</a:t>
            </a:r>
            <a:endParaRPr/>
          </a:p>
        </p:txBody>
      </p:sp>
      <p:sp>
        <p:nvSpPr>
          <p:cNvPr id="412" name="Google Shape;412;p22"/>
          <p:cNvSpPr txBox="1"/>
          <p:nvPr/>
        </p:nvSpPr>
        <p:spPr>
          <a:xfrm>
            <a:off x="457200" y="361950"/>
            <a:ext cx="784026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THIẾT KẾ CHI TIẾT</a:t>
            </a:r>
            <a:endParaRPr/>
          </a:p>
        </p:txBody>
      </p:sp>
      <p:sp>
        <p:nvSpPr>
          <p:cNvPr id="413" name="Google Shape;413;p22"/>
          <p:cNvSpPr txBox="1"/>
          <p:nvPr/>
        </p:nvSpPr>
        <p:spPr>
          <a:xfrm>
            <a:off x="457200" y="523875"/>
            <a:ext cx="8232278"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Biểu Đồ Lớp (Class Diagram) &amp; Bảo Vệ Bất Biến Nghiệp Vụ</a:t>
            </a:r>
            <a:endParaRPr/>
          </a:p>
        </p:txBody>
      </p:sp>
      <p:sp>
        <p:nvSpPr>
          <p:cNvPr id="414" name="Google Shape;414;p22"/>
          <p:cNvSpPr txBox="1"/>
          <p:nvPr/>
        </p:nvSpPr>
        <p:spPr>
          <a:xfrm>
            <a:off x="600075" y="6200775"/>
            <a:ext cx="7679531"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9090B"/>
                </a:solidFill>
                <a:latin typeface="Inter"/>
                <a:ea typeface="Inter"/>
                <a:cs typeface="Inter"/>
                <a:sym typeface="Inter"/>
              </a:rPr>
              <a:t>Domain Invariant Protection: </a:t>
            </a:r>
            <a:r>
              <a:rPr b="1" i="0" lang="en-US" sz="862" u="none" cap="none" strike="noStrike">
                <a:solidFill>
                  <a:srgbClr val="27272A"/>
                </a:solidFill>
                <a:latin typeface="Inter"/>
                <a:ea typeface="Inter"/>
                <a:cs typeface="Inter"/>
                <a:sym typeface="Inter"/>
              </a:rPr>
              <a:t> total_amount = SUM(items.price * items.qty) + labor_cost - discount </a:t>
            </a:r>
            <a:endParaRPr/>
          </a:p>
        </p:txBody>
      </p:sp>
      <p:sp>
        <p:nvSpPr>
          <p:cNvPr id="415" name="Google Shape;415;p22"/>
          <p:cNvSpPr txBox="1"/>
          <p:nvPr/>
        </p:nvSpPr>
        <p:spPr>
          <a:xfrm>
            <a:off x="9772650" y="6229350"/>
            <a:ext cx="18383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DOMAIN SERVICE VALIDATION</a:t>
            </a:r>
            <a:endParaRPr/>
          </a:p>
        </p:txBody>
      </p:sp>
      <p:pic>
        <p:nvPicPr>
          <p:cNvPr id="416" name="Google Shape;416;p22" title="SLIDE 10: BIỂU ĐỒ LỚP (CLASS DIAGRAM).drawio">
            <a:hlinkClick r:id="rId3"/>
          </p:cNvPr>
          <p:cNvPicPr preferRelativeResize="0"/>
          <p:nvPr/>
        </p:nvPicPr>
        <p:blipFill>
          <a:blip r:embed="rId4">
            <a:alphaModFix/>
          </a:blip>
          <a:stretch>
            <a:fillRect/>
          </a:stretch>
        </p:blipFill>
        <p:spPr>
          <a:xfrm>
            <a:off x="3451851" y="1473826"/>
            <a:ext cx="4642049" cy="39674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0" name="Shape 420"/>
        <p:cNvGrpSpPr/>
        <p:nvPr/>
      </p:nvGrpSpPr>
      <p:grpSpPr>
        <a:xfrm>
          <a:off x="0" y="0"/>
          <a:ext cx="0" cy="0"/>
          <a:chOff x="0" y="0"/>
          <a:chExt cx="0" cy="0"/>
        </a:xfrm>
      </p:grpSpPr>
      <p:sp>
        <p:nvSpPr>
          <p:cNvPr id="421" name="Google Shape;421;p23"/>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2" name="Google Shape;422;p23"/>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23"/>
          <p:cNvSpPr/>
          <p:nvPr/>
        </p:nvSpPr>
        <p:spPr>
          <a:xfrm>
            <a:off x="561975" y="6210300"/>
            <a:ext cx="6306889"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4" name="Google Shape;424;p23"/>
          <p:cNvSpPr/>
          <p:nvPr/>
        </p:nvSpPr>
        <p:spPr>
          <a:xfrm>
            <a:off x="8943350" y="1086000"/>
            <a:ext cx="2931300" cy="1587900"/>
          </a:xfrm>
          <a:prstGeom prst="rect">
            <a:avLst/>
          </a:prstGeom>
          <a:solidFill>
            <a:srgbClr val="FAFAFA"/>
          </a:solidFill>
          <a:ln>
            <a:noFill/>
          </a:ln>
        </p:spPr>
        <p:txBody>
          <a:bodyPr anchorCtr="0" anchor="ctr" bIns="71700" lIns="143425" spcFirstLastPara="1" rIns="143425" wrap="square" tIns="71700">
            <a:noAutofit/>
          </a:bodyPr>
          <a:lstStyle/>
          <a:p>
            <a:pPr indent="0" lvl="0" marL="0" marR="0" rtl="0" algn="ctr">
              <a:spcBef>
                <a:spcPts val="0"/>
              </a:spcBef>
              <a:spcAft>
                <a:spcPts val="0"/>
              </a:spcAft>
              <a:buNone/>
            </a:pPr>
            <a:r>
              <a:t/>
            </a:r>
            <a:endParaRPr b="0" i="0" sz="2624" u="none" cap="none" strike="noStrike">
              <a:solidFill>
                <a:schemeClr val="dk1"/>
              </a:solidFill>
              <a:latin typeface="Calibri"/>
              <a:ea typeface="Calibri"/>
              <a:cs typeface="Calibri"/>
              <a:sym typeface="Calibri"/>
            </a:endParaRPr>
          </a:p>
        </p:txBody>
      </p:sp>
      <p:sp>
        <p:nvSpPr>
          <p:cNvPr id="425" name="Google Shape;425;p23"/>
          <p:cNvSpPr/>
          <p:nvPr/>
        </p:nvSpPr>
        <p:spPr>
          <a:xfrm>
            <a:off x="8803650" y="3533380"/>
            <a:ext cx="2931300" cy="1309200"/>
          </a:xfrm>
          <a:prstGeom prst="rect">
            <a:avLst/>
          </a:prstGeom>
          <a:solidFill>
            <a:srgbClr val="FAFAFA"/>
          </a:solidFill>
          <a:ln>
            <a:noFill/>
          </a:ln>
        </p:spPr>
        <p:txBody>
          <a:bodyPr anchorCtr="0" anchor="ctr" bIns="71700" lIns="143425" spcFirstLastPara="1" rIns="143425" wrap="square" tIns="71700">
            <a:noAutofit/>
          </a:bodyPr>
          <a:lstStyle/>
          <a:p>
            <a:pPr indent="0" lvl="0" marL="0" marR="0" rtl="0" algn="ctr">
              <a:spcBef>
                <a:spcPts val="0"/>
              </a:spcBef>
              <a:spcAft>
                <a:spcPts val="0"/>
              </a:spcAft>
              <a:buNone/>
            </a:pPr>
            <a:r>
              <a:t/>
            </a:r>
            <a:endParaRPr b="0" i="0" sz="2824" u="none" cap="none" strike="noStrike">
              <a:solidFill>
                <a:schemeClr val="dk1"/>
              </a:solidFill>
              <a:latin typeface="Calibri"/>
              <a:ea typeface="Calibri"/>
              <a:cs typeface="Calibri"/>
              <a:sym typeface="Calibri"/>
            </a:endParaRPr>
          </a:p>
        </p:txBody>
      </p:sp>
      <p:sp>
        <p:nvSpPr>
          <p:cNvPr id="426" name="Google Shape;426;p23"/>
          <p:cNvSpPr/>
          <p:nvPr/>
        </p:nvSpPr>
        <p:spPr>
          <a:xfrm>
            <a:off x="8803650" y="4992616"/>
            <a:ext cx="2931300" cy="1309200"/>
          </a:xfrm>
          <a:prstGeom prst="rect">
            <a:avLst/>
          </a:prstGeom>
          <a:solidFill>
            <a:srgbClr val="FFFFFF"/>
          </a:solidFill>
          <a:ln>
            <a:noFill/>
          </a:ln>
        </p:spPr>
        <p:txBody>
          <a:bodyPr anchorCtr="0" anchor="ctr" bIns="71700" lIns="143425" spcFirstLastPara="1" rIns="143425" wrap="square" tIns="71700">
            <a:noAutofit/>
          </a:bodyPr>
          <a:lstStyle/>
          <a:p>
            <a:pPr indent="0" lvl="0" marL="0" marR="0" rtl="0" algn="ctr">
              <a:spcBef>
                <a:spcPts val="0"/>
              </a:spcBef>
              <a:spcAft>
                <a:spcPts val="0"/>
              </a:spcAft>
              <a:buNone/>
            </a:pPr>
            <a:r>
              <a:t/>
            </a:r>
            <a:endParaRPr b="0" i="0" sz="2824" u="none" cap="none" strike="noStrike">
              <a:solidFill>
                <a:schemeClr val="dk1"/>
              </a:solidFill>
              <a:latin typeface="Calibri"/>
              <a:ea typeface="Calibri"/>
              <a:cs typeface="Calibri"/>
              <a:sym typeface="Calibri"/>
            </a:endParaRPr>
          </a:p>
        </p:txBody>
      </p:sp>
      <p:sp>
        <p:nvSpPr>
          <p:cNvPr id="427" name="Google Shape;427;p23"/>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11 / 24</a:t>
            </a:r>
            <a:endParaRPr/>
          </a:p>
        </p:txBody>
      </p:sp>
      <p:sp>
        <p:nvSpPr>
          <p:cNvPr id="428" name="Google Shape;428;p23"/>
          <p:cNvSpPr txBox="1"/>
          <p:nvPr/>
        </p:nvSpPr>
        <p:spPr>
          <a:xfrm>
            <a:off x="457200" y="361950"/>
            <a:ext cx="9120187"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THIẾT KẾ CHI TIẾT</a:t>
            </a:r>
            <a:endParaRPr/>
          </a:p>
        </p:txBody>
      </p:sp>
      <p:sp>
        <p:nvSpPr>
          <p:cNvPr id="429" name="Google Shape;429;p23"/>
          <p:cNvSpPr txBox="1"/>
          <p:nvPr/>
        </p:nvSpPr>
        <p:spPr>
          <a:xfrm>
            <a:off x="457200" y="523875"/>
            <a:ext cx="957619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Biểu Đồ Tuần Tự (Sequence Diagram): Giao Dịch Đa Tầng &amp; Outbox</a:t>
            </a:r>
            <a:endParaRPr/>
          </a:p>
        </p:txBody>
      </p:sp>
      <p:sp>
        <p:nvSpPr>
          <p:cNvPr id="430" name="Google Shape;430;p23"/>
          <p:cNvSpPr txBox="1"/>
          <p:nvPr/>
        </p:nvSpPr>
        <p:spPr>
          <a:xfrm>
            <a:off x="561975" y="6248400"/>
            <a:ext cx="6402139"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71717A"/>
                </a:solidFill>
                <a:latin typeface="Inter"/>
                <a:ea typeface="Inter"/>
                <a:cs typeface="Inter"/>
                <a:sym typeface="Inter"/>
              </a:rPr>
              <a:t>Tách rạch ròi Pha Đồng bộ (&lt; 35ms) và Pha Bất đồng bộ đảm bảo không bao giờ rách dữ liệu.</a:t>
            </a:r>
            <a:endParaRPr/>
          </a:p>
        </p:txBody>
      </p:sp>
      <p:sp>
        <p:nvSpPr>
          <p:cNvPr id="431" name="Google Shape;431;p23"/>
          <p:cNvSpPr txBox="1"/>
          <p:nvPr/>
        </p:nvSpPr>
        <p:spPr>
          <a:xfrm>
            <a:off x="9003926" y="1236267"/>
            <a:ext cx="2870400" cy="18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12" u="none" cap="none" strike="noStrike">
                <a:solidFill>
                  <a:srgbClr val="09090B"/>
                </a:solidFill>
                <a:latin typeface="Inter"/>
                <a:ea typeface="Inter"/>
                <a:cs typeface="Inter"/>
                <a:sym typeface="Inter"/>
              </a:rPr>
              <a:t>Pha Đồng bộ (Sync Phase - Bước 1-8):</a:t>
            </a:r>
            <a:endParaRPr sz="1996"/>
          </a:p>
        </p:txBody>
      </p:sp>
      <p:sp>
        <p:nvSpPr>
          <p:cNvPr id="432" name="Google Shape;432;p23"/>
          <p:cNvSpPr txBox="1"/>
          <p:nvPr/>
        </p:nvSpPr>
        <p:spPr>
          <a:xfrm>
            <a:off x="9003926" y="3015885"/>
            <a:ext cx="2870400" cy="373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12" u="none" cap="none" strike="noStrike">
                <a:solidFill>
                  <a:srgbClr val="09090B"/>
                </a:solidFill>
                <a:latin typeface="Inter"/>
                <a:ea typeface="Inter"/>
                <a:cs typeface="Inter"/>
                <a:sym typeface="Inter"/>
              </a:rPr>
              <a:t>Pha Bất đồng bộ (Async Phase - Bước 9-12):</a:t>
            </a:r>
            <a:endParaRPr sz="1996"/>
          </a:p>
        </p:txBody>
      </p:sp>
      <p:sp>
        <p:nvSpPr>
          <p:cNvPr id="433" name="Google Shape;433;p23"/>
          <p:cNvSpPr txBox="1"/>
          <p:nvPr/>
        </p:nvSpPr>
        <p:spPr>
          <a:xfrm>
            <a:off x="9003926" y="4842571"/>
            <a:ext cx="2870400" cy="18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12" u="none" cap="none" strike="noStrike">
                <a:solidFill>
                  <a:srgbClr val="09090B"/>
                </a:solidFill>
                <a:latin typeface="Inter"/>
                <a:ea typeface="Inter"/>
                <a:cs typeface="Inter"/>
                <a:sym typeface="Inter"/>
              </a:rPr>
              <a:t>Khắc chế 2PC &amp; Dual-Write:</a:t>
            </a:r>
            <a:endParaRPr sz="1996"/>
          </a:p>
        </p:txBody>
      </p:sp>
      <p:sp>
        <p:nvSpPr>
          <p:cNvPr id="434" name="Google Shape;434;p23"/>
          <p:cNvSpPr txBox="1"/>
          <p:nvPr/>
        </p:nvSpPr>
        <p:spPr>
          <a:xfrm>
            <a:off x="9009983" y="1668286"/>
            <a:ext cx="2858400" cy="10773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US" sz="1094" u="none" cap="none" strike="noStrike">
                <a:solidFill>
                  <a:srgbClr val="52525B"/>
                </a:solidFill>
                <a:latin typeface="Inter"/>
                <a:ea typeface="Inter"/>
                <a:cs typeface="Inter"/>
                <a:sym typeface="Inter"/>
              </a:rPr>
              <a:t>Boundary nhận webhook VNPay -&gt; Controller đối soát HMAC -&gt; Service mở Local Transaction ghi Invoice + Outbox -&gt; COMMIT hoàn tất &lt; 35ms, phản hồi HTTP 200 ngay.</a:t>
            </a:r>
            <a:endParaRPr sz="1996"/>
          </a:p>
        </p:txBody>
      </p:sp>
      <p:sp>
        <p:nvSpPr>
          <p:cNvPr id="435" name="Google Shape;435;p23"/>
          <p:cNvSpPr txBox="1"/>
          <p:nvPr/>
        </p:nvSpPr>
        <p:spPr>
          <a:xfrm>
            <a:off x="8979808" y="3613753"/>
            <a:ext cx="2858400" cy="8502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US" sz="1094" u="none" cap="none" strike="noStrike">
                <a:solidFill>
                  <a:srgbClr val="52525B"/>
                </a:solidFill>
                <a:latin typeface="Inter"/>
                <a:ea typeface="Inter"/>
                <a:cs typeface="Inter"/>
                <a:sym typeface="Inter"/>
              </a:rPr>
              <a:t>Worker quét với </a:t>
            </a:r>
            <a:r>
              <a:rPr b="0" i="0" lang="en-US" sz="1035" u="none" cap="none" strike="noStrike">
                <a:solidFill>
                  <a:srgbClr val="000000"/>
                </a:solidFill>
                <a:latin typeface="Inter"/>
                <a:ea typeface="Inter"/>
                <a:cs typeface="Inter"/>
                <a:sym typeface="Inter"/>
              </a:rPr>
              <a:t>SKIP LOCKED</a:t>
            </a:r>
            <a:r>
              <a:rPr b="0" i="0" lang="en-US" sz="1094" u="none" cap="none" strike="noStrike">
                <a:solidFill>
                  <a:srgbClr val="52525B"/>
                </a:solidFill>
                <a:latin typeface="Inter"/>
                <a:ea typeface="Inter"/>
                <a:cs typeface="Inter"/>
                <a:sym typeface="Inter"/>
              </a:rPr>
              <a:t> (độ trễ 4.12ms) -&gt; Đồng bộ MongoDB idempotent với toán tử $ne -&gt; Socket.io phát sóng bảng Kanban &lt; 80ms.</a:t>
            </a:r>
            <a:endParaRPr sz="1996"/>
          </a:p>
        </p:txBody>
      </p:sp>
      <p:sp>
        <p:nvSpPr>
          <p:cNvPr id="436" name="Google Shape;436;p23"/>
          <p:cNvSpPr txBox="1"/>
          <p:nvPr/>
        </p:nvSpPr>
        <p:spPr>
          <a:xfrm>
            <a:off x="9009983" y="5219302"/>
            <a:ext cx="2858400" cy="622800"/>
          </a:xfrm>
          <a:prstGeom prst="rect">
            <a:avLst/>
          </a:prstGeom>
          <a:noFill/>
          <a:ln>
            <a:noFill/>
          </a:ln>
        </p:spPr>
        <p:txBody>
          <a:bodyPr anchorCtr="0" anchor="t" bIns="0" lIns="0" spcFirstLastPara="1" rIns="0" wrap="square" tIns="0">
            <a:spAutoFit/>
          </a:bodyPr>
          <a:lstStyle/>
          <a:p>
            <a:pPr indent="0" lvl="0" marL="0" marR="0" rtl="0" algn="l">
              <a:lnSpc>
                <a:spcPct val="134909"/>
              </a:lnSpc>
              <a:spcBef>
                <a:spcPts val="0"/>
              </a:spcBef>
              <a:spcAft>
                <a:spcPts val="0"/>
              </a:spcAft>
              <a:buNone/>
            </a:pPr>
            <a:r>
              <a:rPr b="0" i="0" lang="en-US" sz="1094" u="none" cap="none" strike="noStrike">
                <a:solidFill>
                  <a:srgbClr val="52525B"/>
                </a:solidFill>
                <a:latin typeface="Inter"/>
                <a:ea typeface="Inter"/>
                <a:cs typeface="Inter"/>
                <a:sym typeface="Inter"/>
              </a:rPr>
              <a:t>Triệt tiêu hoàn toàn rủi ro rách dữ liệu phân tán. Đảm bảo At-Least-Once Delivery và High Availability.</a:t>
            </a:r>
            <a:endParaRPr sz="1996"/>
          </a:p>
        </p:txBody>
      </p:sp>
      <p:pic>
        <p:nvPicPr>
          <p:cNvPr id="437" name="Google Shape;437;p23" title="SLIDE 11: BIỂU ĐỒ LỚP (CLASS DIAGRAM).drawio">
            <a:hlinkClick r:id="rId3"/>
          </p:cNvPr>
          <p:cNvPicPr preferRelativeResize="0"/>
          <p:nvPr/>
        </p:nvPicPr>
        <p:blipFill>
          <a:blip r:embed="rId4">
            <a:alphaModFix/>
          </a:blip>
          <a:stretch>
            <a:fillRect/>
          </a:stretch>
        </p:blipFill>
        <p:spPr>
          <a:xfrm>
            <a:off x="228600" y="1426163"/>
            <a:ext cx="8575046" cy="40056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24"/>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3" name="Google Shape;443;p24"/>
          <p:cNvSpPr/>
          <p:nvPr/>
        </p:nvSpPr>
        <p:spPr>
          <a:xfrm>
            <a:off x="457200" y="1323975"/>
            <a:ext cx="11277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4"/>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24"/>
          <p:cNvSpPr/>
          <p:nvPr/>
        </p:nvSpPr>
        <p:spPr>
          <a:xfrm>
            <a:off x="609600" y="5810101"/>
            <a:ext cx="10972800" cy="51435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24"/>
          <p:cNvSpPr/>
          <p:nvPr/>
        </p:nvSpPr>
        <p:spPr>
          <a:xfrm>
            <a:off x="10530780" y="1476375"/>
            <a:ext cx="105161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4"/>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payment.controller.js - Bảo đảm nguyên tử trong cùng một Local Transaction</a:t>
            </a:r>
            <a:endParaRPr/>
          </a:p>
        </p:txBody>
      </p:sp>
      <p:sp>
        <p:nvSpPr>
          <p:cNvPr id="448" name="Google Shape;448;p24"/>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12 / 24</a:t>
            </a:r>
            <a:endParaRPr/>
          </a:p>
        </p:txBody>
      </p:sp>
      <p:sp>
        <p:nvSpPr>
          <p:cNvPr id="449" name="Google Shape;449;p24"/>
          <p:cNvSpPr txBox="1"/>
          <p:nvPr/>
        </p:nvSpPr>
        <p:spPr>
          <a:xfrm>
            <a:off x="609600" y="2094904"/>
            <a:ext cx="11068050" cy="3334791"/>
          </a:xfrm>
          <a:prstGeom prst="rect">
            <a:avLst/>
          </a:prstGeom>
          <a:noFill/>
          <a:ln>
            <a:noFill/>
          </a:ln>
        </p:spPr>
        <p:txBody>
          <a:bodyPr anchorCtr="0" anchor="t" bIns="0" lIns="0" spcFirstLastPara="1" rIns="0" wrap="square" tIns="0">
            <a:spAutoFit/>
          </a:bodyPr>
          <a:lstStyle/>
          <a:p>
            <a:pPr indent="0" lvl="0" marL="0" marR="0" rtl="0" algn="l">
              <a:lnSpc>
                <a:spcPct val="145011"/>
              </a:lnSpc>
              <a:spcBef>
                <a:spcPts val="0"/>
              </a:spcBef>
              <a:spcAft>
                <a:spcPts val="0"/>
              </a:spcAft>
              <a:buNone/>
            </a:pPr>
            <a:r>
              <a:rPr b="1" i="0" lang="en-US" sz="862" u="none" cap="none" strike="noStrike">
                <a:solidFill>
                  <a:srgbClr val="FFFFFF"/>
                </a:solidFill>
                <a:latin typeface="JetBrains Mono"/>
                <a:ea typeface="JetBrains Mono"/>
                <a:cs typeface="JetBrains Mono"/>
                <a:sym typeface="JetBrains Mono"/>
              </a:rPr>
              <a:t>await client.query(</a:t>
            </a:r>
            <a:r>
              <a:rPr b="1" i="0" lang="en-US" sz="862" u="none" cap="none" strike="noStrike">
                <a:solidFill>
                  <a:srgbClr val="D4D4D8"/>
                </a:solidFill>
                <a:latin typeface="JetBrains Mono"/>
                <a:ea typeface="JetBrains Mono"/>
                <a:cs typeface="JetBrains Mono"/>
                <a:sym typeface="JetBrains Mono"/>
              </a:rPr>
              <a:t>'BEGIN'</a:t>
            </a:r>
            <a:r>
              <a:rPr b="1" i="0" lang="en-US" sz="862" u="none" cap="none" strike="noStrike">
                <a:solidFill>
                  <a:srgbClr val="FFFFFF"/>
                </a:solidFill>
                <a:latin typeface="JetBrains Mono"/>
                <a:ea typeface="JetBrains Mono"/>
                <a:cs typeface="JetBrains Mono"/>
                <a:sym typeface="JetBrains Mono"/>
              </a:rPr>
              <a:t>); </a:t>
            </a:r>
            <a:r>
              <a:rPr b="1" i="0" lang="en-US" sz="862" u="none" cap="none" strike="noStrike">
                <a:solidFill>
                  <a:srgbClr val="A1A1AA"/>
                </a:solidFill>
                <a:latin typeface="JetBrains Mono"/>
                <a:ea typeface="JetBrains Mono"/>
                <a:cs typeface="JetBrains Mono"/>
                <a:sym typeface="JetBrains Mono"/>
              </a:rPr>
              <a:t>// [ĐIỂM CHỈ 1: Khởi động Local ACID Transaction]</a:t>
            </a:r>
            <a:r>
              <a:rPr b="1" i="0" lang="en-US" sz="862" u="none" cap="none" strike="noStrike">
                <a:solidFill>
                  <a:srgbClr val="FFFFFF"/>
                </a:solidFill>
                <a:latin typeface="JetBrains Mono"/>
                <a:ea typeface="JetBrains Mono"/>
                <a:cs typeface="JetBrains Mono"/>
                <a:sym typeface="JetBrains Mono"/>
              </a:rPr>
              <a:t> </a:t>
            </a:r>
            <a:r>
              <a:rPr b="1" i="0" lang="en-US" sz="862" u="none" cap="none" strike="noStrike">
                <a:solidFill>
                  <a:srgbClr val="71717A"/>
                </a:solidFill>
                <a:latin typeface="JetBrains Mono"/>
                <a:ea typeface="JetBrains Mono"/>
                <a:cs typeface="JetBrains Mono"/>
                <a:sym typeface="JetBrains Mono"/>
              </a:rPr>
              <a:t>// 1. Cập nhật trạng thái giao dịch tài chính</a:t>
            </a:r>
            <a:r>
              <a:rPr b="1" i="0" lang="en-US" sz="862" u="none" cap="none" strike="noStrike">
                <a:solidFill>
                  <a:srgbClr val="FFFFFF"/>
                </a:solidFill>
                <a:latin typeface="JetBrains Mono"/>
                <a:ea typeface="JetBrains Mono"/>
                <a:cs typeface="JetBrains Mono"/>
                <a:sym typeface="JetBrains Mono"/>
              </a:rPr>
              <a:t> await client.query( </a:t>
            </a:r>
            <a:r>
              <a:rPr b="1" i="0" lang="en-US" sz="862" u="none" cap="none" strike="noStrike">
                <a:solidFill>
                  <a:srgbClr val="D4D4D8"/>
                </a:solidFill>
                <a:latin typeface="JetBrains Mono"/>
                <a:ea typeface="JetBrains Mono"/>
                <a:cs typeface="JetBrains Mono"/>
                <a:sym typeface="JetBrains Mono"/>
              </a:rPr>
              <a:t>`UPDATE payment_transactions SET status = 'SUCCESS', vnp_bank_code = $1 WHERE vnp_txn_ref = $2`</a:t>
            </a:r>
            <a:r>
              <a:rPr b="1" i="0" lang="en-US" sz="862" u="none" cap="none" strike="noStrike">
                <a:solidFill>
                  <a:srgbClr val="FFFFFF"/>
                </a:solidFill>
                <a:latin typeface="JetBrains Mono"/>
                <a:ea typeface="JetBrains Mono"/>
                <a:cs typeface="JetBrains Mono"/>
                <a:sym typeface="JetBrains Mono"/>
              </a:rPr>
              <a:t>, [vnp_BankCode, vnp_TxnRef]); </a:t>
            </a:r>
            <a:r>
              <a:rPr b="1" i="0" lang="en-US" sz="862" u="none" cap="none" strike="noStrike">
                <a:solidFill>
                  <a:srgbClr val="71717A"/>
                </a:solidFill>
                <a:latin typeface="JetBrains Mono"/>
                <a:ea typeface="JetBrains Mono"/>
                <a:cs typeface="JetBrains Mono"/>
                <a:sym typeface="JetBrains Mono"/>
              </a:rPr>
              <a:t>// 2. [ĐIỂM CHỈ 2: Chèn bản tin sự kiện Outbox trong CÙNG transaction]</a:t>
            </a:r>
            <a:r>
              <a:rPr b="1" i="0" lang="en-US" sz="862" u="none" cap="none" strike="noStrike">
                <a:solidFill>
                  <a:srgbClr val="FFFFFF"/>
                </a:solidFill>
                <a:latin typeface="JetBrains Mono"/>
                <a:ea typeface="JetBrains Mono"/>
                <a:cs typeface="JetBrains Mono"/>
                <a:sym typeface="JetBrains Mono"/>
              </a:rPr>
              <a:t> const payload = JSON.stringify({ order_code: transaction.order_code, vnp_txn_ref: vnp_TxnRef, amount: vnp_Amount, paid_at: new Date().toISOString() }); await client.query( </a:t>
            </a:r>
            <a:r>
              <a:rPr b="1" i="0" lang="en-US" sz="862" u="none" cap="none" strike="noStrike">
                <a:solidFill>
                  <a:srgbClr val="D4D4D8"/>
                </a:solidFill>
                <a:latin typeface="JetBrains Mono"/>
                <a:ea typeface="JetBrains Mono"/>
                <a:cs typeface="JetBrains Mono"/>
                <a:sym typeface="JetBrains Mono"/>
              </a:rPr>
              <a:t>`INSERT INTO outbox_events (aggregate_type, aggregate_id, event_type, payload, processed_status) VALUES ('WORK_ORDER', $1, 'PAYMENT_COMPLETED', $2, 'PENDING')`</a:t>
            </a:r>
            <a:r>
              <a:rPr b="1" i="0" lang="en-US" sz="862" u="none" cap="none" strike="noStrike">
                <a:solidFill>
                  <a:srgbClr val="FFFFFF"/>
                </a:solidFill>
                <a:latin typeface="JetBrains Mono"/>
                <a:ea typeface="JetBrains Mono"/>
                <a:cs typeface="JetBrains Mono"/>
                <a:sym typeface="JetBrains Mono"/>
              </a:rPr>
              <a:t>, [transaction.order_code, payload]); await client.query(</a:t>
            </a:r>
            <a:r>
              <a:rPr b="1" i="0" lang="en-US" sz="862" u="none" cap="none" strike="noStrike">
                <a:solidFill>
                  <a:srgbClr val="D4D4D8"/>
                </a:solidFill>
                <a:latin typeface="JetBrains Mono"/>
                <a:ea typeface="JetBrains Mono"/>
                <a:cs typeface="JetBrains Mono"/>
                <a:sym typeface="JetBrains Mono"/>
              </a:rPr>
              <a:t>'COMMIT'</a:t>
            </a:r>
            <a:r>
              <a:rPr b="1" i="0" lang="en-US" sz="862" u="none" cap="none" strike="noStrike">
                <a:solidFill>
                  <a:srgbClr val="FFFFFF"/>
                </a:solidFill>
                <a:latin typeface="JetBrains Mono"/>
                <a:ea typeface="JetBrains Mono"/>
                <a:cs typeface="JetBrains Mono"/>
                <a:sym typeface="JetBrains Mono"/>
              </a:rPr>
              <a:t>); </a:t>
            </a:r>
            <a:r>
              <a:rPr b="1" i="0" lang="en-US" sz="862" u="none" cap="none" strike="noStrike">
                <a:solidFill>
                  <a:srgbClr val="A1A1AA"/>
                </a:solidFill>
                <a:latin typeface="JetBrains Mono"/>
                <a:ea typeface="JetBrains Mono"/>
                <a:cs typeface="JetBrains Mono"/>
                <a:sym typeface="JetBrains Mono"/>
              </a:rPr>
              <a:t>// [ĐIỂM CHỈ 3: Chốt chặn Atomicity]</a:t>
            </a:r>
            <a:endParaRPr/>
          </a:p>
        </p:txBody>
      </p:sp>
      <p:sp>
        <p:nvSpPr>
          <p:cNvPr id="450" name="Google Shape;450;p24"/>
          <p:cNvSpPr txBox="1"/>
          <p:nvPr/>
        </p:nvSpPr>
        <p:spPr>
          <a:xfrm>
            <a:off x="723900" y="5886301"/>
            <a:ext cx="1083945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Ý nghĩa kỹ thuật:</a:t>
            </a:r>
            <a:endParaRPr/>
          </a:p>
        </p:txBody>
      </p:sp>
      <p:sp>
        <p:nvSpPr>
          <p:cNvPr id="451" name="Google Shape;451;p24"/>
          <p:cNvSpPr txBox="1"/>
          <p:nvPr/>
        </p:nvSpPr>
        <p:spPr>
          <a:xfrm>
            <a:off x="457200" y="361950"/>
            <a:ext cx="826889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MÃ NGUỒN THỰC TẾ</a:t>
            </a:r>
            <a:endParaRPr/>
          </a:p>
        </p:txBody>
      </p:sp>
      <p:sp>
        <p:nvSpPr>
          <p:cNvPr id="452" name="Google Shape;452;p24"/>
          <p:cNvSpPr txBox="1"/>
          <p:nvPr/>
        </p:nvSpPr>
        <p:spPr>
          <a:xfrm>
            <a:off x="457200" y="523875"/>
            <a:ext cx="8682335"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Code Walkthrough 1: Giao Dịch ACID &amp; Transactional Outbox</a:t>
            </a:r>
            <a:endParaRPr/>
          </a:p>
        </p:txBody>
      </p:sp>
      <p:sp>
        <p:nvSpPr>
          <p:cNvPr id="453" name="Google Shape;453;p24"/>
          <p:cNvSpPr txBox="1"/>
          <p:nvPr/>
        </p:nvSpPr>
        <p:spPr>
          <a:xfrm>
            <a:off x="609600" y="1485900"/>
            <a:ext cx="658415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FFFFFF"/>
                </a:solidFill>
                <a:latin typeface="JetBrains Mono"/>
                <a:ea typeface="JetBrains Mono"/>
                <a:cs typeface="JetBrains Mono"/>
                <a:sym typeface="JetBrains Mono"/>
              </a:rPr>
              <a:t>backend/src/modules/payment/controllers/payment.controller.js (Lines 145 - 180)</a:t>
            </a:r>
            <a:endParaRPr/>
          </a:p>
        </p:txBody>
      </p:sp>
      <p:sp>
        <p:nvSpPr>
          <p:cNvPr id="454" name="Google Shape;454;p24"/>
          <p:cNvSpPr txBox="1"/>
          <p:nvPr/>
        </p:nvSpPr>
        <p:spPr>
          <a:xfrm>
            <a:off x="10597455" y="1495425"/>
            <a:ext cx="101351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ACID BOUNDARY</a:t>
            </a:r>
            <a:endParaRPr/>
          </a:p>
        </p:txBody>
      </p:sp>
      <p:sp>
        <p:nvSpPr>
          <p:cNvPr id="455" name="Google Shape;455;p24"/>
          <p:cNvSpPr txBox="1"/>
          <p:nvPr/>
        </p:nvSpPr>
        <p:spPr>
          <a:xfrm>
            <a:off x="733425" y="6105376"/>
            <a:ext cx="114585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A1A1AA"/>
                </a:solidFill>
                <a:latin typeface="Inter"/>
                <a:ea typeface="Inter"/>
                <a:cs typeface="Inter"/>
                <a:sym typeface="Inter"/>
              </a:rPr>
              <a:t>Đảm bảo 100%: Hoặc cả cập nhật tiền và tạo sự kiện cùng thành công, hoặc cả hai cùng Rollback. Triệt tiêu 100% rủi ro Dual-Write!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25"/>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25"/>
          <p:cNvSpPr/>
          <p:nvPr/>
        </p:nvSpPr>
        <p:spPr>
          <a:xfrm>
            <a:off x="457200" y="1323975"/>
            <a:ext cx="11277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2" name="Google Shape;462;p25"/>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3" name="Google Shape;463;p25"/>
          <p:cNvSpPr/>
          <p:nvPr/>
        </p:nvSpPr>
        <p:spPr>
          <a:xfrm>
            <a:off x="10306050" y="1476375"/>
            <a:ext cx="1276350"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4" name="Google Shape;464;p25"/>
          <p:cNvSpPr/>
          <p:nvPr/>
        </p:nvSpPr>
        <p:spPr>
          <a:xfrm>
            <a:off x="609600" y="6057900"/>
            <a:ext cx="5438775" cy="26670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5" name="Google Shape;465;p25"/>
          <p:cNvSpPr/>
          <p:nvPr/>
        </p:nvSpPr>
        <p:spPr>
          <a:xfrm>
            <a:off x="6143625" y="6057900"/>
            <a:ext cx="5438775" cy="26670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6" name="Google Shape;466;p25"/>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outbox.worker.js - Phục hồi dữ liệu phi tranh chấp và bảo vệ Idempotency</a:t>
            </a:r>
            <a:endParaRPr/>
          </a:p>
        </p:txBody>
      </p:sp>
      <p:sp>
        <p:nvSpPr>
          <p:cNvPr id="467" name="Google Shape;467;p25"/>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13 / 24</a:t>
            </a:r>
            <a:endParaRPr/>
          </a:p>
        </p:txBody>
      </p:sp>
      <p:sp>
        <p:nvSpPr>
          <p:cNvPr id="468" name="Google Shape;468;p25"/>
          <p:cNvSpPr txBox="1"/>
          <p:nvPr/>
        </p:nvSpPr>
        <p:spPr>
          <a:xfrm>
            <a:off x="609600" y="2583209"/>
            <a:ext cx="11068050" cy="260598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71717A"/>
                </a:solidFill>
                <a:latin typeface="JetBrains Mono"/>
                <a:ea typeface="JetBrains Mono"/>
                <a:cs typeface="JetBrains Mono"/>
                <a:sym typeface="JetBrains Mono"/>
              </a:rPr>
              <a:t>// [ĐIỂM CHỈ 1: Truy vấn phi tranh chấp trên PostgreSQL]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selectQuery = </a:t>
            </a:r>
            <a:r>
              <a:rPr b="0" i="0" lang="en-US" sz="862" u="none" cap="none" strike="noStrike">
                <a:solidFill>
                  <a:srgbClr val="D4D4D8"/>
                </a:solidFill>
                <a:latin typeface="JetBrains Mono"/>
                <a:ea typeface="JetBrains Mono"/>
                <a:cs typeface="JetBrains Mono"/>
                <a:sym typeface="JetBrains Mono"/>
              </a:rPr>
              <a:t>`SELECT * FROM outbox_events WHERE processed_status = 'PENDING' ORDER BY created_at ASC LIMIT 20 </a:t>
            </a:r>
            <a:r>
              <a:rPr b="1" i="0" lang="en-US" sz="862" u="none" cap="none" strike="noStrike">
                <a:solidFill>
                  <a:srgbClr val="FFFFFF"/>
                </a:solidFill>
                <a:latin typeface="JetBrains Mono"/>
                <a:ea typeface="JetBrains Mono"/>
                <a:cs typeface="JetBrains Mono"/>
                <a:sym typeface="JetBrains Mono"/>
              </a:rPr>
              <a:t>FOR UPDATE SKIP LOCKED;</a:t>
            </a:r>
            <a:r>
              <a:rPr b="0" i="0" lang="en-US" sz="862" u="none" cap="none" strike="noStrike">
                <a:solidFill>
                  <a:srgbClr val="D4D4D8"/>
                </a:solidFill>
                <a:latin typeface="JetBrains Mono"/>
                <a:ea typeface="JetBrains Mono"/>
                <a:cs typeface="JetBrains Mono"/>
                <a:sym typeface="JetBrains Mono"/>
              </a:rPr>
              <a:t>`</a:t>
            </a:r>
            <a:r>
              <a:rPr b="0" i="0" lang="en-US" sz="862" u="none" cap="none" strike="noStrike">
                <a:solidFill>
                  <a:srgbClr val="71717A"/>
                </a:solidFill>
                <a:latin typeface="JetBrains Mono"/>
                <a:ea typeface="JetBrains Mono"/>
                <a:cs typeface="JetBrains Mono"/>
                <a:sym typeface="JetBrains Mono"/>
              </a:rPr>
              <a:t>; // [ĐIỂM CHỈ 2: Vòng kim cô Idempotency trên MongoDB]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updateResult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WorkOrder.updateOne( { order_code: payload.order_code, payment_status: { </a:t>
            </a:r>
            <a:r>
              <a:rPr b="1" i="0" lang="en-US" sz="862" u="none" cap="none" strike="noStrike">
                <a:solidFill>
                  <a:srgbClr val="FFFFFF"/>
                </a:solidFill>
                <a:latin typeface="JetBrains Mono"/>
                <a:ea typeface="JetBrains Mono"/>
                <a:cs typeface="JetBrains Mono"/>
                <a:sym typeface="JetBrains Mono"/>
              </a:rPr>
              <a:t>$ne: 'PAID'</a:t>
            </a:r>
            <a:r>
              <a:rPr b="0" i="0" lang="en-US" sz="862" u="none" cap="none" strike="noStrike">
                <a:solidFill>
                  <a:srgbClr val="71717A"/>
                </a:solidFill>
                <a:latin typeface="JetBrains Mono"/>
                <a:ea typeface="JetBrains Mono"/>
                <a:cs typeface="JetBrains Mono"/>
                <a:sym typeface="JetBrains Mono"/>
              </a:rPr>
              <a:t> } // ĐIỀU KIỆN IDEMPOTENT: CHỐNG CHẠY LẶP }, { </a:t>
            </a:r>
            <a:r>
              <a:rPr b="1" i="0" lang="en-US" sz="862" u="none" cap="none" strike="noStrike">
                <a:solidFill>
                  <a:srgbClr val="FFFFFF"/>
                </a:solidFill>
                <a:latin typeface="JetBrains Mono"/>
                <a:ea typeface="JetBrains Mono"/>
                <a:cs typeface="JetBrains Mono"/>
                <a:sym typeface="JetBrains Mono"/>
              </a:rPr>
              <a:t>$set</a:t>
            </a:r>
            <a:r>
              <a:rPr b="0" i="0" lang="en-US" sz="862" u="none" cap="none" strike="noStrike">
                <a:solidFill>
                  <a:srgbClr val="71717A"/>
                </a:solidFill>
                <a:latin typeface="JetBrains Mono"/>
                <a:ea typeface="JetBrains Mono"/>
                <a:cs typeface="JetBrains Mono"/>
                <a:sym typeface="JetBrains Mono"/>
              </a:rPr>
              <a:t>: { payment_status: </a:t>
            </a:r>
            <a:r>
              <a:rPr b="0" i="0" lang="en-US" sz="862" u="none" cap="none" strike="noStrike">
                <a:solidFill>
                  <a:srgbClr val="D4D4D8"/>
                </a:solidFill>
                <a:latin typeface="JetBrains Mono"/>
                <a:ea typeface="JetBrains Mono"/>
                <a:cs typeface="JetBrains Mono"/>
                <a:sym typeface="JetBrains Mono"/>
              </a:rPr>
              <a:t>'PAID'</a:t>
            </a:r>
            <a:r>
              <a:rPr b="0" i="0" lang="en-US" sz="862" u="none" cap="none" strike="noStrike">
                <a:solidFill>
                  <a:srgbClr val="71717A"/>
                </a:solidFill>
                <a:latin typeface="JetBrains Mono"/>
                <a:ea typeface="JetBrains Mono"/>
                <a:cs typeface="JetBrains Mono"/>
                <a:sym typeface="JetBrains Mono"/>
              </a:rPr>
              <a:t>, current_status: </a:t>
            </a:r>
            <a:r>
              <a:rPr b="0" i="0" lang="en-US" sz="862" u="none" cap="none" strike="noStrike">
                <a:solidFill>
                  <a:srgbClr val="D4D4D8"/>
                </a:solidFill>
                <a:latin typeface="JetBrains Mono"/>
                <a:ea typeface="JetBrains Mono"/>
                <a:cs typeface="JetBrains Mono"/>
                <a:sym typeface="JetBrains Mono"/>
              </a:rPr>
              <a:t>'PAID'</a:t>
            </a:r>
            <a:r>
              <a:rPr b="0" i="0" lang="en-US" sz="862" u="none" cap="none" strike="noStrike">
                <a:solidFill>
                  <a:srgbClr val="71717A"/>
                </a:solidFill>
                <a:latin typeface="JetBrains Mono"/>
                <a:ea typeface="JetBrains Mono"/>
                <a:cs typeface="JetBrains Mono"/>
                <a:sym typeface="JetBrains Mono"/>
              </a:rPr>
              <a:t>, paid_at: </a:t>
            </a:r>
            <a:r>
              <a:rPr b="1" i="0" lang="en-US" sz="862" u="none" cap="none" strike="noStrike">
                <a:solidFill>
                  <a:srgbClr val="FFFFFF"/>
                </a:solidFill>
                <a:latin typeface="JetBrains Mono"/>
                <a:ea typeface="JetBrains Mono"/>
                <a:cs typeface="JetBrains Mono"/>
                <a:sym typeface="JetBrains Mono"/>
              </a:rPr>
              <a:t>new</a:t>
            </a:r>
            <a:r>
              <a:rPr b="0" i="0" lang="en-US" sz="862" u="none" cap="none" strike="noStrike">
                <a:solidFill>
                  <a:srgbClr val="71717A"/>
                </a:solidFill>
                <a:latin typeface="JetBrains Mono"/>
                <a:ea typeface="JetBrains Mono"/>
                <a:cs typeface="JetBrains Mono"/>
                <a:sym typeface="JetBrains Mono"/>
              </a:rPr>
              <a:t> Date() } } ); // [ĐIỂM CHỈ 3: Atomic Gatekeeper trừ kho vật lý] </a:t>
            </a:r>
            <a:r>
              <a:rPr b="1" i="0" lang="en-US" sz="862" u="none" cap="none" strike="noStrike">
                <a:solidFill>
                  <a:srgbClr val="FFFFFF"/>
                </a:solidFill>
                <a:latin typeface="JetBrains Mono"/>
                <a:ea typeface="JetBrains Mono"/>
                <a:cs typeface="JetBrains Mono"/>
                <a:sym typeface="JetBrains Mono"/>
              </a:rPr>
              <a:t>if</a:t>
            </a:r>
            <a:r>
              <a:rPr b="0" i="0" lang="en-US" sz="862" u="none" cap="none" strike="noStrike">
                <a:solidFill>
                  <a:srgbClr val="71717A"/>
                </a:solidFill>
                <a:latin typeface="JetBrains Mono"/>
                <a:ea typeface="JetBrains Mono"/>
                <a:cs typeface="JetBrains Mono"/>
                <a:sym typeface="JetBrains Mono"/>
              </a:rPr>
              <a:t> (updateResult.modifiedCount === 1)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deductInventoryPhysical(payload.order_code); }</a:t>
            </a:r>
            <a:endParaRPr/>
          </a:p>
        </p:txBody>
      </p:sp>
      <p:sp>
        <p:nvSpPr>
          <p:cNvPr id="469" name="Google Shape;469;p25"/>
          <p:cNvSpPr txBox="1"/>
          <p:nvPr/>
        </p:nvSpPr>
        <p:spPr>
          <a:xfrm>
            <a:off x="457200" y="361950"/>
            <a:ext cx="9655968"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MÃ NGUỒN THỰC TẾ</a:t>
            </a:r>
            <a:endParaRPr/>
          </a:p>
        </p:txBody>
      </p:sp>
      <p:sp>
        <p:nvSpPr>
          <p:cNvPr id="470" name="Google Shape;470;p25"/>
          <p:cNvSpPr txBox="1"/>
          <p:nvPr/>
        </p:nvSpPr>
        <p:spPr>
          <a:xfrm>
            <a:off x="457200" y="523875"/>
            <a:ext cx="1013876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Code Walkthrough 2: Background Worker – FOR UPDATE SKIP LOCKED</a:t>
            </a:r>
            <a:endParaRPr/>
          </a:p>
        </p:txBody>
      </p:sp>
      <p:sp>
        <p:nvSpPr>
          <p:cNvPr id="471" name="Google Shape;471;p25"/>
          <p:cNvSpPr txBox="1"/>
          <p:nvPr/>
        </p:nvSpPr>
        <p:spPr>
          <a:xfrm>
            <a:off x="609600" y="1485900"/>
            <a:ext cx="433387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FFFFFF"/>
                </a:solidFill>
                <a:latin typeface="JetBrains Mono"/>
                <a:ea typeface="JetBrains Mono"/>
                <a:cs typeface="JetBrains Mono"/>
                <a:sym typeface="JetBrains Mono"/>
              </a:rPr>
              <a:t>backend/src/workers/outbox.worker.js (Lines 18 - 68)</a:t>
            </a:r>
            <a:endParaRPr/>
          </a:p>
        </p:txBody>
      </p:sp>
      <p:sp>
        <p:nvSpPr>
          <p:cNvPr id="472" name="Google Shape;472;p25"/>
          <p:cNvSpPr txBox="1"/>
          <p:nvPr/>
        </p:nvSpPr>
        <p:spPr>
          <a:xfrm>
            <a:off x="10372725" y="1495425"/>
            <a:ext cx="123825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WORKER CONSUMER</a:t>
            </a:r>
            <a:endParaRPr/>
          </a:p>
        </p:txBody>
      </p:sp>
      <p:sp>
        <p:nvSpPr>
          <p:cNvPr id="473" name="Google Shape;473;p25"/>
          <p:cNvSpPr txBox="1"/>
          <p:nvPr/>
        </p:nvSpPr>
        <p:spPr>
          <a:xfrm>
            <a:off x="704850" y="6115050"/>
            <a:ext cx="53435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FOR UPDATE SKIP LOCKED:</a:t>
            </a:r>
            <a:r>
              <a:rPr b="0" i="0" lang="en-US" sz="825" u="none" cap="none" strike="noStrike">
                <a:solidFill>
                  <a:srgbClr val="A1A1AA"/>
                </a:solidFill>
                <a:latin typeface="Inter"/>
                <a:ea typeface="Inter"/>
                <a:cs typeface="Inter"/>
                <a:sym typeface="Inter"/>
              </a:rPr>
              <a:t> Nhiều Worker xử lý song song không tranh chấp (lock contention).</a:t>
            </a:r>
            <a:endParaRPr/>
          </a:p>
        </p:txBody>
      </p:sp>
      <p:sp>
        <p:nvSpPr>
          <p:cNvPr id="474" name="Google Shape;474;p25"/>
          <p:cNvSpPr txBox="1"/>
          <p:nvPr/>
        </p:nvSpPr>
        <p:spPr>
          <a:xfrm>
            <a:off x="6238875" y="6115050"/>
            <a:ext cx="53435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Idempotent Gatekeeper:</a:t>
            </a:r>
            <a:r>
              <a:rPr b="0" i="0" lang="en-US" sz="825" u="none" cap="none" strike="noStrike">
                <a:solidFill>
                  <a:srgbClr val="A1A1AA"/>
                </a:solidFill>
                <a:latin typeface="Inter"/>
                <a:ea typeface="Inter"/>
                <a:cs typeface="Inter"/>
                <a:sym typeface="Inter"/>
              </a:rPr>
              <a:t> Dù sự kiện phân phối lại nhiều lần, kho chỉ trừ đúng 1 lần duy nhất!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8" name="Shape 478"/>
        <p:cNvGrpSpPr/>
        <p:nvPr/>
      </p:nvGrpSpPr>
      <p:grpSpPr>
        <a:xfrm>
          <a:off x="0" y="0"/>
          <a:ext cx="0" cy="0"/>
          <a:chOff x="0" y="0"/>
          <a:chExt cx="0" cy="0"/>
        </a:xfrm>
      </p:grpSpPr>
      <p:sp>
        <p:nvSpPr>
          <p:cNvPr id="479" name="Google Shape;479;p26"/>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0" name="Google Shape;480;p26"/>
          <p:cNvSpPr/>
          <p:nvPr/>
        </p:nvSpPr>
        <p:spPr>
          <a:xfrm>
            <a:off x="457200" y="1323975"/>
            <a:ext cx="11277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1" name="Google Shape;481;p26"/>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2" name="Google Shape;482;p26"/>
          <p:cNvSpPr/>
          <p:nvPr/>
        </p:nvSpPr>
        <p:spPr>
          <a:xfrm>
            <a:off x="609600" y="6019800"/>
            <a:ext cx="10972800" cy="304800"/>
          </a:xfrm>
          <a:prstGeom prst="rect">
            <a:avLst/>
          </a:prstGeom>
          <a:solidFill>
            <a:srgbClr val="18181B"/>
          </a:solidFill>
          <a:ln cap="flat" cmpd="sng" w="9525">
            <a:solidFill>
              <a:srgbClr val="272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3" name="Google Shape;483;p26"/>
          <p:cNvSpPr/>
          <p:nvPr/>
        </p:nvSpPr>
        <p:spPr>
          <a:xfrm>
            <a:off x="10485090" y="1476375"/>
            <a:ext cx="109730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4" name="Google Shape;484;p26"/>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inventory.service.js - Chống Race Condition và hoàn trả tài nguyên khi thiếu hàng</a:t>
            </a:r>
            <a:endParaRPr/>
          </a:p>
        </p:txBody>
      </p:sp>
      <p:sp>
        <p:nvSpPr>
          <p:cNvPr id="485" name="Google Shape;485;p26"/>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14 / 24</a:t>
            </a:r>
            <a:endParaRPr/>
          </a:p>
        </p:txBody>
      </p:sp>
      <p:sp>
        <p:nvSpPr>
          <p:cNvPr id="486" name="Google Shape;486;p26"/>
          <p:cNvSpPr txBox="1"/>
          <p:nvPr/>
        </p:nvSpPr>
        <p:spPr>
          <a:xfrm>
            <a:off x="609600" y="2027634"/>
            <a:ext cx="11068050" cy="3679031"/>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71717A"/>
                </a:solidFill>
                <a:latin typeface="JetBrains Mono"/>
                <a:ea typeface="JetBrains Mono"/>
                <a:cs typeface="JetBrains Mono"/>
                <a:sym typeface="JetBrains Mono"/>
              </a:rPr>
              <a:t>// [ĐIỂM CHỈ 1: Chiếm dụng Mutex Lock trên Redis]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lockKey = </a:t>
            </a:r>
            <a:r>
              <a:rPr b="0" i="0" lang="en-US" sz="862" u="none" cap="none" strike="noStrike">
                <a:solidFill>
                  <a:srgbClr val="D4D4D8"/>
                </a:solidFill>
                <a:latin typeface="JetBrains Mono"/>
                <a:ea typeface="JetBrains Mono"/>
                <a:cs typeface="JetBrains Mono"/>
                <a:sym typeface="JetBrains Mono"/>
              </a:rPr>
              <a:t>`lock:alloc:part:${item.part_code}`</a:t>
            </a:r>
            <a:r>
              <a:rPr b="0" i="0" lang="en-US" sz="862" u="none" cap="none" strike="noStrike">
                <a:solidFill>
                  <a:srgbClr val="71717A"/>
                </a:solidFill>
                <a:latin typeface="JetBrains Mono"/>
                <a:ea typeface="JetBrains Mono"/>
                <a:cs typeface="JetBrains Mono"/>
                <a:sym typeface="JetBrains Mono"/>
              </a:rPr>
              <a:t>;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lock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redlock.acquire([lockKey], 5000); // Khóa phân tán 5s acquiredLocks.push(lock); // Cập nhật nguyên tử số lượng giữ chỗ ($inc)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InventoryItem.updateOne( { part_code: item.part_code }, { </a:t>
            </a:r>
            <a:r>
              <a:rPr b="1" i="0" lang="en-US" sz="862" u="none" cap="none" strike="noStrike">
                <a:solidFill>
                  <a:srgbClr val="FFFFFF"/>
                </a:solidFill>
                <a:latin typeface="JetBrains Mono"/>
                <a:ea typeface="JetBrains Mono"/>
                <a:cs typeface="JetBrains Mono"/>
                <a:sym typeface="JetBrains Mono"/>
              </a:rPr>
              <a:t>$inc</a:t>
            </a:r>
            <a:r>
              <a:rPr b="0" i="0" lang="en-US" sz="862" u="none" cap="none" strike="noStrike">
                <a:solidFill>
                  <a:srgbClr val="71717A"/>
                </a:solidFill>
                <a:latin typeface="JetBrains Mono"/>
                <a:ea typeface="JetBrains Mono"/>
                <a:cs typeface="JetBrains Mono"/>
                <a:sym typeface="JetBrains Mono"/>
              </a:rPr>
              <a:t>: { allocated_quantity: reqQty } } ); // [ĐIỂM CHỈ 2: Bồi hoàn Saga khi một trong các phụ tùng bị thiếu hàng] } </a:t>
            </a:r>
            <a:r>
              <a:rPr b="1" i="0" lang="en-US" sz="862" u="none" cap="none" strike="noStrike">
                <a:solidFill>
                  <a:srgbClr val="FFFFFF"/>
                </a:solidFill>
                <a:latin typeface="JetBrains Mono"/>
                <a:ea typeface="JetBrains Mono"/>
                <a:cs typeface="JetBrains Mono"/>
                <a:sym typeface="JetBrains Mono"/>
              </a:rPr>
              <a:t>catch</a:t>
            </a:r>
            <a:r>
              <a:rPr b="0" i="0" lang="en-US" sz="862" u="none" cap="none" strike="noStrike">
                <a:solidFill>
                  <a:srgbClr val="71717A"/>
                </a:solidFill>
                <a:latin typeface="JetBrains Mono"/>
                <a:ea typeface="JetBrains Mono"/>
                <a:cs typeface="JetBrains Mono"/>
                <a:sym typeface="JetBrains Mono"/>
              </a:rPr>
              <a:t> (err) { </a:t>
            </a:r>
            <a:r>
              <a:rPr b="1" i="0" lang="en-US" sz="862" u="none" cap="none" strike="noStrike">
                <a:solidFill>
                  <a:srgbClr val="FFFFFF"/>
                </a:solidFill>
                <a:latin typeface="JetBrains Mono"/>
                <a:ea typeface="JetBrains Mono"/>
                <a:cs typeface="JetBrains Mono"/>
                <a:sym typeface="JetBrains Mono"/>
              </a:rPr>
              <a:t>for</a:t>
            </a:r>
            <a:r>
              <a:rPr b="0" i="0" lang="en-US" sz="862" u="none" cap="none" strike="noStrike">
                <a:solidFill>
                  <a:srgbClr val="71717A"/>
                </a:solidFill>
                <a:latin typeface="JetBrains Mono"/>
                <a:ea typeface="JetBrains Mono"/>
                <a:cs typeface="JetBrains Mono"/>
                <a:sym typeface="JetBrains Mono"/>
              </a:rPr>
              <a:t>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allocated </a:t>
            </a:r>
            <a:r>
              <a:rPr b="1" i="0" lang="en-US" sz="862" u="none" cap="none" strike="noStrike">
                <a:solidFill>
                  <a:srgbClr val="FFFFFF"/>
                </a:solidFill>
                <a:latin typeface="JetBrains Mono"/>
                <a:ea typeface="JetBrains Mono"/>
                <a:cs typeface="JetBrains Mono"/>
                <a:sym typeface="JetBrains Mono"/>
              </a:rPr>
              <a:t>of</a:t>
            </a:r>
            <a:r>
              <a:rPr b="0" i="0" lang="en-US" sz="862" u="none" cap="none" strike="noStrike">
                <a:solidFill>
                  <a:srgbClr val="71717A"/>
                </a:solidFill>
                <a:latin typeface="JetBrains Mono"/>
                <a:ea typeface="JetBrains Mono"/>
                <a:cs typeface="JetBrains Mono"/>
                <a:sym typeface="JetBrains Mono"/>
              </a:rPr>
              <a:t> allocatedParts)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InventoryItem.updateOne( { part_code: allocated.part_code }, { </a:t>
            </a:r>
            <a:r>
              <a:rPr b="1" i="0" lang="en-US" sz="862" u="none" cap="none" strike="noStrike">
                <a:solidFill>
                  <a:srgbClr val="FFFFFF"/>
                </a:solidFill>
                <a:latin typeface="JetBrains Mono"/>
                <a:ea typeface="JetBrains Mono"/>
                <a:cs typeface="JetBrains Mono"/>
                <a:sym typeface="JetBrains Mono"/>
              </a:rPr>
              <a:t>$inc</a:t>
            </a:r>
            <a:r>
              <a:rPr b="0" i="0" lang="en-US" sz="862" u="none" cap="none" strike="noStrike">
                <a:solidFill>
                  <a:srgbClr val="71717A"/>
                </a:solidFill>
                <a:latin typeface="JetBrains Mono"/>
                <a:ea typeface="JetBrains Mono"/>
                <a:cs typeface="JetBrains Mono"/>
                <a:sym typeface="JetBrains Mono"/>
              </a:rPr>
              <a:t>: { allocated_quantity: -allocated.allocated_qty } } // HOÀN LẠI KHO ); } </a:t>
            </a:r>
            <a:r>
              <a:rPr b="1" i="0" lang="en-US" sz="862" u="none" cap="none" strike="noStrike">
                <a:solidFill>
                  <a:srgbClr val="FFFFFF"/>
                </a:solidFill>
                <a:latin typeface="JetBrains Mono"/>
                <a:ea typeface="JetBrains Mono"/>
                <a:cs typeface="JetBrains Mono"/>
                <a:sym typeface="JetBrains Mono"/>
              </a:rPr>
              <a:t>throw</a:t>
            </a:r>
            <a:r>
              <a:rPr b="0" i="0" lang="en-US" sz="862" u="none" cap="none" strike="noStrike">
                <a:solidFill>
                  <a:srgbClr val="71717A"/>
                </a:solidFill>
                <a:latin typeface="JetBrains Mono"/>
                <a:ea typeface="JetBrains Mono"/>
                <a:cs typeface="JetBrains Mono"/>
                <a:sym typeface="JetBrains Mono"/>
              </a:rPr>
              <a:t> err; } </a:t>
            </a:r>
            <a:r>
              <a:rPr b="1" i="0" lang="en-US" sz="862" u="none" cap="none" strike="noStrike">
                <a:solidFill>
                  <a:srgbClr val="FFFFFF"/>
                </a:solidFill>
                <a:latin typeface="JetBrains Mono"/>
                <a:ea typeface="JetBrains Mono"/>
                <a:cs typeface="JetBrains Mono"/>
                <a:sym typeface="JetBrains Mono"/>
              </a:rPr>
              <a:t>finally</a:t>
            </a:r>
            <a:r>
              <a:rPr b="0" i="0" lang="en-US" sz="862" u="none" cap="none" strike="noStrike">
                <a:solidFill>
                  <a:srgbClr val="71717A"/>
                </a:solidFill>
                <a:latin typeface="JetBrains Mono"/>
                <a:ea typeface="JetBrains Mono"/>
                <a:cs typeface="JetBrains Mono"/>
                <a:sym typeface="JetBrains Mono"/>
              </a:rPr>
              <a:t> { // [ĐIỂM CHỈ 3: Luôn giải phóng khóa phân tán an toàn] </a:t>
            </a:r>
            <a:r>
              <a:rPr b="1" i="0" lang="en-US" sz="862" u="none" cap="none" strike="noStrike">
                <a:solidFill>
                  <a:srgbClr val="FFFFFF"/>
                </a:solidFill>
                <a:latin typeface="JetBrains Mono"/>
                <a:ea typeface="JetBrains Mono"/>
                <a:cs typeface="JetBrains Mono"/>
                <a:sym typeface="JetBrains Mono"/>
              </a:rPr>
              <a:t>for</a:t>
            </a:r>
            <a:r>
              <a:rPr b="0" i="0" lang="en-US" sz="862" u="none" cap="none" strike="noStrike">
                <a:solidFill>
                  <a:srgbClr val="71717A"/>
                </a:solidFill>
                <a:latin typeface="JetBrains Mono"/>
                <a:ea typeface="JetBrains Mono"/>
                <a:cs typeface="JetBrains Mono"/>
                <a:sym typeface="JetBrains Mono"/>
              </a:rPr>
              <a:t>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lock </a:t>
            </a:r>
            <a:r>
              <a:rPr b="1" i="0" lang="en-US" sz="862" u="none" cap="none" strike="noStrike">
                <a:solidFill>
                  <a:srgbClr val="FFFFFF"/>
                </a:solidFill>
                <a:latin typeface="JetBrains Mono"/>
                <a:ea typeface="JetBrains Mono"/>
                <a:cs typeface="JetBrains Mono"/>
                <a:sym typeface="JetBrains Mono"/>
              </a:rPr>
              <a:t>of</a:t>
            </a:r>
            <a:r>
              <a:rPr b="0" i="0" lang="en-US" sz="862" u="none" cap="none" strike="noStrike">
                <a:solidFill>
                  <a:srgbClr val="71717A"/>
                </a:solidFill>
                <a:latin typeface="JetBrains Mono"/>
                <a:ea typeface="JetBrains Mono"/>
                <a:cs typeface="JetBrains Mono"/>
                <a:sym typeface="JetBrains Mono"/>
              </a:rPr>
              <a:t> acquiredLocks)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lock.release(); } }</a:t>
            </a:r>
            <a:endParaRPr/>
          </a:p>
        </p:txBody>
      </p:sp>
      <p:sp>
        <p:nvSpPr>
          <p:cNvPr id="487" name="Google Shape;487;p26"/>
          <p:cNvSpPr txBox="1"/>
          <p:nvPr/>
        </p:nvSpPr>
        <p:spPr>
          <a:xfrm>
            <a:off x="457200" y="361950"/>
            <a:ext cx="8709421"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MÃ NGUỒN THỰC TẾ</a:t>
            </a:r>
            <a:endParaRPr/>
          </a:p>
        </p:txBody>
      </p:sp>
      <p:sp>
        <p:nvSpPr>
          <p:cNvPr id="488" name="Google Shape;488;p26"/>
          <p:cNvSpPr txBox="1"/>
          <p:nvPr/>
        </p:nvSpPr>
        <p:spPr>
          <a:xfrm>
            <a:off x="457200" y="523875"/>
            <a:ext cx="914489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Code Walkthrough 3: Khóa Phân Tán (Redlock) &amp; Bồi Hoàn Saga</a:t>
            </a:r>
            <a:endParaRPr/>
          </a:p>
        </p:txBody>
      </p:sp>
      <p:sp>
        <p:nvSpPr>
          <p:cNvPr id="489" name="Google Shape;489;p26"/>
          <p:cNvSpPr txBox="1"/>
          <p:nvPr/>
        </p:nvSpPr>
        <p:spPr>
          <a:xfrm>
            <a:off x="609600" y="1485900"/>
            <a:ext cx="625078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FFFFFF"/>
                </a:solidFill>
                <a:latin typeface="JetBrains Mono"/>
                <a:ea typeface="JetBrains Mono"/>
                <a:cs typeface="JetBrains Mono"/>
                <a:sym typeface="JetBrains Mono"/>
              </a:rPr>
              <a:t>backend/src/modules/inventory/services/inventory.service.js (Lines 17 - 70)</a:t>
            </a:r>
            <a:endParaRPr/>
          </a:p>
        </p:txBody>
      </p:sp>
      <p:sp>
        <p:nvSpPr>
          <p:cNvPr id="490" name="Google Shape;490;p26"/>
          <p:cNvSpPr txBox="1"/>
          <p:nvPr/>
        </p:nvSpPr>
        <p:spPr>
          <a:xfrm>
            <a:off x="10551765" y="1495425"/>
            <a:ext cx="105920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REDLOCK + SAGA</a:t>
            </a:r>
            <a:endParaRPr/>
          </a:p>
        </p:txBody>
      </p:sp>
      <p:sp>
        <p:nvSpPr>
          <p:cNvPr id="491" name="Google Shape;491;p26"/>
          <p:cNvSpPr txBox="1"/>
          <p:nvPr/>
        </p:nvSpPr>
        <p:spPr>
          <a:xfrm>
            <a:off x="733425" y="6105525"/>
            <a:ext cx="114585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Nguyên lý Saga Bồi Hoàn:</a:t>
            </a:r>
            <a:r>
              <a:rPr b="0" i="0" lang="en-US" sz="825" u="none" cap="none" strike="noStrike">
                <a:solidFill>
                  <a:srgbClr val="A1A1AA"/>
                </a:solidFill>
                <a:latin typeface="Inter"/>
                <a:ea typeface="Inter"/>
                <a:cs typeface="Inter"/>
                <a:sym typeface="Inter"/>
              </a:rPr>
              <a:t> Nếu một đơn gồm 5 phụ tùng mà phụ tùng thứ 5 bị hết hàng giữa chừng, hệ thống tự động bồi hoàn nhả lại số lượng đã giữ chân của 4 phụ tùng trước đó.</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5" name="Shape 495"/>
        <p:cNvGrpSpPr/>
        <p:nvPr/>
      </p:nvGrpSpPr>
      <p:grpSpPr>
        <a:xfrm>
          <a:off x="0" y="0"/>
          <a:ext cx="0" cy="0"/>
          <a:chOff x="0" y="0"/>
          <a:chExt cx="0" cy="0"/>
        </a:xfrm>
      </p:grpSpPr>
      <p:sp>
        <p:nvSpPr>
          <p:cNvPr id="496" name="Google Shape;496;p27"/>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27"/>
          <p:cNvSpPr/>
          <p:nvPr/>
        </p:nvSpPr>
        <p:spPr>
          <a:xfrm>
            <a:off x="457200" y="1323975"/>
            <a:ext cx="11277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8" name="Google Shape;498;p27"/>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27"/>
          <p:cNvSpPr/>
          <p:nvPr/>
        </p:nvSpPr>
        <p:spPr>
          <a:xfrm>
            <a:off x="609600" y="5886450"/>
            <a:ext cx="10972800" cy="438150"/>
          </a:xfrm>
          <a:prstGeom prst="rect">
            <a:avLst/>
          </a:prstGeom>
          <a:solidFill>
            <a:srgbClr val="18181B"/>
          </a:solidFill>
          <a:ln cap="flat" cmpd="sng" w="9525">
            <a:solidFill>
              <a:srgbClr val="27272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27"/>
          <p:cNvSpPr/>
          <p:nvPr/>
        </p:nvSpPr>
        <p:spPr>
          <a:xfrm>
            <a:off x="10770840" y="1476375"/>
            <a:ext cx="81155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1" name="Google Shape;501;p27"/>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ai-diagnosis.service.js - Triệt tiêu ảo giác AI bằng Đồ thị Tri thức và đối soát kho</a:t>
            </a:r>
            <a:endParaRPr/>
          </a:p>
        </p:txBody>
      </p:sp>
      <p:sp>
        <p:nvSpPr>
          <p:cNvPr id="502" name="Google Shape;502;p27"/>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15 / 24</a:t>
            </a:r>
            <a:endParaRPr/>
          </a:p>
        </p:txBody>
      </p:sp>
      <p:sp>
        <p:nvSpPr>
          <p:cNvPr id="503" name="Google Shape;503;p27"/>
          <p:cNvSpPr txBox="1"/>
          <p:nvPr/>
        </p:nvSpPr>
        <p:spPr>
          <a:xfrm>
            <a:off x="609600" y="2497484"/>
            <a:ext cx="11068050" cy="2605980"/>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71717A"/>
                </a:solidFill>
                <a:latin typeface="JetBrains Mono"/>
                <a:ea typeface="JetBrains Mono"/>
                <a:cs typeface="JetBrains Mono"/>
                <a:sym typeface="JetBrains Mono"/>
              </a:rPr>
              <a:t>// [ĐIỂM CHỈ 1: Truy vấn Cypher duyệt đồ thị Khung gầm dùng chung]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cypherQuery = </a:t>
            </a:r>
            <a:r>
              <a:rPr b="0" i="0" lang="en-US" sz="862" u="none" cap="none" strike="noStrike">
                <a:solidFill>
                  <a:srgbClr val="D4D4D8"/>
                </a:solidFill>
                <a:latin typeface="JetBrains Mono"/>
                <a:ea typeface="JetBrains Mono"/>
                <a:cs typeface="JetBrains Mono"/>
                <a:sym typeface="JetBrains Mono"/>
              </a:rPr>
              <a:t>` MATCH (targetCar:VehicleModel) WHERE toLower(targetCar.name) CONTAINS toLower($model) MATCH (targetCar)-[:USES_PLATFORM]-&gt;(platform:Platform) &lt;-[:MOUNTED_ON_PLATFORM]-(sub:Subsystem) &lt;-[:FITS_SUB_ASSEMBLY]-(p:Part) RETURN DISTINCT p.code AS part_code, p.name AS part_name, platform.code AS platform_code LIMIT $limit`</a:t>
            </a:r>
            <a:r>
              <a:rPr b="0" i="0" lang="en-US" sz="862" u="none" cap="none" strike="noStrike">
                <a:solidFill>
                  <a:srgbClr val="71717A"/>
                </a:solidFill>
                <a:latin typeface="JetBrains Mono"/>
                <a:ea typeface="JetBrains Mono"/>
                <a:cs typeface="JetBrains Mono"/>
                <a:sym typeface="JetBrains Mono"/>
              </a:rPr>
              <a:t>; // [ĐIỂM CHỈ 2: Chặng Grounding đối soát tồn kho thực tế với MongoDB]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candidateCodes = graphResults.records.map(r =&gt; r.get(</a:t>
            </a:r>
            <a:r>
              <a:rPr b="0" i="0" lang="en-US" sz="862" u="none" cap="none" strike="noStrike">
                <a:solidFill>
                  <a:srgbClr val="D4D4D8"/>
                </a:solidFill>
                <a:latin typeface="JetBrains Mono"/>
                <a:ea typeface="JetBrains Mono"/>
                <a:cs typeface="JetBrains Mono"/>
                <a:sym typeface="JetBrains Mono"/>
              </a:rPr>
              <a:t>'part_code'</a:t>
            </a:r>
            <a:r>
              <a:rPr b="0" i="0" lang="en-US" sz="862" u="none" cap="none" strike="noStrike">
                <a:solidFill>
                  <a:srgbClr val="71717A"/>
                </a:solidFill>
                <a:latin typeface="JetBrains Mono"/>
                <a:ea typeface="JetBrains Mono"/>
                <a:cs typeface="JetBrains Mono"/>
                <a:sym typeface="JetBrains Mono"/>
              </a:rPr>
              <a:t>)); </a:t>
            </a:r>
            <a:r>
              <a:rPr b="1" i="0" lang="en-US" sz="862" u="none" cap="none" strike="noStrike">
                <a:solidFill>
                  <a:srgbClr val="FFFFFF"/>
                </a:solidFill>
                <a:latin typeface="JetBrains Mono"/>
                <a:ea typeface="JetBrains Mono"/>
                <a:cs typeface="JetBrains Mono"/>
                <a:sym typeface="JetBrains Mono"/>
              </a:rPr>
              <a:t>const</a:t>
            </a:r>
            <a:r>
              <a:rPr b="0" i="0" lang="en-US" sz="862" u="none" cap="none" strike="noStrike">
                <a:solidFill>
                  <a:srgbClr val="71717A"/>
                </a:solidFill>
                <a:latin typeface="JetBrains Mono"/>
                <a:ea typeface="JetBrains Mono"/>
                <a:cs typeface="JetBrains Mono"/>
                <a:sym typeface="JetBrains Mono"/>
              </a:rPr>
              <a:t> inStockParts = </a:t>
            </a:r>
            <a:r>
              <a:rPr b="1" i="0" lang="en-US" sz="862" u="none" cap="none" strike="noStrike">
                <a:solidFill>
                  <a:srgbClr val="FFFFFF"/>
                </a:solidFill>
                <a:latin typeface="JetBrains Mono"/>
                <a:ea typeface="JetBrains Mono"/>
                <a:cs typeface="JetBrains Mono"/>
                <a:sym typeface="JetBrains Mono"/>
              </a:rPr>
              <a:t>await</a:t>
            </a:r>
            <a:r>
              <a:rPr b="0" i="0" lang="en-US" sz="862" u="none" cap="none" strike="noStrike">
                <a:solidFill>
                  <a:srgbClr val="71717A"/>
                </a:solidFill>
                <a:latin typeface="JetBrains Mono"/>
                <a:ea typeface="JetBrains Mono"/>
                <a:cs typeface="JetBrains Mono"/>
                <a:sym typeface="JetBrains Mono"/>
              </a:rPr>
              <a:t> InventoryItem.find({ part_code: { </a:t>
            </a:r>
            <a:r>
              <a:rPr b="1" i="0" lang="en-US" sz="862" u="none" cap="none" strike="noStrike">
                <a:solidFill>
                  <a:srgbClr val="FFFFFF"/>
                </a:solidFill>
                <a:latin typeface="JetBrains Mono"/>
                <a:ea typeface="JetBrains Mono"/>
                <a:cs typeface="JetBrains Mono"/>
                <a:sym typeface="JetBrains Mono"/>
              </a:rPr>
              <a:t>$in: candidateCodes</a:t>
            </a:r>
            <a:r>
              <a:rPr b="0" i="0" lang="en-US" sz="862" u="none" cap="none" strike="noStrike">
                <a:solidFill>
                  <a:srgbClr val="71717A"/>
                </a:solidFill>
                <a:latin typeface="JetBrains Mono"/>
                <a:ea typeface="JetBrains Mono"/>
                <a:cs typeface="JetBrains Mono"/>
                <a:sym typeface="JetBrains Mono"/>
              </a:rPr>
              <a:t> }, stock_quantity: { </a:t>
            </a:r>
            <a:r>
              <a:rPr b="1" i="0" lang="en-US" sz="862" u="none" cap="none" strike="noStrike">
                <a:solidFill>
                  <a:srgbClr val="FFFFFF"/>
                </a:solidFill>
                <a:latin typeface="JetBrains Mono"/>
                <a:ea typeface="JetBrains Mono"/>
                <a:cs typeface="JetBrains Mono"/>
                <a:sym typeface="JetBrains Mono"/>
              </a:rPr>
              <a:t>$gt: 0</a:t>
            </a:r>
            <a:r>
              <a:rPr b="0" i="0" lang="en-US" sz="862" u="none" cap="none" strike="noStrike">
                <a:solidFill>
                  <a:srgbClr val="71717A"/>
                </a:solidFill>
                <a:latin typeface="JetBrains Mono"/>
                <a:ea typeface="JetBrains Mono"/>
                <a:cs typeface="JetBrains Mono"/>
                <a:sym typeface="JetBrains Mono"/>
              </a:rPr>
              <a:t> } // BẮT BUỘC CÒN HÀNG THẬT TRONG KHO }); // Nạp danh sách đã kiểm chứng vào Gemini 2.5 để sinh báo cáo kỹ thuật</a:t>
            </a:r>
            <a:endParaRPr/>
          </a:p>
        </p:txBody>
      </p:sp>
      <p:sp>
        <p:nvSpPr>
          <p:cNvPr id="504" name="Google Shape;504;p27"/>
          <p:cNvSpPr txBox="1"/>
          <p:nvPr/>
        </p:nvSpPr>
        <p:spPr>
          <a:xfrm>
            <a:off x="457200" y="361950"/>
            <a:ext cx="89773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MÃ NGUỒN THỰC TẾ</a:t>
            </a:r>
            <a:endParaRPr/>
          </a:p>
        </p:txBody>
      </p:sp>
      <p:sp>
        <p:nvSpPr>
          <p:cNvPr id="505" name="Google Shape;505;p27"/>
          <p:cNvSpPr txBox="1"/>
          <p:nvPr/>
        </p:nvSpPr>
        <p:spPr>
          <a:xfrm>
            <a:off x="457200" y="523875"/>
            <a:ext cx="9426178"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Code Walkthrough 4: Neo4j Cypher &amp; Hybrid Graph-RAG Pipeline</a:t>
            </a:r>
            <a:endParaRPr/>
          </a:p>
        </p:txBody>
      </p:sp>
      <p:sp>
        <p:nvSpPr>
          <p:cNvPr id="506" name="Google Shape;506;p27"/>
          <p:cNvSpPr txBox="1"/>
          <p:nvPr/>
        </p:nvSpPr>
        <p:spPr>
          <a:xfrm>
            <a:off x="609600" y="1485900"/>
            <a:ext cx="5417343"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FFFFFF"/>
                </a:solidFill>
                <a:latin typeface="JetBrains Mono"/>
                <a:ea typeface="JetBrains Mono"/>
                <a:cs typeface="JetBrains Mono"/>
                <a:sym typeface="JetBrains Mono"/>
              </a:rPr>
              <a:t>backend/src/modules/ai-assistant/services/ai-diagnosis.service.js</a:t>
            </a:r>
            <a:endParaRPr/>
          </a:p>
        </p:txBody>
      </p:sp>
      <p:sp>
        <p:nvSpPr>
          <p:cNvPr id="507" name="Google Shape;507;p27"/>
          <p:cNvSpPr txBox="1"/>
          <p:nvPr/>
        </p:nvSpPr>
        <p:spPr>
          <a:xfrm>
            <a:off x="10837515" y="1495425"/>
            <a:ext cx="77345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GRAPH-RAG</a:t>
            </a:r>
            <a:endParaRPr/>
          </a:p>
        </p:txBody>
      </p:sp>
      <p:sp>
        <p:nvSpPr>
          <p:cNvPr id="508" name="Google Shape;508;p27"/>
          <p:cNvSpPr txBox="1"/>
          <p:nvPr/>
        </p:nvSpPr>
        <p:spPr>
          <a:xfrm>
            <a:off x="733425" y="5972175"/>
            <a:ext cx="108204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Cơ chế chống ảo giác (Zero-Hallucination):</a:t>
            </a:r>
            <a:r>
              <a:rPr b="0" i="0" lang="en-US" sz="825" u="none" cap="none" strike="noStrike">
                <a:solidFill>
                  <a:srgbClr val="A1A1AA"/>
                </a:solidFill>
                <a:latin typeface="Inter"/>
                <a:ea typeface="Inter"/>
                <a:cs typeface="Inter"/>
                <a:sym typeface="Inter"/>
              </a:rPr>
              <a:t> Gemini không tự "suy diễn" mã linh kiện. Đồ thị cơ học Neo4j truy xuất nền tảng lắp ráp, sau đó MongoDB lọc ra phụ tùng đang có sẵn trong kho trước khi đưa vào Prompt Context.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28"/>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4" name="Google Shape;514;p28"/>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28"/>
          <p:cNvSpPr/>
          <p:nvPr/>
        </p:nvSpPr>
        <p:spPr>
          <a:xfrm>
            <a:off x="457200" y="1323975"/>
            <a:ext cx="5562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6" name="Google Shape;516;p28"/>
          <p:cNvSpPr/>
          <p:nvPr/>
        </p:nvSpPr>
        <p:spPr>
          <a:xfrm>
            <a:off x="6172200" y="1323975"/>
            <a:ext cx="5562600"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7" name="Google Shape;517;p28"/>
          <p:cNvSpPr/>
          <p:nvPr/>
        </p:nvSpPr>
        <p:spPr>
          <a:xfrm>
            <a:off x="590550" y="6076950"/>
            <a:ext cx="5295900" cy="26670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8" name="Google Shape;518;p28"/>
          <p:cNvSpPr/>
          <p:nvPr/>
        </p:nvSpPr>
        <p:spPr>
          <a:xfrm>
            <a:off x="6305550" y="6076950"/>
            <a:ext cx="5295900" cy="266700"/>
          </a:xfrm>
          <a:prstGeom prst="rect">
            <a:avLst/>
          </a:prstGeom>
          <a:solidFill>
            <a:srgbClr val="18181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9" name="Google Shape;519;p28"/>
          <p:cNvSpPr/>
          <p:nvPr/>
        </p:nvSpPr>
        <p:spPr>
          <a:xfrm>
            <a:off x="5048250" y="1457325"/>
            <a:ext cx="838200"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0" name="Google Shape;520;p28"/>
          <p:cNvSpPr/>
          <p:nvPr/>
        </p:nvSpPr>
        <p:spPr>
          <a:xfrm>
            <a:off x="10645080" y="1457325"/>
            <a:ext cx="956369" cy="171450"/>
          </a:xfrm>
          <a:prstGeom prst="roundRect">
            <a:avLst>
              <a:gd fmla="val 11111"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28"/>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checkTechnicianAssignment.js &amp; otpRateLimiter.js - Phòng thủ chiều sâu</a:t>
            </a:r>
            <a:endParaRPr/>
          </a:p>
        </p:txBody>
      </p:sp>
      <p:sp>
        <p:nvSpPr>
          <p:cNvPr id="522" name="Google Shape;522;p28"/>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16 / 24</a:t>
            </a:r>
            <a:endParaRPr/>
          </a:p>
        </p:txBody>
      </p:sp>
      <p:sp>
        <p:nvSpPr>
          <p:cNvPr id="523" name="Google Shape;523;p28"/>
          <p:cNvSpPr txBox="1"/>
          <p:nvPr/>
        </p:nvSpPr>
        <p:spPr>
          <a:xfrm>
            <a:off x="457200" y="361950"/>
            <a:ext cx="885825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3: MÃ NGUỒN THỰC TẾ</a:t>
            </a:r>
            <a:endParaRPr/>
          </a:p>
        </p:txBody>
      </p:sp>
      <p:sp>
        <p:nvSpPr>
          <p:cNvPr id="524" name="Google Shape;524;p28"/>
          <p:cNvSpPr txBox="1"/>
          <p:nvPr/>
        </p:nvSpPr>
        <p:spPr>
          <a:xfrm>
            <a:off x="457200" y="523875"/>
            <a:ext cx="930116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Code Walkthrough 5: An Ninh Phân Tầng (ABAC &amp; Rate Limiting)</a:t>
            </a:r>
            <a:endParaRPr/>
          </a:p>
        </p:txBody>
      </p:sp>
      <p:sp>
        <p:nvSpPr>
          <p:cNvPr id="525" name="Google Shape;525;p28"/>
          <p:cNvSpPr txBox="1"/>
          <p:nvPr/>
        </p:nvSpPr>
        <p:spPr>
          <a:xfrm>
            <a:off x="685800" y="6134100"/>
            <a:ext cx="5200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A1A1AA"/>
                </a:solidFill>
                <a:latin typeface="Inter"/>
                <a:ea typeface="Inter"/>
                <a:cs typeface="Inter"/>
                <a:sym typeface="Inter"/>
              </a:rPr>
              <a:t>Ngăn chặn tấn công IDOR giữa các thợ máy tại các khoang nâng.</a:t>
            </a:r>
            <a:endParaRPr/>
          </a:p>
        </p:txBody>
      </p:sp>
      <p:sp>
        <p:nvSpPr>
          <p:cNvPr id="526" name="Google Shape;526;p28"/>
          <p:cNvSpPr txBox="1"/>
          <p:nvPr/>
        </p:nvSpPr>
        <p:spPr>
          <a:xfrm>
            <a:off x="6400800" y="6134100"/>
            <a:ext cx="5200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A1A1AA"/>
                </a:solidFill>
                <a:latin typeface="Inter"/>
                <a:ea typeface="Inter"/>
                <a:cs typeface="Inter"/>
                <a:sym typeface="Inter"/>
              </a:rPr>
              <a:t>Bảo vệ hạ tầng SMTP và chặn spam SMS/Email OTP quy mô lớn.</a:t>
            </a:r>
            <a:endParaRPr/>
          </a:p>
        </p:txBody>
      </p:sp>
      <p:sp>
        <p:nvSpPr>
          <p:cNvPr id="527" name="Google Shape;527;p28"/>
          <p:cNvSpPr txBox="1"/>
          <p:nvPr/>
        </p:nvSpPr>
        <p:spPr>
          <a:xfrm>
            <a:off x="590550" y="1771650"/>
            <a:ext cx="5391150" cy="2125265"/>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71717A"/>
                </a:solidFill>
                <a:latin typeface="JetBrains Mono"/>
                <a:ea typeface="JetBrains Mono"/>
                <a:cs typeface="JetBrains Mono"/>
                <a:sym typeface="JetBrains Mono"/>
              </a:rPr>
              <a:t>// [ĐIỂM CHỈ 1: Attribute-Based Access Control] </a:t>
            </a:r>
            <a:r>
              <a:rPr b="1" i="0" lang="en-US" sz="825" u="none" cap="none" strike="noStrike">
                <a:solidFill>
                  <a:srgbClr val="FFFFFF"/>
                </a:solidFill>
                <a:latin typeface="JetBrains Mono"/>
                <a:ea typeface="JetBrains Mono"/>
                <a:cs typeface="JetBrains Mono"/>
                <a:sym typeface="JetBrains Mono"/>
              </a:rPr>
              <a:t>const</a:t>
            </a:r>
            <a:r>
              <a:rPr b="0" i="0" lang="en-US" sz="825" u="none" cap="none" strike="noStrike">
                <a:solidFill>
                  <a:srgbClr val="71717A"/>
                </a:solidFill>
                <a:latin typeface="JetBrains Mono"/>
                <a:ea typeface="JetBrains Mono"/>
                <a:cs typeface="JetBrains Mono"/>
                <a:sym typeface="JetBrains Mono"/>
              </a:rPr>
              <a:t> isAssigned = workOrder.assigned_technicians .some((tech) =&gt; tech.technician_id === req.user.userId || tech.technician_id === req.user.phone_number ); </a:t>
            </a:r>
            <a:r>
              <a:rPr b="1" i="0" lang="en-US" sz="825" u="none" cap="none" strike="noStrike">
                <a:solidFill>
                  <a:srgbClr val="FFFFFF"/>
                </a:solidFill>
                <a:latin typeface="JetBrains Mono"/>
                <a:ea typeface="JetBrains Mono"/>
                <a:cs typeface="JetBrains Mono"/>
                <a:sym typeface="JetBrains Mono"/>
              </a:rPr>
              <a:t>if</a:t>
            </a:r>
            <a:r>
              <a:rPr b="0" i="0" lang="en-US" sz="825" u="none" cap="none" strike="noStrike">
                <a:solidFill>
                  <a:srgbClr val="71717A"/>
                </a:solidFill>
                <a:latin typeface="JetBrains Mono"/>
                <a:ea typeface="JetBrains Mono"/>
                <a:cs typeface="JetBrains Mono"/>
                <a:sym typeface="JetBrains Mono"/>
              </a:rPr>
              <a:t> (!isAssigned) { // Chặn thợ máy can thiệp xe khoang khác! </a:t>
            </a:r>
            <a:r>
              <a:rPr b="1" i="0" lang="en-US" sz="825" u="none" cap="none" strike="noStrike">
                <a:solidFill>
                  <a:srgbClr val="FFFFFF"/>
                </a:solidFill>
                <a:latin typeface="JetBrains Mono"/>
                <a:ea typeface="JetBrains Mono"/>
                <a:cs typeface="JetBrains Mono"/>
                <a:sym typeface="JetBrains Mono"/>
              </a:rPr>
              <a:t>return</a:t>
            </a:r>
            <a:r>
              <a:rPr b="0" i="0" lang="en-US" sz="825" u="none" cap="none" strike="noStrike">
                <a:solidFill>
                  <a:srgbClr val="71717A"/>
                </a:solidFill>
                <a:latin typeface="JetBrains Mono"/>
                <a:ea typeface="JetBrains Mono"/>
                <a:cs typeface="JetBrains Mono"/>
                <a:sym typeface="JetBrains Mono"/>
              </a:rPr>
              <a:t> next(</a:t>
            </a:r>
            <a:r>
              <a:rPr b="1" i="0" lang="en-US" sz="825" u="none" cap="none" strike="noStrike">
                <a:solidFill>
                  <a:srgbClr val="FFFFFF"/>
                </a:solidFill>
                <a:latin typeface="JetBrains Mono"/>
                <a:ea typeface="JetBrains Mono"/>
                <a:cs typeface="JetBrains Mono"/>
                <a:sym typeface="JetBrains Mono"/>
              </a:rPr>
              <a:t>new</a:t>
            </a:r>
            <a:r>
              <a:rPr b="0" i="0" lang="en-US" sz="825" u="none" cap="none" strike="noStrike">
                <a:solidFill>
                  <a:srgbClr val="71717A"/>
                </a:solidFill>
                <a:latin typeface="JetBrains Mono"/>
                <a:ea typeface="JetBrains Mono"/>
                <a:cs typeface="JetBrains Mono"/>
                <a:sym typeface="JetBrains Mono"/>
              </a:rPr>
              <a:t> AppError( </a:t>
            </a:r>
            <a:r>
              <a:rPr b="0" i="0" lang="en-US" sz="825" u="none" cap="none" strike="noStrike">
                <a:solidFill>
                  <a:srgbClr val="D4D4D8"/>
                </a:solidFill>
                <a:latin typeface="JetBrains Mono"/>
                <a:ea typeface="JetBrains Mono"/>
                <a:cs typeface="JetBrains Mono"/>
                <a:sym typeface="JetBrains Mono"/>
              </a:rPr>
              <a:t>'Bạn không được phân công trên xe này'</a:t>
            </a:r>
            <a:r>
              <a:rPr b="0" i="0" lang="en-US" sz="825" u="none" cap="none" strike="noStrike">
                <a:solidFill>
                  <a:srgbClr val="71717A"/>
                </a:solidFill>
                <a:latin typeface="JetBrains Mono"/>
                <a:ea typeface="JetBrains Mono"/>
                <a:cs typeface="JetBrains Mono"/>
                <a:sym typeface="JetBrains Mono"/>
              </a:rPr>
              <a:t>, 403, </a:t>
            </a:r>
            <a:r>
              <a:rPr b="0" i="0" lang="en-US" sz="825" u="none" cap="none" strike="noStrike">
                <a:solidFill>
                  <a:srgbClr val="D4D4D8"/>
                </a:solidFill>
                <a:latin typeface="JetBrains Mono"/>
                <a:ea typeface="JetBrains Mono"/>
                <a:cs typeface="JetBrains Mono"/>
                <a:sym typeface="JetBrains Mono"/>
              </a:rPr>
              <a:t>'FORBIDDEN'</a:t>
            </a:r>
            <a:r>
              <a:rPr b="0" i="0" lang="en-US" sz="825" u="none" cap="none" strike="noStrike">
                <a:solidFill>
                  <a:srgbClr val="71717A"/>
                </a:solidFill>
                <a:latin typeface="JetBrains Mono"/>
                <a:ea typeface="JetBrains Mono"/>
                <a:cs typeface="JetBrains Mono"/>
                <a:sym typeface="JetBrains Mono"/>
              </a:rPr>
              <a:t> )); }</a:t>
            </a:r>
            <a:endParaRPr/>
          </a:p>
        </p:txBody>
      </p:sp>
      <p:sp>
        <p:nvSpPr>
          <p:cNvPr id="528" name="Google Shape;528;p28"/>
          <p:cNvSpPr txBox="1"/>
          <p:nvPr/>
        </p:nvSpPr>
        <p:spPr>
          <a:xfrm>
            <a:off x="6305550" y="1771650"/>
            <a:ext cx="5391150" cy="2125265"/>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71717A"/>
                </a:solidFill>
                <a:latin typeface="JetBrains Mono"/>
                <a:ea typeface="JetBrains Mono"/>
                <a:cs typeface="JetBrains Mono"/>
                <a:sym typeface="JetBrains Mono"/>
              </a:rPr>
              <a:t>// [ĐIỂM CHỈ 2: Nguyên tử Sliding Window Redis] </a:t>
            </a:r>
            <a:r>
              <a:rPr b="1" i="0" lang="en-US" sz="825" u="none" cap="none" strike="noStrike">
                <a:solidFill>
                  <a:srgbClr val="FFFFFF"/>
                </a:solidFill>
                <a:latin typeface="JetBrains Mono"/>
                <a:ea typeface="JetBrains Mono"/>
                <a:cs typeface="JetBrains Mono"/>
                <a:sym typeface="JetBrains Mono"/>
              </a:rPr>
              <a:t>const</a:t>
            </a:r>
            <a:r>
              <a:rPr b="0" i="0" lang="en-US" sz="825" u="none" cap="none" strike="noStrike">
                <a:solidFill>
                  <a:srgbClr val="71717A"/>
                </a:solidFill>
                <a:latin typeface="JetBrains Mono"/>
                <a:ea typeface="JetBrains Mono"/>
                <a:cs typeface="JetBrains Mono"/>
                <a:sym typeface="JetBrains Mono"/>
              </a:rPr>
              <a:t> currentRequests = </a:t>
            </a:r>
            <a:r>
              <a:rPr b="1" i="0" lang="en-US" sz="825" u="none" cap="none" strike="noStrike">
                <a:solidFill>
                  <a:srgbClr val="FFFFFF"/>
                </a:solidFill>
                <a:latin typeface="JetBrains Mono"/>
                <a:ea typeface="JetBrains Mono"/>
                <a:cs typeface="JetBrains Mono"/>
                <a:sym typeface="JetBrains Mono"/>
              </a:rPr>
              <a:t>await</a:t>
            </a:r>
            <a:r>
              <a:rPr b="0" i="0" lang="en-US" sz="825" u="none" cap="none" strike="noStrike">
                <a:solidFill>
                  <a:srgbClr val="71717A"/>
                </a:solidFill>
                <a:latin typeface="JetBrains Mono"/>
                <a:ea typeface="JetBrains Mono"/>
                <a:cs typeface="JetBrains Mono"/>
                <a:sym typeface="JetBrains Mono"/>
              </a:rPr>
              <a:t> redis.incr(dailyKey); // Tăng đếm RAM </a:t>
            </a:r>
            <a:r>
              <a:rPr b="1" i="0" lang="en-US" sz="825" u="none" cap="none" strike="noStrike">
                <a:solidFill>
                  <a:srgbClr val="FFFFFF"/>
                </a:solidFill>
                <a:latin typeface="JetBrains Mono"/>
                <a:ea typeface="JetBrains Mono"/>
                <a:cs typeface="JetBrains Mono"/>
                <a:sym typeface="JetBrains Mono"/>
              </a:rPr>
              <a:t>if</a:t>
            </a:r>
            <a:r>
              <a:rPr b="0" i="0" lang="en-US" sz="825" u="none" cap="none" strike="noStrike">
                <a:solidFill>
                  <a:srgbClr val="71717A"/>
                </a:solidFill>
                <a:latin typeface="JetBrains Mono"/>
                <a:ea typeface="JetBrains Mono"/>
                <a:cs typeface="JetBrains Mono"/>
                <a:sym typeface="JetBrains Mono"/>
              </a:rPr>
              <a:t> (currentRequests === 1) { </a:t>
            </a:r>
            <a:r>
              <a:rPr b="1" i="0" lang="en-US" sz="825" u="none" cap="none" strike="noStrike">
                <a:solidFill>
                  <a:srgbClr val="FFFFFF"/>
                </a:solidFill>
                <a:latin typeface="JetBrains Mono"/>
                <a:ea typeface="JetBrains Mono"/>
                <a:cs typeface="JetBrains Mono"/>
                <a:sym typeface="JetBrains Mono"/>
              </a:rPr>
              <a:t>await</a:t>
            </a:r>
            <a:r>
              <a:rPr b="0" i="0" lang="en-US" sz="825" u="none" cap="none" strike="noStrike">
                <a:solidFill>
                  <a:srgbClr val="71717A"/>
                </a:solidFill>
                <a:latin typeface="JetBrains Mono"/>
                <a:ea typeface="JetBrains Mono"/>
                <a:cs typeface="JetBrains Mono"/>
                <a:sym typeface="JetBrains Mono"/>
              </a:rPr>
              <a:t> redis.expire(dailyKey, 86400); // TTL 24h } </a:t>
            </a:r>
            <a:r>
              <a:rPr b="1" i="0" lang="en-US" sz="825" u="none" cap="none" strike="noStrike">
                <a:solidFill>
                  <a:srgbClr val="FFFFFF"/>
                </a:solidFill>
                <a:latin typeface="JetBrains Mono"/>
                <a:ea typeface="JetBrains Mono"/>
                <a:cs typeface="JetBrains Mono"/>
                <a:sym typeface="JetBrains Mono"/>
              </a:rPr>
              <a:t>if</a:t>
            </a:r>
            <a:r>
              <a:rPr b="0" i="0" lang="en-US" sz="825" u="none" cap="none" strike="noStrike">
                <a:solidFill>
                  <a:srgbClr val="71717A"/>
                </a:solidFill>
                <a:latin typeface="JetBrains Mono"/>
                <a:ea typeface="JetBrains Mono"/>
                <a:cs typeface="JetBrains Mono"/>
                <a:sym typeface="JetBrains Mono"/>
              </a:rPr>
              <a:t> (currentRequests &gt; 20) { </a:t>
            </a:r>
            <a:r>
              <a:rPr b="1" i="0" lang="en-US" sz="825" u="none" cap="none" strike="noStrike">
                <a:solidFill>
                  <a:srgbClr val="FFFFFF"/>
                </a:solidFill>
                <a:latin typeface="JetBrains Mono"/>
                <a:ea typeface="JetBrains Mono"/>
                <a:cs typeface="JetBrains Mono"/>
                <a:sym typeface="JetBrains Mono"/>
              </a:rPr>
              <a:t>return</a:t>
            </a:r>
            <a:r>
              <a:rPr b="0" i="0" lang="en-US" sz="825" u="none" cap="none" strike="noStrike">
                <a:solidFill>
                  <a:srgbClr val="71717A"/>
                </a:solidFill>
                <a:latin typeface="JetBrains Mono"/>
                <a:ea typeface="JetBrains Mono"/>
                <a:cs typeface="JetBrains Mono"/>
                <a:sym typeface="JetBrains Mono"/>
              </a:rPr>
              <a:t> next(</a:t>
            </a:r>
            <a:r>
              <a:rPr b="1" i="0" lang="en-US" sz="825" u="none" cap="none" strike="noStrike">
                <a:solidFill>
                  <a:srgbClr val="FFFFFF"/>
                </a:solidFill>
                <a:latin typeface="JetBrains Mono"/>
                <a:ea typeface="JetBrains Mono"/>
                <a:cs typeface="JetBrains Mono"/>
                <a:sym typeface="JetBrains Mono"/>
              </a:rPr>
              <a:t>new</a:t>
            </a:r>
            <a:r>
              <a:rPr b="0" i="0" lang="en-US" sz="825" u="none" cap="none" strike="noStrike">
                <a:solidFill>
                  <a:srgbClr val="71717A"/>
                </a:solidFill>
                <a:latin typeface="JetBrains Mono"/>
                <a:ea typeface="JetBrains Mono"/>
                <a:cs typeface="JetBrains Mono"/>
                <a:sym typeface="JetBrains Mono"/>
              </a:rPr>
              <a:t> AppError( </a:t>
            </a:r>
            <a:r>
              <a:rPr b="0" i="0" lang="en-US" sz="825" u="none" cap="none" strike="noStrike">
                <a:solidFill>
                  <a:srgbClr val="D4D4D8"/>
                </a:solidFill>
                <a:latin typeface="JetBrains Mono"/>
                <a:ea typeface="JetBrains Mono"/>
                <a:cs typeface="JetBrains Mono"/>
                <a:sym typeface="JetBrains Mono"/>
              </a:rPr>
              <a:t>'Vượt quá hạn mức 20 OTP/ngày'</a:t>
            </a:r>
            <a:r>
              <a:rPr b="0" i="0" lang="en-US" sz="825" u="none" cap="none" strike="noStrike">
                <a:solidFill>
                  <a:srgbClr val="71717A"/>
                </a:solidFill>
                <a:latin typeface="JetBrains Mono"/>
                <a:ea typeface="JetBrains Mono"/>
                <a:cs typeface="JetBrains Mono"/>
                <a:sym typeface="JetBrains Mono"/>
              </a:rPr>
              <a:t>, 429, </a:t>
            </a:r>
            <a:r>
              <a:rPr b="0" i="0" lang="en-US" sz="825" u="none" cap="none" strike="noStrike">
                <a:solidFill>
                  <a:srgbClr val="D4D4D8"/>
                </a:solidFill>
                <a:latin typeface="JetBrains Mono"/>
                <a:ea typeface="JetBrains Mono"/>
                <a:cs typeface="JetBrains Mono"/>
                <a:sym typeface="JetBrains Mono"/>
              </a:rPr>
              <a:t>'DAILY_LIMIT_EXCEEDED'</a:t>
            </a:r>
            <a:r>
              <a:rPr b="0" i="0" lang="en-US" sz="825" u="none" cap="none" strike="noStrike">
                <a:solidFill>
                  <a:srgbClr val="71717A"/>
                </a:solidFill>
                <a:latin typeface="JetBrains Mono"/>
                <a:ea typeface="JetBrains Mono"/>
                <a:cs typeface="JetBrains Mono"/>
                <a:sym typeface="JetBrains Mono"/>
              </a:rPr>
              <a:t> )); }</a:t>
            </a:r>
            <a:endParaRPr/>
          </a:p>
        </p:txBody>
      </p:sp>
      <p:sp>
        <p:nvSpPr>
          <p:cNvPr id="529" name="Google Shape;529;p28"/>
          <p:cNvSpPr txBox="1"/>
          <p:nvPr/>
        </p:nvSpPr>
        <p:spPr>
          <a:xfrm>
            <a:off x="590550" y="1471612"/>
            <a:ext cx="23336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checkTechnicianAssignment.js</a:t>
            </a:r>
            <a:endParaRPr/>
          </a:p>
        </p:txBody>
      </p:sp>
      <p:sp>
        <p:nvSpPr>
          <p:cNvPr id="530" name="Google Shape;530;p28"/>
          <p:cNvSpPr txBox="1"/>
          <p:nvPr/>
        </p:nvSpPr>
        <p:spPr>
          <a:xfrm>
            <a:off x="5114925" y="1476375"/>
            <a:ext cx="800100"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ABAC CHECK</a:t>
            </a:r>
            <a:endParaRPr/>
          </a:p>
        </p:txBody>
      </p:sp>
      <p:sp>
        <p:nvSpPr>
          <p:cNvPr id="531" name="Google Shape;531;p28"/>
          <p:cNvSpPr txBox="1"/>
          <p:nvPr/>
        </p:nvSpPr>
        <p:spPr>
          <a:xfrm>
            <a:off x="6305550" y="1471612"/>
            <a:ext cx="14192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FFFFFF"/>
                </a:solidFill>
                <a:latin typeface="JetBrains Mono"/>
                <a:ea typeface="JetBrains Mono"/>
                <a:cs typeface="JetBrains Mono"/>
                <a:sym typeface="JetBrains Mono"/>
              </a:rPr>
              <a:t>otpRateLimiter.js</a:t>
            </a:r>
            <a:endParaRPr/>
          </a:p>
        </p:txBody>
      </p:sp>
      <p:sp>
        <p:nvSpPr>
          <p:cNvPr id="532" name="Google Shape;532;p28"/>
          <p:cNvSpPr txBox="1"/>
          <p:nvPr/>
        </p:nvSpPr>
        <p:spPr>
          <a:xfrm>
            <a:off x="10711755" y="1476375"/>
            <a:ext cx="91826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750" u="none" cap="none" strike="noStrike">
                <a:solidFill>
                  <a:srgbClr val="A1A1AA"/>
                </a:solidFill>
                <a:latin typeface="Inter"/>
                <a:ea typeface="Inter"/>
                <a:cs typeface="Inter"/>
                <a:sym typeface="Inter"/>
              </a:rPr>
              <a:t>REDIS SLIDING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29"/>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29"/>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9" name="Google Shape;539;p29"/>
          <p:cNvSpPr/>
          <p:nvPr/>
        </p:nvSpPr>
        <p:spPr>
          <a:xfrm>
            <a:off x="457200" y="2181225"/>
            <a:ext cx="11277600" cy="1123950"/>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0" name="Google Shape;540;p29"/>
          <p:cNvSpPr/>
          <p:nvPr/>
        </p:nvSpPr>
        <p:spPr>
          <a:xfrm>
            <a:off x="457200" y="3419475"/>
            <a:ext cx="11277600" cy="32385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1" name="Google Shape;541;p29"/>
          <p:cNvSpPr/>
          <p:nvPr/>
        </p:nvSpPr>
        <p:spPr>
          <a:xfrm>
            <a:off x="457200" y="1543050"/>
            <a:ext cx="1835199" cy="5238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29"/>
          <p:cNvSpPr/>
          <p:nvPr/>
        </p:nvSpPr>
        <p:spPr>
          <a:xfrm>
            <a:off x="2349549" y="1543050"/>
            <a:ext cx="1835199" cy="5238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3" name="Google Shape;543;p29"/>
          <p:cNvSpPr/>
          <p:nvPr/>
        </p:nvSpPr>
        <p:spPr>
          <a:xfrm>
            <a:off x="4241899" y="1543050"/>
            <a:ext cx="1835199" cy="5238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4" name="Google Shape;544;p29"/>
          <p:cNvSpPr/>
          <p:nvPr/>
        </p:nvSpPr>
        <p:spPr>
          <a:xfrm>
            <a:off x="6134248" y="1543050"/>
            <a:ext cx="1835199" cy="5238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29"/>
          <p:cNvSpPr/>
          <p:nvPr/>
        </p:nvSpPr>
        <p:spPr>
          <a:xfrm>
            <a:off x="8026598" y="1543050"/>
            <a:ext cx="1835199" cy="52387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6" name="Google Shape;546;p29"/>
          <p:cNvSpPr/>
          <p:nvPr/>
        </p:nvSpPr>
        <p:spPr>
          <a:xfrm>
            <a:off x="9918948" y="1543050"/>
            <a:ext cx="1816149" cy="5238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7" name="Google Shape;547;p29"/>
          <p:cNvSpPr/>
          <p:nvPr/>
        </p:nvSpPr>
        <p:spPr>
          <a:xfrm>
            <a:off x="619125" y="2524125"/>
            <a:ext cx="3587799" cy="6572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29"/>
          <p:cNvSpPr/>
          <p:nvPr/>
        </p:nvSpPr>
        <p:spPr>
          <a:xfrm>
            <a:off x="619125" y="31718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9" name="Google Shape;549;p29"/>
          <p:cNvSpPr/>
          <p:nvPr/>
        </p:nvSpPr>
        <p:spPr>
          <a:xfrm>
            <a:off x="619125" y="25241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0" name="Google Shape;550;p29"/>
          <p:cNvSpPr/>
          <p:nvPr/>
        </p:nvSpPr>
        <p:spPr>
          <a:xfrm>
            <a:off x="619125" y="2524125"/>
            <a:ext cx="28575" cy="6572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1" name="Google Shape;551;p29"/>
          <p:cNvSpPr/>
          <p:nvPr/>
        </p:nvSpPr>
        <p:spPr>
          <a:xfrm>
            <a:off x="4197399" y="2524125"/>
            <a:ext cx="9525" cy="6572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29"/>
          <p:cNvSpPr/>
          <p:nvPr/>
        </p:nvSpPr>
        <p:spPr>
          <a:xfrm>
            <a:off x="4302174" y="2524125"/>
            <a:ext cx="3587799" cy="6572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3" name="Google Shape;553;p29"/>
          <p:cNvSpPr/>
          <p:nvPr/>
        </p:nvSpPr>
        <p:spPr>
          <a:xfrm>
            <a:off x="4302174" y="31718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4" name="Google Shape;554;p29"/>
          <p:cNvSpPr/>
          <p:nvPr/>
        </p:nvSpPr>
        <p:spPr>
          <a:xfrm>
            <a:off x="4302174" y="25241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29"/>
          <p:cNvSpPr/>
          <p:nvPr/>
        </p:nvSpPr>
        <p:spPr>
          <a:xfrm>
            <a:off x="4302174" y="2524125"/>
            <a:ext cx="28575" cy="6572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6" name="Google Shape;556;p29"/>
          <p:cNvSpPr/>
          <p:nvPr/>
        </p:nvSpPr>
        <p:spPr>
          <a:xfrm>
            <a:off x="7880449" y="2524125"/>
            <a:ext cx="9525" cy="6572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7" name="Google Shape;557;p29"/>
          <p:cNvSpPr/>
          <p:nvPr/>
        </p:nvSpPr>
        <p:spPr>
          <a:xfrm>
            <a:off x="7985224" y="2524125"/>
            <a:ext cx="3587799" cy="6572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29"/>
          <p:cNvSpPr/>
          <p:nvPr/>
        </p:nvSpPr>
        <p:spPr>
          <a:xfrm>
            <a:off x="7985224" y="31718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29"/>
          <p:cNvSpPr/>
          <p:nvPr/>
        </p:nvSpPr>
        <p:spPr>
          <a:xfrm>
            <a:off x="7985224" y="2524125"/>
            <a:ext cx="3587799"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0" name="Google Shape;560;p29"/>
          <p:cNvSpPr/>
          <p:nvPr/>
        </p:nvSpPr>
        <p:spPr>
          <a:xfrm>
            <a:off x="7985224" y="2524125"/>
            <a:ext cx="28575" cy="6572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Google Shape;561;p29"/>
          <p:cNvSpPr/>
          <p:nvPr/>
        </p:nvSpPr>
        <p:spPr>
          <a:xfrm>
            <a:off x="11563498" y="2524125"/>
            <a:ext cx="9525" cy="6572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29"/>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Đảm bảo tính kỷ luật của dữ liệu xưởng và lan truyền sự kiện Full-Duplex &lt; 100ms</a:t>
            </a:r>
            <a:endParaRPr/>
          </a:p>
        </p:txBody>
      </p:sp>
      <p:sp>
        <p:nvSpPr>
          <p:cNvPr id="563" name="Google Shape;563;p29"/>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17 / 24</a:t>
            </a:r>
            <a:endParaRPr/>
          </a:p>
        </p:txBody>
      </p:sp>
      <p:sp>
        <p:nvSpPr>
          <p:cNvPr id="564" name="Google Shape;564;p29"/>
          <p:cNvSpPr txBox="1"/>
          <p:nvPr/>
        </p:nvSpPr>
        <p:spPr>
          <a:xfrm>
            <a:off x="457200" y="361950"/>
            <a:ext cx="75723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4: QUY TRÌNH &amp; REALTIME</a:t>
            </a:r>
            <a:endParaRPr/>
          </a:p>
        </p:txBody>
      </p:sp>
      <p:sp>
        <p:nvSpPr>
          <p:cNvPr id="565" name="Google Shape;565;p29"/>
          <p:cNvSpPr txBox="1"/>
          <p:nvPr/>
        </p:nvSpPr>
        <p:spPr>
          <a:xfrm>
            <a:off x="457200" y="523875"/>
            <a:ext cx="7950993"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Finite State Machine (FSM 6 Chặng) &amp; Socket.io Rooms</a:t>
            </a:r>
            <a:endParaRPr/>
          </a:p>
        </p:txBody>
      </p:sp>
      <p:sp>
        <p:nvSpPr>
          <p:cNvPr id="566" name="Google Shape;566;p29"/>
          <p:cNvSpPr txBox="1"/>
          <p:nvPr/>
        </p:nvSpPr>
        <p:spPr>
          <a:xfrm>
            <a:off x="457200" y="1323975"/>
            <a:ext cx="117348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1. MÁY TRẠNG THÁI HỮU HẠN (FSM 6 CHẶNG)</a:t>
            </a:r>
            <a:endParaRPr/>
          </a:p>
        </p:txBody>
      </p:sp>
      <p:sp>
        <p:nvSpPr>
          <p:cNvPr id="567" name="Google Shape;567;p29"/>
          <p:cNvSpPr txBox="1"/>
          <p:nvPr/>
        </p:nvSpPr>
        <p:spPr>
          <a:xfrm>
            <a:off x="619125" y="2305050"/>
            <a:ext cx="115728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2. PHÂN PHÒNG WEBSOCKET (SOCKET.IO ROOMS)</a:t>
            </a:r>
            <a:endParaRPr/>
          </a:p>
        </p:txBody>
      </p:sp>
      <p:sp>
        <p:nvSpPr>
          <p:cNvPr id="568" name="Google Shape;568;p29"/>
          <p:cNvSpPr txBox="1"/>
          <p:nvPr/>
        </p:nvSpPr>
        <p:spPr>
          <a:xfrm>
            <a:off x="590550" y="3509962"/>
            <a:ext cx="269081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FFFFFF"/>
                </a:solidFill>
                <a:latin typeface="Inter"/>
                <a:ea typeface="Inter"/>
                <a:cs typeface="Inter"/>
                <a:sym typeface="Inter"/>
              </a:rPr>
              <a:t>Full-Duplex Zero-Polling Architecture</a:t>
            </a:r>
            <a:endParaRPr/>
          </a:p>
        </p:txBody>
      </p:sp>
      <p:sp>
        <p:nvSpPr>
          <p:cNvPr id="569" name="Google Shape;569;p29"/>
          <p:cNvSpPr txBox="1"/>
          <p:nvPr/>
        </p:nvSpPr>
        <p:spPr>
          <a:xfrm>
            <a:off x="8801100" y="3505200"/>
            <a:ext cx="33909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D4D4D8"/>
                </a:solidFill>
                <a:latin typeface="JetBrains Mono"/>
                <a:ea typeface="JetBrains Mono"/>
                <a:cs typeface="JetBrains Mono"/>
                <a:sym typeface="JetBrains Mono"/>
              </a:rPr>
              <a:t>LATENCY &lt; 80ms (Loại bỏ hoàn toàn polling)</a:t>
            </a:r>
            <a:endParaRPr/>
          </a:p>
        </p:txBody>
      </p:sp>
      <p:sp>
        <p:nvSpPr>
          <p:cNvPr id="570" name="Google Shape;570;p29"/>
          <p:cNvSpPr txBox="1"/>
          <p:nvPr/>
        </p:nvSpPr>
        <p:spPr>
          <a:xfrm>
            <a:off x="284950" y="1619250"/>
            <a:ext cx="2179699"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09090B"/>
                </a:solidFill>
                <a:latin typeface="Inter"/>
                <a:ea typeface="Inter"/>
                <a:cs typeface="Inter"/>
                <a:sym typeface="Inter"/>
              </a:rPr>
              <a:t>1. TIEP_NHAN</a:t>
            </a:r>
            <a:endParaRPr/>
          </a:p>
        </p:txBody>
      </p:sp>
      <p:sp>
        <p:nvSpPr>
          <p:cNvPr id="571" name="Google Shape;571;p29"/>
          <p:cNvSpPr txBox="1"/>
          <p:nvPr/>
        </p:nvSpPr>
        <p:spPr>
          <a:xfrm>
            <a:off x="2177299" y="1619250"/>
            <a:ext cx="2179699"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09090B"/>
                </a:solidFill>
                <a:latin typeface="Inter"/>
                <a:ea typeface="Inter"/>
                <a:cs typeface="Inter"/>
                <a:sym typeface="Inter"/>
              </a:rPr>
              <a:t>2. CHO_BAO_GIA</a:t>
            </a:r>
            <a:endParaRPr/>
          </a:p>
        </p:txBody>
      </p:sp>
      <p:sp>
        <p:nvSpPr>
          <p:cNvPr id="572" name="Google Shape;572;p29"/>
          <p:cNvSpPr txBox="1"/>
          <p:nvPr/>
        </p:nvSpPr>
        <p:spPr>
          <a:xfrm>
            <a:off x="4069649" y="1619250"/>
            <a:ext cx="2179699"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09090B"/>
                </a:solidFill>
                <a:latin typeface="Inter"/>
                <a:ea typeface="Inter"/>
                <a:cs typeface="Inter"/>
                <a:sym typeface="Inter"/>
              </a:rPr>
              <a:t>3. CHO_VAT_TU</a:t>
            </a:r>
            <a:endParaRPr/>
          </a:p>
        </p:txBody>
      </p:sp>
      <p:sp>
        <p:nvSpPr>
          <p:cNvPr id="573" name="Google Shape;573;p29"/>
          <p:cNvSpPr txBox="1"/>
          <p:nvPr/>
        </p:nvSpPr>
        <p:spPr>
          <a:xfrm>
            <a:off x="5961998" y="1619250"/>
            <a:ext cx="2179699"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09090B"/>
                </a:solidFill>
                <a:latin typeface="Inter"/>
                <a:ea typeface="Inter"/>
                <a:cs typeface="Inter"/>
                <a:sym typeface="Inter"/>
              </a:rPr>
              <a:t>4. DANG_THI_CONG</a:t>
            </a:r>
            <a:endParaRPr/>
          </a:p>
        </p:txBody>
      </p:sp>
      <p:sp>
        <p:nvSpPr>
          <p:cNvPr id="574" name="Google Shape;574;p29"/>
          <p:cNvSpPr txBox="1"/>
          <p:nvPr/>
        </p:nvSpPr>
        <p:spPr>
          <a:xfrm>
            <a:off x="7854348" y="1619250"/>
            <a:ext cx="2179699"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09090B"/>
                </a:solidFill>
                <a:latin typeface="Inter"/>
                <a:ea typeface="Inter"/>
                <a:cs typeface="Inter"/>
                <a:sym typeface="Inter"/>
              </a:rPr>
              <a:t>5. KIEM_TRA_QC</a:t>
            </a:r>
            <a:endParaRPr/>
          </a:p>
        </p:txBody>
      </p:sp>
      <p:sp>
        <p:nvSpPr>
          <p:cNvPr id="575" name="Google Shape;575;p29"/>
          <p:cNvSpPr txBox="1"/>
          <p:nvPr/>
        </p:nvSpPr>
        <p:spPr>
          <a:xfrm>
            <a:off x="9749079" y="1619250"/>
            <a:ext cx="2155887" cy="371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825" u="none" cap="none" strike="noStrike">
                <a:solidFill>
                  <a:srgbClr val="FFFFFF"/>
                </a:solidFill>
                <a:latin typeface="Inter"/>
                <a:ea typeface="Inter"/>
                <a:cs typeface="Inter"/>
                <a:sym typeface="Inter"/>
              </a:rPr>
              <a:t>6. HOAN_TAT</a:t>
            </a:r>
            <a:endParaRPr/>
          </a:p>
        </p:txBody>
      </p:sp>
      <p:sp>
        <p:nvSpPr>
          <p:cNvPr id="576" name="Google Shape;576;p29"/>
          <p:cNvSpPr txBox="1"/>
          <p:nvPr/>
        </p:nvSpPr>
        <p:spPr>
          <a:xfrm>
            <a:off x="714375" y="2600325"/>
            <a:ext cx="3492549"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room:kanban_board</a:t>
            </a:r>
            <a:endParaRPr/>
          </a:p>
        </p:txBody>
      </p:sp>
      <p:sp>
        <p:nvSpPr>
          <p:cNvPr id="577" name="Google Shape;577;p29"/>
          <p:cNvSpPr txBox="1"/>
          <p:nvPr/>
        </p:nvSpPr>
        <p:spPr>
          <a:xfrm>
            <a:off x="4397424" y="2600325"/>
            <a:ext cx="3492549"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room:technician_bay_{id}</a:t>
            </a:r>
            <a:endParaRPr/>
          </a:p>
        </p:txBody>
      </p:sp>
      <p:sp>
        <p:nvSpPr>
          <p:cNvPr id="578" name="Google Shape;578;p29"/>
          <p:cNvSpPr txBox="1"/>
          <p:nvPr/>
        </p:nvSpPr>
        <p:spPr>
          <a:xfrm>
            <a:off x="8080474" y="2600325"/>
            <a:ext cx="3492549" cy="504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room:customer_WO_{code}</a:t>
            </a:r>
            <a:endParaRPr/>
          </a:p>
        </p:txBody>
      </p:sp>
      <p:sp>
        <p:nvSpPr>
          <p:cNvPr id="579" name="Google Shape;579;p29"/>
          <p:cNvSpPr txBox="1"/>
          <p:nvPr/>
        </p:nvSpPr>
        <p:spPr>
          <a:xfrm>
            <a:off x="311143" y="1847850"/>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52525B"/>
                </a:solidFill>
                <a:latin typeface="Inter"/>
                <a:ea typeface="Inter"/>
                <a:cs typeface="Inter"/>
                <a:sym typeface="Inter"/>
              </a:rPr>
              <a:t>VIN &amp; khám sơ bộ</a:t>
            </a:r>
            <a:endParaRPr/>
          </a:p>
        </p:txBody>
      </p:sp>
      <p:sp>
        <p:nvSpPr>
          <p:cNvPr id="580" name="Google Shape;580;p29"/>
          <p:cNvSpPr txBox="1"/>
          <p:nvPr/>
        </p:nvSpPr>
        <p:spPr>
          <a:xfrm>
            <a:off x="2203493" y="1847850"/>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52525B"/>
                </a:solidFill>
                <a:latin typeface="Inter"/>
                <a:ea typeface="Inter"/>
                <a:cs typeface="Inter"/>
                <a:sym typeface="Inter"/>
              </a:rPr>
              <a:t>Ký duyệt online</a:t>
            </a:r>
            <a:endParaRPr/>
          </a:p>
        </p:txBody>
      </p:sp>
      <p:sp>
        <p:nvSpPr>
          <p:cNvPr id="581" name="Google Shape;581;p29"/>
          <p:cNvSpPr txBox="1"/>
          <p:nvPr/>
        </p:nvSpPr>
        <p:spPr>
          <a:xfrm>
            <a:off x="4095843" y="1847850"/>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52525B"/>
                </a:solidFill>
                <a:latin typeface="Inter"/>
                <a:ea typeface="Inter"/>
                <a:cs typeface="Inter"/>
                <a:sym typeface="Inter"/>
              </a:rPr>
              <a:t>Redlock giữ chỗ</a:t>
            </a:r>
            <a:endParaRPr/>
          </a:p>
        </p:txBody>
      </p:sp>
      <p:sp>
        <p:nvSpPr>
          <p:cNvPr id="582" name="Google Shape;582;p29"/>
          <p:cNvSpPr txBox="1"/>
          <p:nvPr/>
        </p:nvSpPr>
        <p:spPr>
          <a:xfrm>
            <a:off x="5988192" y="1847850"/>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52525B"/>
                </a:solidFill>
                <a:latin typeface="Inter"/>
                <a:ea typeface="Inter"/>
                <a:cs typeface="Inter"/>
                <a:sym typeface="Inter"/>
              </a:rPr>
              <a:t>Tablet checklist %</a:t>
            </a:r>
            <a:endParaRPr/>
          </a:p>
        </p:txBody>
      </p:sp>
      <p:sp>
        <p:nvSpPr>
          <p:cNvPr id="583" name="Google Shape;583;p29"/>
          <p:cNvSpPr txBox="1"/>
          <p:nvPr/>
        </p:nvSpPr>
        <p:spPr>
          <a:xfrm>
            <a:off x="7880542" y="1847850"/>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52525B"/>
                </a:solidFill>
                <a:latin typeface="Inter"/>
                <a:ea typeface="Inter"/>
                <a:cs typeface="Inter"/>
                <a:sym typeface="Inter"/>
              </a:rPr>
              <a:t>Lực siết N.m &amp; ảnh</a:t>
            </a:r>
            <a:endParaRPr/>
          </a:p>
        </p:txBody>
      </p:sp>
      <p:sp>
        <p:nvSpPr>
          <p:cNvPr id="584" name="Google Shape;584;p29"/>
          <p:cNvSpPr txBox="1"/>
          <p:nvPr/>
        </p:nvSpPr>
        <p:spPr>
          <a:xfrm>
            <a:off x="9763366" y="1838325"/>
            <a:ext cx="2127312"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D4D4D8"/>
                </a:solidFill>
                <a:latin typeface="Inter"/>
                <a:ea typeface="Inter"/>
                <a:cs typeface="Inter"/>
                <a:sym typeface="Inter"/>
              </a:rPr>
              <a:t>Paid &amp; xuất xưởng</a:t>
            </a:r>
            <a:endParaRPr/>
          </a:p>
        </p:txBody>
      </p:sp>
      <p:sp>
        <p:nvSpPr>
          <p:cNvPr id="585" name="Google Shape;585;p29"/>
          <p:cNvSpPr txBox="1"/>
          <p:nvPr/>
        </p:nvSpPr>
        <p:spPr>
          <a:xfrm>
            <a:off x="742950" y="2828925"/>
            <a:ext cx="345444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52525B"/>
                </a:solidFill>
                <a:latin typeface="Inter"/>
                <a:ea typeface="Inter"/>
                <a:cs typeface="Inter"/>
                <a:sym typeface="Inter"/>
              </a:rPr>
              <a:t>Dành riêng Quản đốc. Khi thẻ xe bị kéo thả, bảng điều phối xưởng cập nhật tức thì.</a:t>
            </a:r>
            <a:endParaRPr/>
          </a:p>
        </p:txBody>
      </p:sp>
      <p:sp>
        <p:nvSpPr>
          <p:cNvPr id="586" name="Google Shape;586;p29"/>
          <p:cNvSpPr txBox="1"/>
          <p:nvPr/>
        </p:nvSpPr>
        <p:spPr>
          <a:xfrm>
            <a:off x="4425999" y="2828925"/>
            <a:ext cx="345444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52525B"/>
                </a:solidFill>
                <a:latin typeface="Inter"/>
                <a:ea typeface="Inter"/>
                <a:cs typeface="Inter"/>
                <a:sym typeface="Inter"/>
              </a:rPr>
              <a:t>Đẩy trực tiếp checklist và thông số lực siết N.m xuống tablet thợ tại đúng khoang nâng đó.</a:t>
            </a:r>
            <a:endParaRPr/>
          </a:p>
        </p:txBody>
      </p:sp>
      <p:sp>
        <p:nvSpPr>
          <p:cNvPr id="587" name="Google Shape;587;p29"/>
          <p:cNvSpPr txBox="1"/>
          <p:nvPr/>
        </p:nvSpPr>
        <p:spPr>
          <a:xfrm>
            <a:off x="8109049" y="2828925"/>
            <a:ext cx="345444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52525B"/>
                </a:solidFill>
                <a:latin typeface="Inter"/>
                <a:ea typeface="Inter"/>
                <a:cs typeface="Inter"/>
                <a:sym typeface="Inter"/>
              </a:rPr>
              <a:t>Đẩy thông báo thời gian thực về điện thoại khách: 'Xe của bạn đã bắt đầu được thi công!'.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1" name="Shape 591"/>
        <p:cNvGrpSpPr/>
        <p:nvPr/>
      </p:nvGrpSpPr>
      <p:grpSpPr>
        <a:xfrm>
          <a:off x="0" y="0"/>
          <a:ext cx="0" cy="0"/>
          <a:chOff x="0" y="0"/>
          <a:chExt cx="0" cy="0"/>
        </a:xfrm>
      </p:grpSpPr>
      <p:sp>
        <p:nvSpPr>
          <p:cNvPr id="592" name="Google Shape;592;p30"/>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3" name="Google Shape;593;p30"/>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4" name="Google Shape;594;p30"/>
          <p:cNvSpPr/>
          <p:nvPr/>
        </p:nvSpPr>
        <p:spPr>
          <a:xfrm>
            <a:off x="457200" y="1323975"/>
            <a:ext cx="5581650" cy="98792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5" name="Google Shape;595;p30"/>
          <p:cNvSpPr/>
          <p:nvPr/>
        </p:nvSpPr>
        <p:spPr>
          <a:xfrm>
            <a:off x="6153150" y="1323975"/>
            <a:ext cx="5581650" cy="987921"/>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30"/>
          <p:cNvSpPr/>
          <p:nvPr/>
        </p:nvSpPr>
        <p:spPr>
          <a:xfrm>
            <a:off x="457200" y="2407146"/>
            <a:ext cx="5581650" cy="81706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7" name="Google Shape;597;p30"/>
          <p:cNvSpPr/>
          <p:nvPr/>
        </p:nvSpPr>
        <p:spPr>
          <a:xfrm>
            <a:off x="6153150" y="2407146"/>
            <a:ext cx="5581650" cy="81706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8" name="Google Shape;598;p30"/>
          <p:cNvSpPr/>
          <p:nvPr/>
        </p:nvSpPr>
        <p:spPr>
          <a:xfrm>
            <a:off x="457200" y="2302371"/>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9" name="Google Shape;599;p30"/>
          <p:cNvSpPr/>
          <p:nvPr/>
        </p:nvSpPr>
        <p:spPr>
          <a:xfrm>
            <a:off x="457200" y="1323975"/>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0" name="Google Shape;600;p30"/>
          <p:cNvSpPr/>
          <p:nvPr/>
        </p:nvSpPr>
        <p:spPr>
          <a:xfrm>
            <a:off x="457200" y="1323975"/>
            <a:ext cx="28575" cy="987921"/>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Google Shape;601;p30"/>
          <p:cNvSpPr/>
          <p:nvPr/>
        </p:nvSpPr>
        <p:spPr>
          <a:xfrm>
            <a:off x="6029325" y="1323975"/>
            <a:ext cx="9525" cy="987921"/>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2" name="Google Shape;602;p30"/>
          <p:cNvSpPr/>
          <p:nvPr/>
        </p:nvSpPr>
        <p:spPr>
          <a:xfrm>
            <a:off x="6153150" y="2302371"/>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3" name="Google Shape;603;p30"/>
          <p:cNvSpPr/>
          <p:nvPr/>
        </p:nvSpPr>
        <p:spPr>
          <a:xfrm>
            <a:off x="6153150" y="1323975"/>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4" name="Google Shape;604;p30"/>
          <p:cNvSpPr/>
          <p:nvPr/>
        </p:nvSpPr>
        <p:spPr>
          <a:xfrm>
            <a:off x="6153150" y="1323975"/>
            <a:ext cx="28575" cy="987921"/>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5" name="Google Shape;605;p30"/>
          <p:cNvSpPr/>
          <p:nvPr/>
        </p:nvSpPr>
        <p:spPr>
          <a:xfrm>
            <a:off x="11725275" y="1323975"/>
            <a:ext cx="9525" cy="987921"/>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6" name="Google Shape;606;p30"/>
          <p:cNvSpPr/>
          <p:nvPr/>
        </p:nvSpPr>
        <p:spPr>
          <a:xfrm>
            <a:off x="457200" y="3214687"/>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7" name="Google Shape;607;p30"/>
          <p:cNvSpPr/>
          <p:nvPr/>
        </p:nvSpPr>
        <p:spPr>
          <a:xfrm>
            <a:off x="457200" y="2407146"/>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8" name="Google Shape;608;p30"/>
          <p:cNvSpPr/>
          <p:nvPr/>
        </p:nvSpPr>
        <p:spPr>
          <a:xfrm>
            <a:off x="457200" y="2407146"/>
            <a:ext cx="28575" cy="817066"/>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9" name="Google Shape;609;p30"/>
          <p:cNvSpPr/>
          <p:nvPr/>
        </p:nvSpPr>
        <p:spPr>
          <a:xfrm>
            <a:off x="6029325" y="2407146"/>
            <a:ext cx="9525" cy="817066"/>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0" name="Google Shape;610;p30"/>
          <p:cNvSpPr/>
          <p:nvPr/>
        </p:nvSpPr>
        <p:spPr>
          <a:xfrm>
            <a:off x="6153150" y="3214687"/>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30"/>
          <p:cNvSpPr/>
          <p:nvPr/>
        </p:nvSpPr>
        <p:spPr>
          <a:xfrm>
            <a:off x="6153150" y="2407146"/>
            <a:ext cx="558165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30"/>
          <p:cNvSpPr/>
          <p:nvPr/>
        </p:nvSpPr>
        <p:spPr>
          <a:xfrm>
            <a:off x="6153150" y="2407146"/>
            <a:ext cx="28575" cy="817066"/>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30"/>
          <p:cNvSpPr/>
          <p:nvPr/>
        </p:nvSpPr>
        <p:spPr>
          <a:xfrm>
            <a:off x="11725275" y="2407146"/>
            <a:ext cx="9525" cy="817066"/>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4" name="Google Shape;614;p30"/>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Bảo vệ giao dịch tài chính chuẩn ngân hàng và chống giả mạo tham số</a:t>
            </a:r>
            <a:endParaRPr/>
          </a:p>
        </p:txBody>
      </p:sp>
      <p:sp>
        <p:nvSpPr>
          <p:cNvPr id="615" name="Google Shape;615;p30"/>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18 / 24</a:t>
            </a:r>
            <a:endParaRPr/>
          </a:p>
        </p:txBody>
      </p:sp>
      <p:sp>
        <p:nvSpPr>
          <p:cNvPr id="616" name="Google Shape;616;p30"/>
          <p:cNvSpPr txBox="1"/>
          <p:nvPr/>
        </p:nvSpPr>
        <p:spPr>
          <a:xfrm>
            <a:off x="457200" y="361950"/>
            <a:ext cx="8608218"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4: AN NINH HỆ THỐNG</a:t>
            </a:r>
            <a:endParaRPr/>
          </a:p>
        </p:txBody>
      </p:sp>
      <p:sp>
        <p:nvSpPr>
          <p:cNvPr id="617" name="Google Shape;617;p30"/>
          <p:cNvSpPr txBox="1"/>
          <p:nvPr/>
        </p:nvSpPr>
        <p:spPr>
          <a:xfrm>
            <a:off x="457200" y="523875"/>
            <a:ext cx="9038629"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An Ninh Mật Mã Học: HMAC-SHA512 Checksum &amp; Anti-Replay</a:t>
            </a:r>
            <a:endParaRPr/>
          </a:p>
        </p:txBody>
      </p:sp>
      <p:sp>
        <p:nvSpPr>
          <p:cNvPr id="618" name="Google Shape;618;p30"/>
          <p:cNvSpPr txBox="1"/>
          <p:nvPr/>
        </p:nvSpPr>
        <p:spPr>
          <a:xfrm>
            <a:off x="619125" y="1466850"/>
            <a:ext cx="692586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1. Chữ ký số HMAC-SHA512 (vnpay.js)</a:t>
            </a:r>
            <a:endParaRPr/>
          </a:p>
        </p:txBody>
      </p:sp>
      <p:sp>
        <p:nvSpPr>
          <p:cNvPr id="619" name="Google Shape;619;p30"/>
          <p:cNvSpPr txBox="1"/>
          <p:nvPr/>
        </p:nvSpPr>
        <p:spPr>
          <a:xfrm>
            <a:off x="619125" y="1666875"/>
            <a:ext cx="5372100" cy="502146"/>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52525B"/>
                </a:solidFill>
                <a:latin typeface="Inter"/>
                <a:ea typeface="Inter"/>
                <a:cs typeface="Inter"/>
                <a:sym typeface="Inter"/>
              </a:rPr>
              <a:t>Mọi gói tin phản hồi từ cổng thanh toán VNPay đều được đối soát chữ ký số </a:t>
            </a:r>
            <a:r>
              <a:rPr b="0" i="0" lang="en-US" sz="825" u="none" cap="none" strike="noStrike">
                <a:solidFill>
                  <a:srgbClr val="000000"/>
                </a:solidFill>
                <a:latin typeface="Inter"/>
                <a:ea typeface="Inter"/>
                <a:cs typeface="Inter"/>
                <a:sym typeface="Inter"/>
              </a:rPr>
              <a:t>vnp_SecureHash</a:t>
            </a:r>
            <a:r>
              <a:rPr b="0" i="0" lang="en-US" sz="900" u="none" cap="none" strike="noStrike">
                <a:solidFill>
                  <a:srgbClr val="52525B"/>
                </a:solidFill>
                <a:latin typeface="Inter"/>
                <a:ea typeface="Inter"/>
                <a:cs typeface="Inter"/>
                <a:sym typeface="Inter"/>
              </a:rPr>
              <a:t>. Nếu kẻ gian can thiệp trên đường truyền sửa đổi số tiền từ 2.808.000 VNĐ thành 1.000 VNĐ, mã băm sẽ sai lệch và giao dịch bị hủy bỏ ngay lập tức.</a:t>
            </a:r>
            <a:endParaRPr/>
          </a:p>
        </p:txBody>
      </p:sp>
      <p:sp>
        <p:nvSpPr>
          <p:cNvPr id="620" name="Google Shape;620;p30"/>
          <p:cNvSpPr txBox="1"/>
          <p:nvPr/>
        </p:nvSpPr>
        <p:spPr>
          <a:xfrm>
            <a:off x="6315075" y="1466850"/>
            <a:ext cx="58769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2. Ngăn chặn tấn công Replay Attack</a:t>
            </a:r>
            <a:endParaRPr/>
          </a:p>
        </p:txBody>
      </p:sp>
      <p:sp>
        <p:nvSpPr>
          <p:cNvPr id="621" name="Google Shape;621;p30"/>
          <p:cNvSpPr txBox="1"/>
          <p:nvPr/>
        </p:nvSpPr>
        <p:spPr>
          <a:xfrm>
            <a:off x="6315075" y="1666875"/>
            <a:ext cx="5372100" cy="336500"/>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52525B"/>
                </a:solidFill>
                <a:latin typeface="Inter"/>
                <a:ea typeface="Inter"/>
                <a:cs typeface="Inter"/>
                <a:sym typeface="Inter"/>
              </a:rPr>
              <a:t>Mỗi yêu cầu thanh toán sinh ra một mã giao dịch </a:t>
            </a:r>
            <a:r>
              <a:rPr b="0" i="0" lang="en-US" sz="825" u="none" cap="none" strike="noStrike">
                <a:solidFill>
                  <a:srgbClr val="000000"/>
                </a:solidFill>
                <a:latin typeface="Inter"/>
                <a:ea typeface="Inter"/>
                <a:cs typeface="Inter"/>
                <a:sym typeface="Inter"/>
              </a:rPr>
              <a:t>vnp_TxnRef</a:t>
            </a:r>
            <a:r>
              <a:rPr b="0" i="0" lang="en-US" sz="900" u="none" cap="none" strike="noStrike">
                <a:solidFill>
                  <a:srgbClr val="52525B"/>
                </a:solidFill>
                <a:latin typeface="Inter"/>
                <a:ea typeface="Inter"/>
                <a:cs typeface="Inter"/>
                <a:sym typeface="Inter"/>
              </a:rPr>
              <a:t> duy nhất gắn kèm thời gian sống (TTL 10 phút) lưu trong Redis. Các yêu cầu thanh toán gửi lại sau đó đều bị từ chối triệt để.</a:t>
            </a:r>
            <a:endParaRPr/>
          </a:p>
        </p:txBody>
      </p:sp>
      <p:sp>
        <p:nvSpPr>
          <p:cNvPr id="622" name="Google Shape;622;p30"/>
          <p:cNvSpPr txBox="1"/>
          <p:nvPr/>
        </p:nvSpPr>
        <p:spPr>
          <a:xfrm>
            <a:off x="619125" y="2550021"/>
            <a:ext cx="692586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3. Passwordless OTP Authentication</a:t>
            </a:r>
            <a:endParaRPr/>
          </a:p>
        </p:txBody>
      </p:sp>
      <p:sp>
        <p:nvSpPr>
          <p:cNvPr id="623" name="Google Shape;623;p30"/>
          <p:cNvSpPr txBox="1"/>
          <p:nvPr/>
        </p:nvSpPr>
        <p:spPr>
          <a:xfrm>
            <a:off x="619125" y="2750046"/>
            <a:ext cx="537210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52525B"/>
                </a:solidFill>
                <a:latin typeface="Inter"/>
                <a:ea typeface="Inter"/>
                <a:cs typeface="Inter"/>
                <a:sym typeface="Inter"/>
              </a:rPr>
              <a:t>Khách hàng đăng nhập nhanh bằng Biển số xe + Số điện thoại + OTP thực gửi qua Gmail SMTP. Loại bỏ hoàn toàn nguy cơ rò rỉ cơ sở dữ liệu mật khẩu tĩnh.</a:t>
            </a:r>
            <a:endParaRPr/>
          </a:p>
        </p:txBody>
      </p:sp>
      <p:sp>
        <p:nvSpPr>
          <p:cNvPr id="624" name="Google Shape;624;p30"/>
          <p:cNvSpPr txBox="1"/>
          <p:nvPr/>
        </p:nvSpPr>
        <p:spPr>
          <a:xfrm>
            <a:off x="6315075" y="2550021"/>
            <a:ext cx="58769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9090B"/>
                </a:solidFill>
                <a:latin typeface="Inter"/>
                <a:ea typeface="Inter"/>
                <a:cs typeface="Inter"/>
                <a:sym typeface="Inter"/>
              </a:rPr>
              <a:t>4. RBAC + ABAC Dual Layer</a:t>
            </a:r>
            <a:endParaRPr/>
          </a:p>
        </p:txBody>
      </p:sp>
      <p:sp>
        <p:nvSpPr>
          <p:cNvPr id="625" name="Google Shape;625;p30"/>
          <p:cNvSpPr txBox="1"/>
          <p:nvPr/>
        </p:nvSpPr>
        <p:spPr>
          <a:xfrm>
            <a:off x="6315075" y="2750046"/>
            <a:ext cx="5372100"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52525B"/>
                </a:solidFill>
                <a:latin typeface="Inter"/>
                <a:ea typeface="Inter"/>
                <a:cs typeface="Inter"/>
                <a:sym typeface="Inter"/>
              </a:rPr>
              <a:t>Kiểm tra phân quyền kép: Vừa kiểm tra vai trò người dùng (Role), vừa kiểm tra thuộc tính gán thợ máy (Attribute) trên từng phiếu sửa xe.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p31"/>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31"/>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31"/>
          <p:cNvSpPr/>
          <p:nvPr/>
        </p:nvSpPr>
        <p:spPr>
          <a:xfrm>
            <a:off x="5660082" y="1323975"/>
            <a:ext cx="6074717" cy="515302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3" name="Google Shape;633;p31"/>
          <p:cNvSpPr/>
          <p:nvPr/>
        </p:nvSpPr>
        <p:spPr>
          <a:xfrm>
            <a:off x="457200" y="1323975"/>
            <a:ext cx="5050482" cy="872281"/>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4" name="Google Shape;634;p31"/>
          <p:cNvSpPr/>
          <p:nvPr/>
        </p:nvSpPr>
        <p:spPr>
          <a:xfrm>
            <a:off x="457200" y="2272456"/>
            <a:ext cx="5050482" cy="71616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5" name="Google Shape;635;p31"/>
          <p:cNvSpPr/>
          <p:nvPr/>
        </p:nvSpPr>
        <p:spPr>
          <a:xfrm>
            <a:off x="457200" y="3064817"/>
            <a:ext cx="5050482" cy="718988"/>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6" name="Google Shape;636;p31"/>
          <p:cNvSpPr/>
          <p:nvPr/>
        </p:nvSpPr>
        <p:spPr>
          <a:xfrm>
            <a:off x="457200" y="2186731"/>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7" name="Google Shape;637;p31"/>
          <p:cNvSpPr/>
          <p:nvPr/>
        </p:nvSpPr>
        <p:spPr>
          <a:xfrm>
            <a:off x="457200" y="1323975"/>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8" name="Google Shape;638;p31"/>
          <p:cNvSpPr/>
          <p:nvPr/>
        </p:nvSpPr>
        <p:spPr>
          <a:xfrm>
            <a:off x="457200" y="1323975"/>
            <a:ext cx="28575" cy="872281"/>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9" name="Google Shape;639;p31"/>
          <p:cNvSpPr/>
          <p:nvPr/>
        </p:nvSpPr>
        <p:spPr>
          <a:xfrm>
            <a:off x="5498157" y="1323975"/>
            <a:ext cx="9525" cy="872281"/>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31"/>
          <p:cNvSpPr/>
          <p:nvPr/>
        </p:nvSpPr>
        <p:spPr>
          <a:xfrm>
            <a:off x="457200" y="2979092"/>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1" name="Google Shape;641;p31"/>
          <p:cNvSpPr/>
          <p:nvPr/>
        </p:nvSpPr>
        <p:spPr>
          <a:xfrm>
            <a:off x="457200" y="2272456"/>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Google Shape;642;p31"/>
          <p:cNvSpPr/>
          <p:nvPr/>
        </p:nvSpPr>
        <p:spPr>
          <a:xfrm>
            <a:off x="457200" y="2272456"/>
            <a:ext cx="28575" cy="71616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3" name="Google Shape;643;p31"/>
          <p:cNvSpPr/>
          <p:nvPr/>
        </p:nvSpPr>
        <p:spPr>
          <a:xfrm>
            <a:off x="5498157" y="2272456"/>
            <a:ext cx="9525" cy="71616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4" name="Google Shape;644;p31"/>
          <p:cNvSpPr/>
          <p:nvPr/>
        </p:nvSpPr>
        <p:spPr>
          <a:xfrm>
            <a:off x="457200" y="3774281"/>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5" name="Google Shape;645;p31"/>
          <p:cNvSpPr/>
          <p:nvPr/>
        </p:nvSpPr>
        <p:spPr>
          <a:xfrm>
            <a:off x="457200" y="3064817"/>
            <a:ext cx="5050482" cy="952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6" name="Google Shape;646;p31"/>
          <p:cNvSpPr/>
          <p:nvPr/>
        </p:nvSpPr>
        <p:spPr>
          <a:xfrm>
            <a:off x="457200" y="3064817"/>
            <a:ext cx="28575" cy="718988"/>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7" name="Google Shape;647;p31"/>
          <p:cNvSpPr/>
          <p:nvPr/>
        </p:nvSpPr>
        <p:spPr>
          <a:xfrm>
            <a:off x="5498157" y="3064817"/>
            <a:ext cx="9525" cy="718988"/>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31"/>
          <p:cNvSpPr/>
          <p:nvPr/>
        </p:nvSpPr>
        <p:spPr>
          <a:xfrm>
            <a:off x="5793432" y="1743075"/>
            <a:ext cx="5808017" cy="1304925"/>
          </a:xfrm>
          <a:prstGeom prst="rect">
            <a:avLst/>
          </a:prstGeom>
          <a:solidFill>
            <a:srgbClr val="121215"/>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9" name="Google Shape;649;p31"/>
          <p:cNvSpPr/>
          <p:nvPr/>
        </p:nvSpPr>
        <p:spPr>
          <a:xfrm>
            <a:off x="5793432" y="1457325"/>
            <a:ext cx="2432744" cy="190500"/>
          </a:xfrm>
          <a:prstGeom prst="roundRect">
            <a:avLst>
              <a:gd fmla="val 10000"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0" name="Google Shape;650;p31"/>
          <p:cNvSpPr/>
          <p:nvPr/>
        </p:nvSpPr>
        <p:spPr>
          <a:xfrm>
            <a:off x="10372725" y="1457325"/>
            <a:ext cx="1228725" cy="190500"/>
          </a:xfrm>
          <a:prstGeom prst="roundRect">
            <a:avLst>
              <a:gd fmla="val 10000" name="adj"/>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1" name="Google Shape;651;p31"/>
          <p:cNvSpPr/>
          <p:nvPr/>
        </p:nvSpPr>
        <p:spPr>
          <a:xfrm>
            <a:off x="5917257" y="2085975"/>
            <a:ext cx="2445246" cy="32385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2" name="Google Shape;652;p31"/>
          <p:cNvSpPr/>
          <p:nvPr/>
        </p:nvSpPr>
        <p:spPr>
          <a:xfrm>
            <a:off x="9032527" y="2085975"/>
            <a:ext cx="2445246" cy="32385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3" name="Google Shape;653;p31"/>
          <p:cNvSpPr/>
          <p:nvPr/>
        </p:nvSpPr>
        <p:spPr>
          <a:xfrm>
            <a:off x="5917257" y="2667000"/>
            <a:ext cx="1347192" cy="2571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4" name="Google Shape;654;p31"/>
          <p:cNvSpPr/>
          <p:nvPr/>
        </p:nvSpPr>
        <p:spPr>
          <a:xfrm>
            <a:off x="7321599" y="2667000"/>
            <a:ext cx="1347192" cy="2571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5" name="Google Shape;655;p31"/>
          <p:cNvSpPr/>
          <p:nvPr/>
        </p:nvSpPr>
        <p:spPr>
          <a:xfrm>
            <a:off x="8725941" y="2667000"/>
            <a:ext cx="1347192" cy="2571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31"/>
          <p:cNvSpPr/>
          <p:nvPr/>
        </p:nvSpPr>
        <p:spPr>
          <a:xfrm>
            <a:off x="10130283" y="2667000"/>
            <a:ext cx="1347192" cy="2571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7" name="Google Shape;657;p31"/>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Đóng gói toàn diện và cắt đứt 100% bề mặt tấn công quét cổng cơ sở dữ liệu</a:t>
            </a:r>
            <a:endParaRPr/>
          </a:p>
        </p:txBody>
      </p:sp>
      <p:sp>
        <p:nvSpPr>
          <p:cNvPr id="658" name="Google Shape;658;p31"/>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19 / 24</a:t>
            </a:r>
            <a:endParaRPr/>
          </a:p>
        </p:txBody>
      </p:sp>
      <p:sp>
        <p:nvSpPr>
          <p:cNvPr id="659" name="Google Shape;659;p31"/>
          <p:cNvSpPr txBox="1"/>
          <p:nvPr/>
        </p:nvSpPr>
        <p:spPr>
          <a:xfrm>
            <a:off x="457200" y="361950"/>
            <a:ext cx="9197578"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5: TRIỂN KHAI &amp; DEVOPS</a:t>
            </a:r>
            <a:endParaRPr/>
          </a:p>
        </p:txBody>
      </p:sp>
      <p:sp>
        <p:nvSpPr>
          <p:cNvPr id="660" name="Google Shape;660;p31"/>
          <p:cNvSpPr txBox="1"/>
          <p:nvPr/>
        </p:nvSpPr>
        <p:spPr>
          <a:xfrm>
            <a:off x="457200" y="523875"/>
            <a:ext cx="9657457"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Docker Multi-Stage Build &amp; Cô Lập Mạng Nội Bộ (Network Isolation)</a:t>
            </a:r>
            <a:endParaRPr/>
          </a:p>
        </p:txBody>
      </p:sp>
      <p:sp>
        <p:nvSpPr>
          <p:cNvPr id="661" name="Google Shape;661;p31"/>
          <p:cNvSpPr txBox="1"/>
          <p:nvPr/>
        </p:nvSpPr>
        <p:spPr>
          <a:xfrm>
            <a:off x="5182781" y="6124575"/>
            <a:ext cx="7029319" cy="152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A1A1AA"/>
                </a:solidFill>
                <a:latin typeface="JetBrains Mono"/>
                <a:ea typeface="JetBrains Mono"/>
                <a:cs typeface="JetBrains Mono"/>
                <a:sym typeface="JetBrains Mono"/>
              </a:rPr>
              <a:t>KHÔNG MỞ BẤT KỲ CỔNG NÀO RA HOST FIREWALL HOẶC WAN INTERNET</a:t>
            </a:r>
            <a:endParaRPr/>
          </a:p>
        </p:txBody>
      </p:sp>
      <p:sp>
        <p:nvSpPr>
          <p:cNvPr id="662" name="Google Shape;662;p31"/>
          <p:cNvSpPr txBox="1"/>
          <p:nvPr/>
        </p:nvSpPr>
        <p:spPr>
          <a:xfrm>
            <a:off x="609600" y="1438275"/>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Multi-Stage Next.js Build</a:t>
            </a:r>
            <a:endParaRPr/>
          </a:p>
        </p:txBody>
      </p:sp>
      <p:sp>
        <p:nvSpPr>
          <p:cNvPr id="663" name="Google Shape;663;p31"/>
          <p:cNvSpPr txBox="1"/>
          <p:nvPr/>
        </p:nvSpPr>
        <p:spPr>
          <a:xfrm>
            <a:off x="609600" y="1619250"/>
            <a:ext cx="4859982" cy="462706"/>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Sử dụng cờ </a:t>
            </a:r>
            <a:r>
              <a:rPr b="0" i="0" lang="en-US" sz="825" u="none" cap="none" strike="noStrike">
                <a:solidFill>
                  <a:srgbClr val="000000"/>
                </a:solidFill>
                <a:latin typeface="Inter"/>
                <a:ea typeface="Inter"/>
                <a:cs typeface="Inter"/>
                <a:sym typeface="Inter"/>
              </a:rPr>
              <a:t>output: 'standalone'</a:t>
            </a:r>
            <a:r>
              <a:rPr b="0" i="0" lang="en-US" sz="862" u="none" cap="none" strike="noStrike">
                <a:solidFill>
                  <a:srgbClr val="52525B"/>
                </a:solidFill>
                <a:latin typeface="Inter"/>
                <a:ea typeface="Inter"/>
                <a:cs typeface="Inter"/>
                <a:sym typeface="Inter"/>
              </a:rPr>
              <a:t> trong next.config.mjs. Phân tích cây cú pháp trừu tượng AST để chỉ đóng gói đúng các node_modules cần thiết. Cắt giảm kích thước image từ 1.2GB xuống còn 120MB!</a:t>
            </a:r>
            <a:endParaRPr/>
          </a:p>
        </p:txBody>
      </p:sp>
      <p:sp>
        <p:nvSpPr>
          <p:cNvPr id="664" name="Google Shape;664;p31"/>
          <p:cNvSpPr txBox="1"/>
          <p:nvPr/>
        </p:nvSpPr>
        <p:spPr>
          <a:xfrm>
            <a:off x="609600" y="2386756"/>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Triệt tiêu cổng CSDL công cộng (Zero Open DB Ports)</a:t>
            </a:r>
            <a:endParaRPr/>
          </a:p>
        </p:txBody>
      </p:sp>
      <p:sp>
        <p:nvSpPr>
          <p:cNvPr id="665" name="Google Shape;665;p31"/>
          <p:cNvSpPr txBox="1"/>
          <p:nvPr/>
        </p:nvSpPr>
        <p:spPr>
          <a:xfrm>
            <a:off x="609600" y="2567731"/>
            <a:ext cx="4859982" cy="306585"/>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Toàn bộ 4 cơ sở dữ liệu (Postgres, Mongo, Neo4j, Redis) KHÔNG map cổng ra máy chủ host (Bỏ ports: ..., chỉ dùng expose nội bộ).</a:t>
            </a:r>
            <a:endParaRPr/>
          </a:p>
        </p:txBody>
      </p:sp>
      <p:sp>
        <p:nvSpPr>
          <p:cNvPr id="666" name="Google Shape;666;p31"/>
          <p:cNvSpPr txBox="1"/>
          <p:nvPr/>
        </p:nvSpPr>
        <p:spPr>
          <a:xfrm>
            <a:off x="609600" y="3179117"/>
            <a:ext cx="625371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9090B"/>
                </a:solidFill>
                <a:latin typeface="Inter"/>
                <a:ea typeface="Inter"/>
                <a:cs typeface="Inter"/>
                <a:sym typeface="Inter"/>
              </a:rPr>
              <a:t>Docker Healthcheck &amp; Restart Policy</a:t>
            </a:r>
            <a:endParaRPr/>
          </a:p>
        </p:txBody>
      </p:sp>
      <p:sp>
        <p:nvSpPr>
          <p:cNvPr id="667" name="Google Shape;667;p31"/>
          <p:cNvSpPr txBox="1"/>
          <p:nvPr/>
        </p:nvSpPr>
        <p:spPr>
          <a:xfrm>
            <a:off x="609600" y="3360092"/>
            <a:ext cx="4859982" cy="309413"/>
          </a:xfrm>
          <a:prstGeom prst="rect">
            <a:avLst/>
          </a:prstGeom>
          <a:noFill/>
          <a:ln>
            <a:noFill/>
          </a:ln>
        </p:spPr>
        <p:txBody>
          <a:bodyPr anchorCtr="0" anchor="t" bIns="0" lIns="0" spcFirstLastPara="1" rIns="0" wrap="square" tIns="0">
            <a:spAutoFit/>
          </a:bodyPr>
          <a:lstStyle/>
          <a:p>
            <a:pPr indent="0" lvl="0" marL="0" marR="0" rtl="0" algn="l">
              <a:lnSpc>
                <a:spcPct val="140023"/>
              </a:lnSpc>
              <a:spcBef>
                <a:spcPts val="0"/>
              </a:spcBef>
              <a:spcAft>
                <a:spcPts val="0"/>
              </a:spcAft>
              <a:buNone/>
            </a:pPr>
            <a:r>
              <a:rPr b="0" i="0" lang="en-US" sz="862" u="none" cap="none" strike="noStrike">
                <a:solidFill>
                  <a:srgbClr val="52525B"/>
                </a:solidFill>
                <a:latin typeface="Inter"/>
                <a:ea typeface="Inter"/>
                <a:cs typeface="Inter"/>
                <a:sym typeface="Inter"/>
              </a:rPr>
              <a:t>Cấu hình </a:t>
            </a:r>
            <a:r>
              <a:rPr b="0" i="0" lang="en-US" sz="825" u="none" cap="none" strike="noStrike">
                <a:solidFill>
                  <a:srgbClr val="000000"/>
                </a:solidFill>
                <a:latin typeface="Inter"/>
                <a:ea typeface="Inter"/>
                <a:cs typeface="Inter"/>
                <a:sym typeface="Inter"/>
              </a:rPr>
              <a:t>restart: unless-stopped</a:t>
            </a:r>
            <a:r>
              <a:rPr b="0" i="0" lang="en-US" sz="862" u="none" cap="none" strike="noStrike">
                <a:solidFill>
                  <a:srgbClr val="52525B"/>
                </a:solidFill>
                <a:latin typeface="Inter"/>
                <a:ea typeface="Inter"/>
                <a:cs typeface="Inter"/>
                <a:sym typeface="Inter"/>
              </a:rPr>
              <a:t> và depends_on với healthcheck đảm bảo Backend chỉ start khi DB đã sẵn sàng nhận kết nối.</a:t>
            </a:r>
            <a:endParaRPr/>
          </a:p>
        </p:txBody>
      </p:sp>
      <p:sp>
        <p:nvSpPr>
          <p:cNvPr id="668" name="Google Shape;668;p31"/>
          <p:cNvSpPr txBox="1"/>
          <p:nvPr/>
        </p:nvSpPr>
        <p:spPr>
          <a:xfrm>
            <a:off x="5860107" y="1476375"/>
            <a:ext cx="239464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A1A1AA"/>
                </a:solidFill>
                <a:latin typeface="Inter"/>
                <a:ea typeface="Inter"/>
                <a:cs typeface="Inter"/>
                <a:sym typeface="Inter"/>
              </a:rPr>
              <a:t>HOST MACHINE (MÁY CHỦ TRIỂN KHAI)</a:t>
            </a:r>
            <a:endParaRPr/>
          </a:p>
        </p:txBody>
      </p:sp>
      <p:sp>
        <p:nvSpPr>
          <p:cNvPr id="669" name="Google Shape;669;p31"/>
          <p:cNvSpPr txBox="1"/>
          <p:nvPr/>
        </p:nvSpPr>
        <p:spPr>
          <a:xfrm>
            <a:off x="10448925" y="1485900"/>
            <a:ext cx="117157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ZERO HOST PORTS</a:t>
            </a:r>
            <a:endParaRPr/>
          </a:p>
        </p:txBody>
      </p:sp>
      <p:sp>
        <p:nvSpPr>
          <p:cNvPr id="670" name="Google Shape;670;p31"/>
          <p:cNvSpPr txBox="1"/>
          <p:nvPr/>
        </p:nvSpPr>
        <p:spPr>
          <a:xfrm>
            <a:off x="5917257" y="1866900"/>
            <a:ext cx="6274742"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FFFFFF"/>
                </a:solidFill>
                <a:latin typeface="JetBrains Mono"/>
                <a:ea typeface="JetBrains Mono"/>
                <a:cs typeface="JetBrains Mono"/>
                <a:sym typeface="JetBrains Mono"/>
              </a:rPr>
              <a:t>DOCKER BRIDGE: hihihaha_bridge (172.20.0.0/16)</a:t>
            </a:r>
            <a:endParaRPr/>
          </a:p>
        </p:txBody>
      </p:sp>
      <p:sp>
        <p:nvSpPr>
          <p:cNvPr id="671" name="Google Shape;671;p31"/>
          <p:cNvSpPr txBox="1"/>
          <p:nvPr/>
        </p:nvSpPr>
        <p:spPr>
          <a:xfrm>
            <a:off x="5222211" y="2486025"/>
            <a:ext cx="6950459" cy="1238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A1A1AA"/>
                </a:solidFill>
                <a:latin typeface="JetBrains Mono"/>
                <a:ea typeface="JetBrains Mono"/>
                <a:cs typeface="JetBrains Mono"/>
                <a:sym typeface="JetBrains Mono"/>
              </a:rPr>
              <a:t>│ Giao tiếp qua Docker Internal DNS Name │</a:t>
            </a:r>
            <a:endParaRPr/>
          </a:p>
        </p:txBody>
      </p:sp>
      <p:sp>
        <p:nvSpPr>
          <p:cNvPr id="672" name="Google Shape;672;p31"/>
          <p:cNvSpPr txBox="1"/>
          <p:nvPr/>
        </p:nvSpPr>
        <p:spPr>
          <a:xfrm>
            <a:off x="5668751" y="2143125"/>
            <a:ext cx="2942257"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FAFAFA"/>
                </a:solidFill>
                <a:latin typeface="Inter"/>
                <a:ea typeface="Inter"/>
                <a:cs typeface="Inter"/>
                <a:sym typeface="Inter"/>
              </a:rPr>
              <a:t>Next.js (:3000)</a:t>
            </a:r>
            <a:endParaRPr/>
          </a:p>
        </p:txBody>
      </p:sp>
      <p:sp>
        <p:nvSpPr>
          <p:cNvPr id="673" name="Google Shape;673;p31"/>
          <p:cNvSpPr txBox="1"/>
          <p:nvPr/>
        </p:nvSpPr>
        <p:spPr>
          <a:xfrm>
            <a:off x="8438703" y="2085975"/>
            <a:ext cx="612874" cy="3238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71717A"/>
                </a:solidFill>
                <a:latin typeface="JetBrains Mono"/>
                <a:ea typeface="JetBrains Mono"/>
                <a:cs typeface="JetBrains Mono"/>
                <a:sym typeface="JetBrains Mono"/>
              </a:rPr>
              <a:t>◄──►</a:t>
            </a:r>
            <a:endParaRPr/>
          </a:p>
        </p:txBody>
      </p:sp>
      <p:sp>
        <p:nvSpPr>
          <p:cNvPr id="674" name="Google Shape;674;p31"/>
          <p:cNvSpPr txBox="1"/>
          <p:nvPr/>
        </p:nvSpPr>
        <p:spPr>
          <a:xfrm>
            <a:off x="8784021" y="2143125"/>
            <a:ext cx="2942257" cy="209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FAFAFA"/>
                </a:solidFill>
                <a:latin typeface="Inter"/>
                <a:ea typeface="Inter"/>
                <a:cs typeface="Inter"/>
                <a:sym typeface="Inter"/>
              </a:rPr>
              <a:t>Express API (:5000)</a:t>
            </a:r>
            <a:endParaRPr/>
          </a:p>
        </p:txBody>
      </p:sp>
      <p:sp>
        <p:nvSpPr>
          <p:cNvPr id="675" name="Google Shape;675;p31"/>
          <p:cNvSpPr txBox="1"/>
          <p:nvPr/>
        </p:nvSpPr>
        <p:spPr>
          <a:xfrm>
            <a:off x="5767908" y="2724150"/>
            <a:ext cx="164589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FFFFFF"/>
                </a:solidFill>
                <a:latin typeface="JetBrains Mono"/>
                <a:ea typeface="JetBrains Mono"/>
                <a:cs typeface="JetBrains Mono"/>
                <a:sym typeface="JetBrains Mono"/>
              </a:rPr>
              <a:t>Postgres:5432</a:t>
            </a:r>
            <a:endParaRPr/>
          </a:p>
        </p:txBody>
      </p:sp>
      <p:sp>
        <p:nvSpPr>
          <p:cNvPr id="676" name="Google Shape;676;p31"/>
          <p:cNvSpPr txBox="1"/>
          <p:nvPr/>
        </p:nvSpPr>
        <p:spPr>
          <a:xfrm>
            <a:off x="7172250" y="2724150"/>
            <a:ext cx="164589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FFFFFF"/>
                </a:solidFill>
                <a:latin typeface="JetBrains Mono"/>
                <a:ea typeface="JetBrains Mono"/>
                <a:cs typeface="JetBrains Mono"/>
                <a:sym typeface="JetBrains Mono"/>
              </a:rPr>
              <a:t>Mongo:27017</a:t>
            </a:r>
            <a:endParaRPr/>
          </a:p>
        </p:txBody>
      </p:sp>
      <p:sp>
        <p:nvSpPr>
          <p:cNvPr id="677" name="Google Shape;677;p31"/>
          <p:cNvSpPr txBox="1"/>
          <p:nvPr/>
        </p:nvSpPr>
        <p:spPr>
          <a:xfrm>
            <a:off x="8576592" y="2724150"/>
            <a:ext cx="164589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FFFFFF"/>
                </a:solidFill>
                <a:latin typeface="JetBrains Mono"/>
                <a:ea typeface="JetBrains Mono"/>
                <a:cs typeface="JetBrains Mono"/>
                <a:sym typeface="JetBrains Mono"/>
              </a:rPr>
              <a:t>Neo4j:7687</a:t>
            </a:r>
            <a:endParaRPr/>
          </a:p>
        </p:txBody>
      </p:sp>
      <p:sp>
        <p:nvSpPr>
          <p:cNvPr id="678" name="Google Shape;678;p31"/>
          <p:cNvSpPr txBox="1"/>
          <p:nvPr/>
        </p:nvSpPr>
        <p:spPr>
          <a:xfrm>
            <a:off x="9980934" y="2724150"/>
            <a:ext cx="164589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FFFFFF"/>
                </a:solidFill>
                <a:latin typeface="JetBrains Mono"/>
                <a:ea typeface="JetBrains Mono"/>
                <a:cs typeface="JetBrains Mono"/>
                <a:sym typeface="JetBrains Mono"/>
              </a:rPr>
              <a:t>Redis:6379</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2" name="Shape 682"/>
        <p:cNvGrpSpPr/>
        <p:nvPr/>
      </p:nvGrpSpPr>
      <p:grpSpPr>
        <a:xfrm>
          <a:off x="0" y="0"/>
          <a:ext cx="0" cy="0"/>
          <a:chOff x="0" y="0"/>
          <a:chExt cx="0" cy="0"/>
        </a:xfrm>
      </p:grpSpPr>
      <p:sp>
        <p:nvSpPr>
          <p:cNvPr id="683" name="Google Shape;683;p32"/>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4" name="Google Shape;684;p32"/>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5" name="Google Shape;685;p32"/>
          <p:cNvSpPr/>
          <p:nvPr/>
        </p:nvSpPr>
        <p:spPr>
          <a:xfrm>
            <a:off x="457200" y="1323975"/>
            <a:ext cx="11277600" cy="438150"/>
          </a:xfrm>
          <a:prstGeom prst="rect">
            <a:avLst/>
          </a:prstGeom>
          <a:no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6" name="Google Shape;686;p32"/>
          <p:cNvSpPr/>
          <p:nvPr/>
        </p:nvSpPr>
        <p:spPr>
          <a:xfrm>
            <a:off x="457200" y="1819275"/>
            <a:ext cx="11277600" cy="438150"/>
          </a:xfrm>
          <a:prstGeom prst="rect">
            <a:avLst/>
          </a:prstGeom>
          <a:no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7" name="Google Shape;687;p32"/>
          <p:cNvSpPr/>
          <p:nvPr/>
        </p:nvSpPr>
        <p:spPr>
          <a:xfrm>
            <a:off x="457200" y="2314575"/>
            <a:ext cx="11277600" cy="314325"/>
          </a:xfrm>
          <a:prstGeom prst="rect">
            <a:avLst/>
          </a:prstGeom>
          <a:no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8" name="Google Shape;688;p32"/>
          <p:cNvSpPr/>
          <p:nvPr/>
        </p:nvSpPr>
        <p:spPr>
          <a:xfrm>
            <a:off x="457200" y="2686050"/>
            <a:ext cx="11277600" cy="438150"/>
          </a:xfrm>
          <a:prstGeom prst="rect">
            <a:avLst/>
          </a:prstGeom>
          <a:no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89" name="Google Shape;689;p32"/>
          <p:cNvSpPr/>
          <p:nvPr/>
        </p:nvSpPr>
        <p:spPr>
          <a:xfrm>
            <a:off x="457200" y="3181350"/>
            <a:ext cx="11277600" cy="438150"/>
          </a:xfrm>
          <a:prstGeom prst="rect">
            <a:avLst/>
          </a:prstGeom>
          <a:no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0" name="Google Shape;690;p32"/>
          <p:cNvSpPr/>
          <p:nvPr/>
        </p:nvSpPr>
        <p:spPr>
          <a:xfrm>
            <a:off x="466725" y="1333500"/>
            <a:ext cx="1619250" cy="41910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1" name="Google Shape;691;p32"/>
          <p:cNvSpPr/>
          <p:nvPr/>
        </p:nvSpPr>
        <p:spPr>
          <a:xfrm>
            <a:off x="6483994" y="1333500"/>
            <a:ext cx="9525" cy="41910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2" name="Google Shape;692;p32"/>
          <p:cNvSpPr/>
          <p:nvPr/>
        </p:nvSpPr>
        <p:spPr>
          <a:xfrm>
            <a:off x="6493519" y="1333500"/>
            <a:ext cx="5231755" cy="41910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3" name="Google Shape;693;p32"/>
          <p:cNvSpPr/>
          <p:nvPr/>
        </p:nvSpPr>
        <p:spPr>
          <a:xfrm>
            <a:off x="466725" y="1828800"/>
            <a:ext cx="1619250" cy="41910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4" name="Google Shape;694;p32"/>
          <p:cNvSpPr/>
          <p:nvPr/>
        </p:nvSpPr>
        <p:spPr>
          <a:xfrm>
            <a:off x="6483994" y="1828800"/>
            <a:ext cx="9525" cy="41910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5" name="Google Shape;695;p32"/>
          <p:cNvSpPr/>
          <p:nvPr/>
        </p:nvSpPr>
        <p:spPr>
          <a:xfrm>
            <a:off x="6493519" y="1828800"/>
            <a:ext cx="5231755" cy="41910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6" name="Google Shape;696;p32"/>
          <p:cNvSpPr/>
          <p:nvPr/>
        </p:nvSpPr>
        <p:spPr>
          <a:xfrm>
            <a:off x="466725" y="2324100"/>
            <a:ext cx="1619250" cy="295275"/>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7" name="Google Shape;697;p32"/>
          <p:cNvSpPr/>
          <p:nvPr/>
        </p:nvSpPr>
        <p:spPr>
          <a:xfrm>
            <a:off x="6483994" y="2324100"/>
            <a:ext cx="9525" cy="295275"/>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8" name="Google Shape;698;p32"/>
          <p:cNvSpPr/>
          <p:nvPr/>
        </p:nvSpPr>
        <p:spPr>
          <a:xfrm>
            <a:off x="6493519" y="2324100"/>
            <a:ext cx="5231755" cy="29527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99" name="Google Shape;699;p32"/>
          <p:cNvSpPr/>
          <p:nvPr/>
        </p:nvSpPr>
        <p:spPr>
          <a:xfrm>
            <a:off x="466725" y="2695575"/>
            <a:ext cx="1619250" cy="41910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0" name="Google Shape;700;p32"/>
          <p:cNvSpPr/>
          <p:nvPr/>
        </p:nvSpPr>
        <p:spPr>
          <a:xfrm>
            <a:off x="6483994" y="2695575"/>
            <a:ext cx="9525" cy="41910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1" name="Google Shape;701;p32"/>
          <p:cNvSpPr/>
          <p:nvPr/>
        </p:nvSpPr>
        <p:spPr>
          <a:xfrm>
            <a:off x="6493519" y="2695575"/>
            <a:ext cx="5231755" cy="41910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2" name="Google Shape;702;p32"/>
          <p:cNvSpPr/>
          <p:nvPr/>
        </p:nvSpPr>
        <p:spPr>
          <a:xfrm>
            <a:off x="466725" y="3190875"/>
            <a:ext cx="1619250" cy="41910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3" name="Google Shape;703;p32"/>
          <p:cNvSpPr/>
          <p:nvPr/>
        </p:nvSpPr>
        <p:spPr>
          <a:xfrm>
            <a:off x="6483994" y="3190875"/>
            <a:ext cx="9525" cy="419100"/>
          </a:xfrm>
          <a:prstGeom prst="rect">
            <a:avLst/>
          </a:prstGeom>
          <a:solidFill>
            <a:srgbClr val="E4E4E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4" name="Google Shape;704;p32"/>
          <p:cNvSpPr/>
          <p:nvPr/>
        </p:nvSpPr>
        <p:spPr>
          <a:xfrm>
            <a:off x="6493519" y="3190875"/>
            <a:ext cx="5231755" cy="419100"/>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05" name="Google Shape;705;p32"/>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Mô hình đưa ứng dụng ra Internet toàn cầu mà không cần mở bất kỳ cổng firewall nào</a:t>
            </a:r>
            <a:endParaRPr/>
          </a:p>
        </p:txBody>
      </p:sp>
      <p:sp>
        <p:nvSpPr>
          <p:cNvPr id="706" name="Google Shape;706;p32"/>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20 / 24</a:t>
            </a:r>
            <a:endParaRPr/>
          </a:p>
        </p:txBody>
      </p:sp>
      <p:sp>
        <p:nvSpPr>
          <p:cNvPr id="707" name="Google Shape;707;p32"/>
          <p:cNvSpPr txBox="1"/>
          <p:nvPr/>
        </p:nvSpPr>
        <p:spPr>
          <a:xfrm>
            <a:off x="457200" y="361950"/>
            <a:ext cx="922734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5: TRIỂN KHAI &amp; DEVOPS</a:t>
            </a:r>
            <a:endParaRPr/>
          </a:p>
        </p:txBody>
      </p:sp>
      <p:sp>
        <p:nvSpPr>
          <p:cNvPr id="708" name="Google Shape;708;p32"/>
          <p:cNvSpPr txBox="1"/>
          <p:nvPr/>
        </p:nvSpPr>
        <p:spPr>
          <a:xfrm>
            <a:off x="457200" y="523875"/>
            <a:ext cx="968871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Cloudflare Zero-Trust Ingress: QUIC/UDP Tunnel &amp; Zero Open Ports</a:t>
            </a:r>
            <a:endParaRPr/>
          </a:p>
        </p:txBody>
      </p:sp>
      <p:sp>
        <p:nvSpPr>
          <p:cNvPr id="709" name="Google Shape;709;p32"/>
          <p:cNvSpPr txBox="1"/>
          <p:nvPr/>
        </p:nvSpPr>
        <p:spPr>
          <a:xfrm>
            <a:off x="581025" y="1409700"/>
            <a:ext cx="1485900" cy="266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Mở cổng Tường lửa</a:t>
            </a:r>
            <a:endParaRPr/>
          </a:p>
        </p:txBody>
      </p:sp>
      <p:sp>
        <p:nvSpPr>
          <p:cNvPr id="710" name="Google Shape;710;p32"/>
          <p:cNvSpPr txBox="1"/>
          <p:nvPr/>
        </p:nvSpPr>
        <p:spPr>
          <a:xfrm>
            <a:off x="2200275" y="1409700"/>
            <a:ext cx="4274194"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52525B"/>
                </a:solidFill>
                <a:latin typeface="Inter"/>
                <a:ea typeface="Inter"/>
                <a:cs typeface="Inter"/>
                <a:sym typeface="Inter"/>
              </a:rPr>
              <a:t>Truyền thống:</a:t>
            </a:r>
            <a:r>
              <a:rPr b="0" i="0" lang="en-US" sz="862" u="none" cap="none" strike="noStrike">
                <a:solidFill>
                  <a:srgbClr val="52525B"/>
                </a:solidFill>
                <a:latin typeface="Inter"/>
                <a:ea typeface="Inter"/>
                <a:cs typeface="Inter"/>
                <a:sym typeface="Inter"/>
              </a:rPr>
              <a:t> Mở Port 80, 443 trên Router -&gt; Bị Hacker quét cổng Shodan liên tục.</a:t>
            </a:r>
            <a:endParaRPr/>
          </a:p>
        </p:txBody>
      </p:sp>
      <p:sp>
        <p:nvSpPr>
          <p:cNvPr id="711" name="Google Shape;711;p32"/>
          <p:cNvSpPr txBox="1"/>
          <p:nvPr/>
        </p:nvSpPr>
        <p:spPr>
          <a:xfrm>
            <a:off x="6607819" y="1409700"/>
            <a:ext cx="509840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Cloudflare Tunnel:</a:t>
            </a:r>
            <a:r>
              <a:rPr b="0" i="0" lang="en-US" sz="862" u="none" cap="none" strike="noStrike">
                <a:solidFill>
                  <a:srgbClr val="09090B"/>
                </a:solidFill>
                <a:latin typeface="Inter"/>
                <a:ea typeface="Inter"/>
                <a:cs typeface="Inter"/>
                <a:sym typeface="Inter"/>
              </a:rPr>
              <a:t> ZERO OPEN PORTS (Tường lửa đóng 100%). Daemon tự chủ động bắt tay ra ngoài.</a:t>
            </a:r>
            <a:endParaRPr/>
          </a:p>
        </p:txBody>
      </p:sp>
      <p:sp>
        <p:nvSpPr>
          <p:cNvPr id="712" name="Google Shape;712;p32"/>
          <p:cNvSpPr txBox="1"/>
          <p:nvPr/>
        </p:nvSpPr>
        <p:spPr>
          <a:xfrm>
            <a:off x="581025" y="1905000"/>
            <a:ext cx="1485900" cy="266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Địa chỉ IP Công cộng</a:t>
            </a:r>
            <a:endParaRPr/>
          </a:p>
        </p:txBody>
      </p:sp>
      <p:sp>
        <p:nvSpPr>
          <p:cNvPr id="713" name="Google Shape;713;p32"/>
          <p:cNvSpPr txBox="1"/>
          <p:nvPr/>
        </p:nvSpPr>
        <p:spPr>
          <a:xfrm>
            <a:off x="2200275" y="1905000"/>
            <a:ext cx="4274194"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52525B"/>
                </a:solidFill>
                <a:latin typeface="Inter"/>
                <a:ea typeface="Inter"/>
                <a:cs typeface="Inter"/>
                <a:sym typeface="Inter"/>
              </a:rPr>
              <a:t>Truyền thống:</a:t>
            </a:r>
            <a:r>
              <a:rPr b="0" i="0" lang="en-US" sz="862" u="none" cap="none" strike="noStrike">
                <a:solidFill>
                  <a:srgbClr val="52525B"/>
                </a:solidFill>
                <a:latin typeface="Inter"/>
                <a:ea typeface="Inter"/>
                <a:cs typeface="Inter"/>
                <a:sym typeface="Inter"/>
              </a:rPr>
              <a:t> Bắt buộc phải mua Public Static IP đắt đỏ hoặc DDNS chập chờn.</a:t>
            </a:r>
            <a:endParaRPr/>
          </a:p>
        </p:txBody>
      </p:sp>
      <p:sp>
        <p:nvSpPr>
          <p:cNvPr id="714" name="Google Shape;714;p32"/>
          <p:cNvSpPr txBox="1"/>
          <p:nvPr/>
        </p:nvSpPr>
        <p:spPr>
          <a:xfrm>
            <a:off x="6607819" y="1905000"/>
            <a:ext cx="509840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Cloudflare Tunnel:</a:t>
            </a:r>
            <a:r>
              <a:rPr b="0" i="0" lang="en-US" sz="862" u="none" cap="none" strike="noStrike">
                <a:solidFill>
                  <a:srgbClr val="09090B"/>
                </a:solidFill>
                <a:latin typeface="Inter"/>
                <a:ea typeface="Inter"/>
                <a:cs typeface="Inter"/>
                <a:sym typeface="Inter"/>
              </a:rPr>
              <a:t> Hoạt động trên mọi môi trường mạng (kể cả mạng 4G/CGNAT không có IP tĩnh).</a:t>
            </a:r>
            <a:endParaRPr/>
          </a:p>
        </p:txBody>
      </p:sp>
      <p:sp>
        <p:nvSpPr>
          <p:cNvPr id="715" name="Google Shape;715;p32"/>
          <p:cNvSpPr txBox="1"/>
          <p:nvPr/>
        </p:nvSpPr>
        <p:spPr>
          <a:xfrm>
            <a:off x="581025" y="2400300"/>
            <a:ext cx="1485900"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Chứng chỉ SSL/TLS</a:t>
            </a:r>
            <a:endParaRPr/>
          </a:p>
        </p:txBody>
      </p:sp>
      <p:sp>
        <p:nvSpPr>
          <p:cNvPr id="716" name="Google Shape;716;p32"/>
          <p:cNvSpPr txBox="1"/>
          <p:nvPr/>
        </p:nvSpPr>
        <p:spPr>
          <a:xfrm>
            <a:off x="2200275" y="2400300"/>
            <a:ext cx="4274194"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52525B"/>
                </a:solidFill>
                <a:latin typeface="Inter"/>
                <a:ea typeface="Inter"/>
                <a:cs typeface="Inter"/>
                <a:sym typeface="Inter"/>
              </a:rPr>
              <a:t>Truyền thống:</a:t>
            </a:r>
            <a:r>
              <a:rPr b="0" i="0" lang="en-US" sz="862" u="none" cap="none" strike="noStrike">
                <a:solidFill>
                  <a:srgbClr val="52525B"/>
                </a:solidFill>
                <a:latin typeface="Inter"/>
                <a:ea typeface="Inter"/>
                <a:cs typeface="Inter"/>
                <a:sym typeface="Inter"/>
              </a:rPr>
              <a:t> Phải tự cài Certbot, cấu hình Nginx, gia hạn cronjob mỗi 90 ngày.</a:t>
            </a:r>
            <a:endParaRPr/>
          </a:p>
        </p:txBody>
      </p:sp>
      <p:sp>
        <p:nvSpPr>
          <p:cNvPr id="717" name="Google Shape;717;p32"/>
          <p:cNvSpPr txBox="1"/>
          <p:nvPr/>
        </p:nvSpPr>
        <p:spPr>
          <a:xfrm>
            <a:off x="6607819" y="2400300"/>
            <a:ext cx="509840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Cloudflare Tunnel:</a:t>
            </a:r>
            <a:r>
              <a:rPr b="0" i="0" lang="en-US" sz="862" u="none" cap="none" strike="noStrike">
                <a:solidFill>
                  <a:srgbClr val="09090B"/>
                </a:solidFill>
                <a:latin typeface="Inter"/>
                <a:ea typeface="Inter"/>
                <a:cs typeface="Inter"/>
                <a:sym typeface="Inter"/>
              </a:rPr>
              <a:t> Cloudflare Edge tự cấp SSL/TLS 1.3 và HTTP/3, tự động gia hạn toàn cầu.</a:t>
            </a:r>
            <a:endParaRPr/>
          </a:p>
        </p:txBody>
      </p:sp>
      <p:sp>
        <p:nvSpPr>
          <p:cNvPr id="718" name="Google Shape;718;p32"/>
          <p:cNvSpPr txBox="1"/>
          <p:nvPr/>
        </p:nvSpPr>
        <p:spPr>
          <a:xfrm>
            <a:off x="581025" y="2771775"/>
            <a:ext cx="1485900" cy="266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Chống tấn công DDoS</a:t>
            </a:r>
            <a:endParaRPr/>
          </a:p>
        </p:txBody>
      </p:sp>
      <p:sp>
        <p:nvSpPr>
          <p:cNvPr id="719" name="Google Shape;719;p32"/>
          <p:cNvSpPr txBox="1"/>
          <p:nvPr/>
        </p:nvSpPr>
        <p:spPr>
          <a:xfrm>
            <a:off x="2200275" y="2771775"/>
            <a:ext cx="4274194"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52525B"/>
                </a:solidFill>
                <a:latin typeface="Inter"/>
                <a:ea typeface="Inter"/>
                <a:cs typeface="Inter"/>
                <a:sym typeface="Inter"/>
              </a:rPr>
              <a:t>Truyền thống:</a:t>
            </a:r>
            <a:r>
              <a:rPr b="0" i="0" lang="en-US" sz="862" u="none" cap="none" strike="noStrike">
                <a:solidFill>
                  <a:srgbClr val="52525B"/>
                </a:solidFill>
                <a:latin typeface="Inter"/>
                <a:ea typeface="Inter"/>
                <a:cs typeface="Inter"/>
                <a:sym typeface="Inter"/>
              </a:rPr>
              <a:t> Máy chủ tự gánh chịu toàn bộ băng thông tấn công -&gt; Dễ bị nghẽn đứt.</a:t>
            </a:r>
            <a:endParaRPr/>
          </a:p>
        </p:txBody>
      </p:sp>
      <p:sp>
        <p:nvSpPr>
          <p:cNvPr id="720" name="Google Shape;720;p32"/>
          <p:cNvSpPr txBox="1"/>
          <p:nvPr/>
        </p:nvSpPr>
        <p:spPr>
          <a:xfrm>
            <a:off x="6607819" y="2771775"/>
            <a:ext cx="509840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Cloudflare Tunnel:</a:t>
            </a:r>
            <a:r>
              <a:rPr b="0" i="0" lang="en-US" sz="862" u="none" cap="none" strike="noStrike">
                <a:solidFill>
                  <a:srgbClr val="09090B"/>
                </a:solidFill>
                <a:latin typeface="Inter"/>
                <a:ea typeface="Inter"/>
                <a:cs typeface="Inter"/>
                <a:sym typeface="Inter"/>
              </a:rPr>
              <a:t> Hưởng trọn hạ tầng chống DDoS 300+ Tbps ở biên mạng toàn cầu của Cloudflare.</a:t>
            </a:r>
            <a:endParaRPr/>
          </a:p>
        </p:txBody>
      </p:sp>
      <p:sp>
        <p:nvSpPr>
          <p:cNvPr id="721" name="Google Shape;721;p32"/>
          <p:cNvSpPr txBox="1"/>
          <p:nvPr/>
        </p:nvSpPr>
        <p:spPr>
          <a:xfrm>
            <a:off x="581025" y="3267075"/>
            <a:ext cx="1485900" cy="2667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FFFFF"/>
                </a:solidFill>
                <a:latin typeface="Inter"/>
                <a:ea typeface="Inter"/>
                <a:cs typeface="Inter"/>
                <a:sym typeface="Inter"/>
              </a:rPr>
              <a:t>Hỗ trợ WebSocket</a:t>
            </a:r>
            <a:endParaRPr/>
          </a:p>
        </p:txBody>
      </p:sp>
      <p:sp>
        <p:nvSpPr>
          <p:cNvPr id="722" name="Google Shape;722;p32"/>
          <p:cNvSpPr txBox="1"/>
          <p:nvPr/>
        </p:nvSpPr>
        <p:spPr>
          <a:xfrm>
            <a:off x="2200275" y="3267075"/>
            <a:ext cx="4274194"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52525B"/>
                </a:solidFill>
                <a:latin typeface="Inter"/>
                <a:ea typeface="Inter"/>
                <a:cs typeface="Inter"/>
                <a:sym typeface="Inter"/>
              </a:rPr>
              <a:t>Truyền thống:</a:t>
            </a:r>
            <a:r>
              <a:rPr b="0" i="0" lang="en-US" sz="862" u="none" cap="none" strike="noStrike">
                <a:solidFill>
                  <a:srgbClr val="52525B"/>
                </a:solidFill>
                <a:latin typeface="Inter"/>
                <a:ea typeface="Inter"/>
                <a:cs typeface="Inter"/>
                <a:sym typeface="Inter"/>
              </a:rPr>
              <a:t> Dễ bị đứt kết nối nếu Reverse Proxy cấu hình timeout sai.</a:t>
            </a:r>
            <a:endParaRPr/>
          </a:p>
        </p:txBody>
      </p:sp>
      <p:sp>
        <p:nvSpPr>
          <p:cNvPr id="723" name="Google Shape;723;p32"/>
          <p:cNvSpPr txBox="1"/>
          <p:nvPr/>
        </p:nvSpPr>
        <p:spPr>
          <a:xfrm>
            <a:off x="6607819" y="3267075"/>
            <a:ext cx="509840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62" u="none" cap="none" strike="noStrike">
                <a:solidFill>
                  <a:srgbClr val="09090B"/>
                </a:solidFill>
                <a:latin typeface="Inter"/>
                <a:ea typeface="Inter"/>
                <a:cs typeface="Inter"/>
                <a:sym typeface="Inter"/>
              </a:rPr>
              <a:t>Cloudflare Tunnel:</a:t>
            </a:r>
            <a:r>
              <a:rPr b="0" i="0" lang="en-US" sz="862" u="none" cap="none" strike="noStrike">
                <a:solidFill>
                  <a:srgbClr val="09090B"/>
                </a:solidFill>
                <a:latin typeface="Inter"/>
                <a:ea typeface="Inter"/>
                <a:cs typeface="Inter"/>
                <a:sym typeface="Inter"/>
              </a:rPr>
              <a:t> Hỗ trợ Native WebSocket Passthrough cho Socket.io đồng bộ Kanban mượt mà.</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sp>
        <p:nvSpPr>
          <p:cNvPr id="728" name="Google Shape;728;p33"/>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9" name="Google Shape;729;p33"/>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0" name="Google Shape;730;p33"/>
          <p:cNvSpPr/>
          <p:nvPr/>
        </p:nvSpPr>
        <p:spPr>
          <a:xfrm>
            <a:off x="457200" y="2384821"/>
            <a:ext cx="11277600" cy="1285875"/>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1" name="Google Shape;731;p33"/>
          <p:cNvSpPr/>
          <p:nvPr/>
        </p:nvSpPr>
        <p:spPr>
          <a:xfrm>
            <a:off x="457200" y="1304925"/>
            <a:ext cx="2762250" cy="984646"/>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2" name="Google Shape;732;p33"/>
          <p:cNvSpPr/>
          <p:nvPr/>
        </p:nvSpPr>
        <p:spPr>
          <a:xfrm>
            <a:off x="3295650" y="1304925"/>
            <a:ext cx="2762250" cy="984646"/>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3" name="Google Shape;733;p33"/>
          <p:cNvSpPr/>
          <p:nvPr/>
        </p:nvSpPr>
        <p:spPr>
          <a:xfrm>
            <a:off x="6134100" y="1304925"/>
            <a:ext cx="2762250" cy="984646"/>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4" name="Google Shape;734;p33"/>
          <p:cNvSpPr/>
          <p:nvPr/>
        </p:nvSpPr>
        <p:spPr>
          <a:xfrm>
            <a:off x="8972550" y="1304925"/>
            <a:ext cx="2762250" cy="984646"/>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33"/>
          <p:cNvSpPr/>
          <p:nvPr/>
        </p:nvSpPr>
        <p:spPr>
          <a:xfrm>
            <a:off x="561975" y="1409700"/>
            <a:ext cx="128408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6" name="Google Shape;736;p33"/>
          <p:cNvSpPr/>
          <p:nvPr/>
        </p:nvSpPr>
        <p:spPr>
          <a:xfrm>
            <a:off x="3400425" y="1409700"/>
            <a:ext cx="130685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7" name="Google Shape;737;p33"/>
          <p:cNvSpPr/>
          <p:nvPr/>
        </p:nvSpPr>
        <p:spPr>
          <a:xfrm>
            <a:off x="6238875" y="1409700"/>
            <a:ext cx="132218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8" name="Google Shape;738;p33"/>
          <p:cNvSpPr/>
          <p:nvPr/>
        </p:nvSpPr>
        <p:spPr>
          <a:xfrm>
            <a:off x="9077325" y="1409700"/>
            <a:ext cx="113540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9" name="Google Shape;739;p33"/>
          <p:cNvSpPr/>
          <p:nvPr/>
        </p:nvSpPr>
        <p:spPr>
          <a:xfrm>
            <a:off x="10399365" y="2489596"/>
            <a:ext cx="1192559"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0" name="Google Shape;740;p33"/>
          <p:cNvSpPr/>
          <p:nvPr/>
        </p:nvSpPr>
        <p:spPr>
          <a:xfrm>
            <a:off x="600075" y="2756296"/>
            <a:ext cx="2676525" cy="80962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1" name="Google Shape;741;p33"/>
          <p:cNvSpPr/>
          <p:nvPr/>
        </p:nvSpPr>
        <p:spPr>
          <a:xfrm>
            <a:off x="3371850" y="2756296"/>
            <a:ext cx="2676525" cy="80962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2" name="Google Shape;742;p33"/>
          <p:cNvSpPr/>
          <p:nvPr/>
        </p:nvSpPr>
        <p:spPr>
          <a:xfrm>
            <a:off x="6143625" y="2756296"/>
            <a:ext cx="2676525" cy="80962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3" name="Google Shape;743;p33"/>
          <p:cNvSpPr/>
          <p:nvPr/>
        </p:nvSpPr>
        <p:spPr>
          <a:xfrm>
            <a:off x="8915400" y="2756296"/>
            <a:ext cx="2676525" cy="809625"/>
          </a:xfrm>
          <a:prstGeom prst="rect">
            <a:avLst/>
          </a:prstGeom>
          <a:solidFill>
            <a:srgbClr val="FAFAF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4" name="Google Shape;744;p33"/>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Phân tích chiều sâu: Partial Index, Compound Index, Schema Constraint &amp; Đo lường tốc độ thực tế</a:t>
            </a:r>
            <a:endParaRPr/>
          </a:p>
        </p:txBody>
      </p:sp>
      <p:sp>
        <p:nvSpPr>
          <p:cNvPr id="745" name="Google Shape;745;p33"/>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21 / 24</a:t>
            </a:r>
            <a:endParaRPr/>
          </a:p>
        </p:txBody>
      </p:sp>
      <p:sp>
        <p:nvSpPr>
          <p:cNvPr id="746" name="Google Shape;746;p33"/>
          <p:cNvSpPr txBox="1"/>
          <p:nvPr/>
        </p:nvSpPr>
        <p:spPr>
          <a:xfrm>
            <a:off x="457200" y="361950"/>
            <a:ext cx="1052512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6: TỐI ƯU HÓA &amp; ĐO LƯỜNG HIỆU NĂNG</a:t>
            </a:r>
            <a:endParaRPr/>
          </a:p>
        </p:txBody>
      </p:sp>
      <p:sp>
        <p:nvSpPr>
          <p:cNvPr id="747" name="Google Shape;747;p33"/>
          <p:cNvSpPr txBox="1"/>
          <p:nvPr/>
        </p:nvSpPr>
        <p:spPr>
          <a:xfrm>
            <a:off x="457200" y="523875"/>
            <a:ext cx="11051381"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Chiến Lược Đánh Chỉ Mục (Indexing Strategies) &amp; Minh Chứng Thực Nghiệm</a:t>
            </a:r>
            <a:endParaRPr/>
          </a:p>
        </p:txBody>
      </p:sp>
      <p:sp>
        <p:nvSpPr>
          <p:cNvPr id="748" name="Google Shape;748;p33"/>
          <p:cNvSpPr txBox="1"/>
          <p:nvPr/>
        </p:nvSpPr>
        <p:spPr>
          <a:xfrm>
            <a:off x="638175" y="1438275"/>
            <a:ext cx="122693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POSTGRES PARTIAL</a:t>
            </a:r>
            <a:endParaRPr/>
          </a:p>
        </p:txBody>
      </p:sp>
      <p:sp>
        <p:nvSpPr>
          <p:cNvPr id="749" name="Google Shape;749;p33"/>
          <p:cNvSpPr txBox="1"/>
          <p:nvPr/>
        </p:nvSpPr>
        <p:spPr>
          <a:xfrm>
            <a:off x="561975" y="1638300"/>
            <a:ext cx="2647950" cy="424160"/>
          </a:xfrm>
          <a:prstGeom prst="rect">
            <a:avLst/>
          </a:prstGeom>
          <a:noFill/>
          <a:ln>
            <a:noFill/>
          </a:ln>
        </p:spPr>
        <p:txBody>
          <a:bodyPr anchorCtr="0" anchor="t" bIns="0" lIns="0" spcFirstLastPara="1" rIns="0" wrap="square" tIns="0">
            <a:spAutoFit/>
          </a:bodyPr>
          <a:lstStyle/>
          <a:p>
            <a:pPr indent="0" lvl="0" marL="0" marR="0" rtl="0" algn="l">
              <a:lnSpc>
                <a:spcPct val="61833"/>
              </a:lnSpc>
              <a:spcBef>
                <a:spcPts val="0"/>
              </a:spcBef>
              <a:spcAft>
                <a:spcPts val="0"/>
              </a:spcAft>
              <a:buNone/>
            </a:pPr>
            <a:r>
              <a:rPr b="0" i="0" lang="en-US" sz="825" u="none" cap="none" strike="noStrike">
                <a:solidFill>
                  <a:srgbClr val="000000"/>
                </a:solidFill>
                <a:latin typeface="Inter"/>
                <a:ea typeface="Inter"/>
                <a:cs typeface="Inter"/>
                <a:sym typeface="Inter"/>
              </a:rPr>
              <a:t>WHERE status = 'PENDING'</a:t>
            </a:r>
            <a:br>
              <a:rPr b="0" i="0" lang="en-US" sz="1800" u="none" cap="none" strike="noStrike">
                <a:solidFill>
                  <a:schemeClr val="dk1"/>
                </a:solidFill>
                <a:latin typeface="Calibri"/>
                <a:ea typeface="Calibri"/>
                <a:cs typeface="Calibri"/>
                <a:sym typeface="Calibri"/>
              </a:rPr>
            </a:br>
            <a:r>
              <a:rPr b="0" i="0" lang="en-US" sz="825" u="none" cap="none" strike="noStrike">
                <a:solidFill>
                  <a:srgbClr val="52525B"/>
                </a:solidFill>
                <a:latin typeface="Inter"/>
                <a:ea typeface="Inter"/>
                <a:cs typeface="Inter"/>
                <a:sym typeface="Inter"/>
              </a:rPr>
              <a:t> Index &lt; 0.1% bản ghi chờ thay vì triệu dòng. Tiết kiệm 95% RAM Shared Buffers, quét &lt; 4ms!</a:t>
            </a:r>
            <a:endParaRPr/>
          </a:p>
        </p:txBody>
      </p:sp>
      <p:sp>
        <p:nvSpPr>
          <p:cNvPr id="750" name="Google Shape;750;p33"/>
          <p:cNvSpPr txBox="1"/>
          <p:nvPr/>
        </p:nvSpPr>
        <p:spPr>
          <a:xfrm>
            <a:off x="3476625" y="1438275"/>
            <a:ext cx="124970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MONGO COMPOUND</a:t>
            </a:r>
            <a:endParaRPr/>
          </a:p>
        </p:txBody>
      </p:sp>
      <p:sp>
        <p:nvSpPr>
          <p:cNvPr id="751" name="Google Shape;751;p33"/>
          <p:cNvSpPr txBox="1"/>
          <p:nvPr/>
        </p:nvSpPr>
        <p:spPr>
          <a:xfrm>
            <a:off x="3400425" y="1638300"/>
            <a:ext cx="2647950" cy="565546"/>
          </a:xfrm>
          <a:prstGeom prst="rect">
            <a:avLst/>
          </a:prstGeom>
          <a:noFill/>
          <a:ln>
            <a:noFill/>
          </a:ln>
        </p:spPr>
        <p:txBody>
          <a:bodyPr anchorCtr="0" anchor="t" bIns="0" lIns="0" spcFirstLastPara="1" rIns="0" wrap="square" tIns="0">
            <a:spAutoFit/>
          </a:bodyPr>
          <a:lstStyle/>
          <a:p>
            <a:pPr indent="0" lvl="0" marL="0" marR="0" rtl="0" algn="l">
              <a:lnSpc>
                <a:spcPct val="61833"/>
              </a:lnSpc>
              <a:spcBef>
                <a:spcPts val="0"/>
              </a:spcBef>
              <a:spcAft>
                <a:spcPts val="0"/>
              </a:spcAft>
              <a:buNone/>
            </a:pPr>
            <a:r>
              <a:rPr b="0" i="0" lang="en-US" sz="825" u="none" cap="none" strike="noStrike">
                <a:solidFill>
                  <a:srgbClr val="000000"/>
                </a:solidFill>
                <a:latin typeface="Inter"/>
                <a:ea typeface="Inter"/>
                <a:cs typeface="Inter"/>
                <a:sym typeface="Inter"/>
              </a:rPr>
              <a:t>{ license_plate: 1, current_status: 1 }</a:t>
            </a:r>
            <a:br>
              <a:rPr b="0" i="0" lang="en-US" sz="1800" u="none" cap="none" strike="noStrike">
                <a:solidFill>
                  <a:schemeClr val="dk1"/>
                </a:solidFill>
                <a:latin typeface="Calibri"/>
                <a:ea typeface="Calibri"/>
                <a:cs typeface="Calibri"/>
                <a:sym typeface="Calibri"/>
              </a:rPr>
            </a:br>
            <a:r>
              <a:rPr b="0" i="0" lang="en-US" sz="825" u="none" cap="none" strike="noStrike">
                <a:solidFill>
                  <a:srgbClr val="52525B"/>
                </a:solidFill>
                <a:latin typeface="Inter"/>
                <a:ea typeface="Inter"/>
                <a:cs typeface="Inter"/>
                <a:sym typeface="Inter"/>
              </a:rPr>
              <a:t> Quy tắc ESR. Triệt tiêu COLLSCAN, chuyển 100% sang IXSCAN O(log N).</a:t>
            </a:r>
            <a:endParaRPr/>
          </a:p>
        </p:txBody>
      </p:sp>
      <p:sp>
        <p:nvSpPr>
          <p:cNvPr id="752" name="Google Shape;752;p33"/>
          <p:cNvSpPr txBox="1"/>
          <p:nvPr/>
        </p:nvSpPr>
        <p:spPr>
          <a:xfrm>
            <a:off x="6315075" y="1438275"/>
            <a:ext cx="126503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NEO4J CONSTRAINT</a:t>
            </a:r>
            <a:endParaRPr/>
          </a:p>
        </p:txBody>
      </p:sp>
      <p:sp>
        <p:nvSpPr>
          <p:cNvPr id="753" name="Google Shape;753;p33"/>
          <p:cNvSpPr txBox="1"/>
          <p:nvPr/>
        </p:nvSpPr>
        <p:spPr>
          <a:xfrm>
            <a:off x="6238875" y="1638300"/>
            <a:ext cx="2647950" cy="424160"/>
          </a:xfrm>
          <a:prstGeom prst="rect">
            <a:avLst/>
          </a:prstGeom>
          <a:noFill/>
          <a:ln>
            <a:noFill/>
          </a:ln>
        </p:spPr>
        <p:txBody>
          <a:bodyPr anchorCtr="0" anchor="t" bIns="0" lIns="0" spcFirstLastPara="1" rIns="0" wrap="square" tIns="0">
            <a:spAutoFit/>
          </a:bodyPr>
          <a:lstStyle/>
          <a:p>
            <a:pPr indent="0" lvl="0" marL="0" marR="0" rtl="0" algn="l">
              <a:lnSpc>
                <a:spcPct val="61833"/>
              </a:lnSpc>
              <a:spcBef>
                <a:spcPts val="0"/>
              </a:spcBef>
              <a:spcAft>
                <a:spcPts val="0"/>
              </a:spcAft>
              <a:buNone/>
            </a:pPr>
            <a:r>
              <a:rPr b="0" i="0" lang="en-US" sz="825" u="none" cap="none" strike="noStrike">
                <a:solidFill>
                  <a:srgbClr val="000000"/>
                </a:solidFill>
                <a:latin typeface="Inter"/>
                <a:ea typeface="Inter"/>
                <a:cs typeface="Inter"/>
                <a:sym typeface="Inter"/>
              </a:rPr>
              <a:t>REQUIRE p.code IS UNIQUE</a:t>
            </a:r>
            <a:br>
              <a:rPr b="0" i="0" lang="en-US" sz="1800" u="none" cap="none" strike="noStrike">
                <a:solidFill>
                  <a:schemeClr val="dk1"/>
                </a:solidFill>
                <a:latin typeface="Calibri"/>
                <a:ea typeface="Calibri"/>
                <a:cs typeface="Calibri"/>
                <a:sym typeface="Calibri"/>
              </a:rPr>
            </a:br>
            <a:r>
              <a:rPr b="0" i="0" lang="en-US" sz="825" u="none" cap="none" strike="noStrike">
                <a:solidFill>
                  <a:srgbClr val="52525B"/>
                </a:solidFill>
                <a:latin typeface="Inter"/>
                <a:ea typeface="Inter"/>
                <a:cs typeface="Inter"/>
                <a:sym typeface="Inter"/>
              </a:rPr>
              <a:t> Định vị Entry-Point Node O(1) trên RAM trước khi kích hoạt IFA nhảy con trỏ.</a:t>
            </a:r>
            <a:endParaRPr/>
          </a:p>
        </p:txBody>
      </p:sp>
      <p:sp>
        <p:nvSpPr>
          <p:cNvPr id="754" name="Google Shape;754;p33"/>
          <p:cNvSpPr txBox="1"/>
          <p:nvPr/>
        </p:nvSpPr>
        <p:spPr>
          <a:xfrm>
            <a:off x="9153525" y="1438275"/>
            <a:ext cx="107825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REDIS KEY HASH</a:t>
            </a:r>
            <a:endParaRPr/>
          </a:p>
        </p:txBody>
      </p:sp>
      <p:sp>
        <p:nvSpPr>
          <p:cNvPr id="755" name="Google Shape;755;p33"/>
          <p:cNvSpPr txBox="1"/>
          <p:nvPr/>
        </p:nvSpPr>
        <p:spPr>
          <a:xfrm>
            <a:off x="9077325" y="1638300"/>
            <a:ext cx="2647950" cy="424160"/>
          </a:xfrm>
          <a:prstGeom prst="rect">
            <a:avLst/>
          </a:prstGeom>
          <a:noFill/>
          <a:ln>
            <a:noFill/>
          </a:ln>
        </p:spPr>
        <p:txBody>
          <a:bodyPr anchorCtr="0" anchor="t" bIns="0" lIns="0" spcFirstLastPara="1" rIns="0" wrap="square" tIns="0">
            <a:spAutoFit/>
          </a:bodyPr>
          <a:lstStyle/>
          <a:p>
            <a:pPr indent="0" lvl="0" marL="0" marR="0" rtl="0" algn="l">
              <a:lnSpc>
                <a:spcPct val="61833"/>
              </a:lnSpc>
              <a:spcBef>
                <a:spcPts val="0"/>
              </a:spcBef>
              <a:spcAft>
                <a:spcPts val="0"/>
              </a:spcAft>
              <a:buNone/>
            </a:pPr>
            <a:r>
              <a:rPr b="0" i="0" lang="en-US" sz="825" u="none" cap="none" strike="noStrike">
                <a:solidFill>
                  <a:srgbClr val="000000"/>
                </a:solidFill>
                <a:latin typeface="Inter"/>
                <a:ea typeface="Inter"/>
                <a:cs typeface="Inter"/>
                <a:sym typeface="Inter"/>
              </a:rPr>
              <a:t>inventory:lock:{sku}</a:t>
            </a:r>
            <a:br>
              <a:rPr b="0" i="0" lang="en-US" sz="1800" u="none" cap="none" strike="noStrike">
                <a:solidFill>
                  <a:schemeClr val="dk1"/>
                </a:solidFill>
                <a:latin typeface="Calibri"/>
                <a:ea typeface="Calibri"/>
                <a:cs typeface="Calibri"/>
                <a:sym typeface="Calibri"/>
              </a:rPr>
            </a:br>
            <a:r>
              <a:rPr b="0" i="0" lang="en-US" sz="825" u="none" cap="none" strike="noStrike">
                <a:solidFill>
                  <a:srgbClr val="52525B"/>
                </a:solidFill>
                <a:latin typeface="Inter"/>
                <a:ea typeface="Inter"/>
                <a:cs typeface="Inter"/>
                <a:sym typeface="Inter"/>
              </a:rPr>
              <a:t> Băm SipHash trong RAM, tra cứu O(1) microsecond không tốn I/O đĩa.</a:t>
            </a:r>
            <a:endParaRPr/>
          </a:p>
        </p:txBody>
      </p:sp>
      <p:sp>
        <p:nvSpPr>
          <p:cNvPr id="756" name="Google Shape;756;p33"/>
          <p:cNvSpPr txBox="1"/>
          <p:nvPr/>
        </p:nvSpPr>
        <p:spPr>
          <a:xfrm>
            <a:off x="600075" y="2513409"/>
            <a:ext cx="57626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09090B"/>
                </a:solidFill>
                <a:latin typeface="Inter"/>
                <a:ea typeface="Inter"/>
                <a:cs typeface="Inter"/>
                <a:sym typeface="Inter"/>
              </a:rPr>
              <a:t>KẾT QUẢ THỰC NGHIỆM ĐỐI CHIẾU (BENCHMARK_ARCHITECTURE_PROOF.JS)</a:t>
            </a:r>
            <a:endParaRPr/>
          </a:p>
        </p:txBody>
      </p:sp>
      <p:sp>
        <p:nvSpPr>
          <p:cNvPr id="757" name="Google Shape;757;p33"/>
          <p:cNvSpPr txBox="1"/>
          <p:nvPr/>
        </p:nvSpPr>
        <p:spPr>
          <a:xfrm>
            <a:off x="10466040" y="2508646"/>
            <a:ext cx="1154459"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PROVEN METRICS</a:t>
            </a:r>
            <a:endParaRPr/>
          </a:p>
        </p:txBody>
      </p:sp>
      <p:sp>
        <p:nvSpPr>
          <p:cNvPr id="758" name="Google Shape;758;p33"/>
          <p:cNvSpPr txBox="1"/>
          <p:nvPr/>
        </p:nvSpPr>
        <p:spPr>
          <a:xfrm>
            <a:off x="360759" y="2832496"/>
            <a:ext cx="3155156" cy="657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71717A"/>
                </a:solidFill>
                <a:latin typeface="Inter"/>
                <a:ea typeface="Inter"/>
                <a:cs typeface="Inter"/>
                <a:sym typeface="Inter"/>
              </a:rPr>
              <a:t>TRANH CHẤP KHO </a:t>
            </a:r>
            <a:r>
              <a:rPr b="1" i="0" lang="en-US" sz="787" u="none" cap="none" strike="noStrike">
                <a:solidFill>
                  <a:srgbClr val="52525B"/>
                </a:solidFill>
                <a:latin typeface="Inter"/>
                <a:ea typeface="Inter"/>
                <a:cs typeface="Inter"/>
                <a:sym typeface="Inter"/>
              </a:rPr>
              <a:t>Redlock triệt tiêu âm kho</a:t>
            </a:r>
            <a:endParaRPr/>
          </a:p>
        </p:txBody>
      </p:sp>
      <p:sp>
        <p:nvSpPr>
          <p:cNvPr id="759" name="Google Shape;759;p33"/>
          <p:cNvSpPr txBox="1"/>
          <p:nvPr/>
        </p:nvSpPr>
        <p:spPr>
          <a:xfrm>
            <a:off x="3132534" y="2832496"/>
            <a:ext cx="3155156" cy="657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71717A"/>
                </a:solidFill>
                <a:latin typeface="Inter"/>
                <a:ea typeface="Inter"/>
                <a:cs typeface="Inter"/>
                <a:sym typeface="Inter"/>
              </a:rPr>
              <a:t>TỐC ĐỘ ĐỒ THỊ XE </a:t>
            </a:r>
            <a:r>
              <a:rPr b="1" i="0" lang="en-US" sz="787" u="none" cap="none" strike="noStrike">
                <a:solidFill>
                  <a:srgbClr val="52525B"/>
                </a:solidFill>
                <a:latin typeface="Inter"/>
                <a:ea typeface="Inter"/>
                <a:cs typeface="Inter"/>
                <a:sym typeface="Inter"/>
              </a:rPr>
              <a:t>Neo4j nhanh gấp 5.3 lần SQL</a:t>
            </a:r>
            <a:endParaRPr/>
          </a:p>
        </p:txBody>
      </p:sp>
      <p:sp>
        <p:nvSpPr>
          <p:cNvPr id="760" name="Google Shape;760;p33"/>
          <p:cNvSpPr txBox="1"/>
          <p:nvPr/>
        </p:nvSpPr>
        <p:spPr>
          <a:xfrm>
            <a:off x="5904309" y="2832496"/>
            <a:ext cx="3155156" cy="657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71717A"/>
                </a:solidFill>
                <a:latin typeface="Inter"/>
                <a:ea typeface="Inter"/>
                <a:cs typeface="Inter"/>
                <a:sym typeface="Inter"/>
              </a:rPr>
              <a:t>HÀNG ĐỢI OUTBOX </a:t>
            </a:r>
            <a:r>
              <a:rPr b="1" i="0" lang="en-US" sz="787" u="none" cap="none" strike="noStrike">
                <a:solidFill>
                  <a:srgbClr val="52525B"/>
                </a:solidFill>
                <a:latin typeface="Inter"/>
                <a:ea typeface="Inter"/>
                <a:cs typeface="Inter"/>
                <a:sym typeface="Inter"/>
              </a:rPr>
              <a:t>Partial Index + SKIP LOCKED</a:t>
            </a:r>
            <a:endParaRPr/>
          </a:p>
        </p:txBody>
      </p:sp>
      <p:sp>
        <p:nvSpPr>
          <p:cNvPr id="761" name="Google Shape;761;p33"/>
          <p:cNvSpPr txBox="1"/>
          <p:nvPr/>
        </p:nvSpPr>
        <p:spPr>
          <a:xfrm>
            <a:off x="8676084" y="2832496"/>
            <a:ext cx="3155156" cy="657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71717A"/>
                </a:solidFill>
                <a:latin typeface="Inter"/>
                <a:ea typeface="Inter"/>
                <a:cs typeface="Inter"/>
                <a:sym typeface="Inter"/>
              </a:rPr>
              <a:t>DUAL-WRITE DATA LOSS </a:t>
            </a:r>
            <a:r>
              <a:rPr b="1" i="0" lang="en-US" sz="787" u="none" cap="none" strike="noStrike">
                <a:solidFill>
                  <a:srgbClr val="52525B"/>
                </a:solidFill>
                <a:latin typeface="Inter"/>
                <a:ea typeface="Inter"/>
                <a:cs typeface="Inter"/>
                <a:sym typeface="Inter"/>
              </a:rPr>
              <a:t>Postgres WAL Commit</a:t>
            </a:r>
            <a:endParaRPr/>
          </a:p>
        </p:txBody>
      </p:sp>
      <p:sp>
        <p:nvSpPr>
          <p:cNvPr id="762" name="Google Shape;762;p33"/>
          <p:cNvSpPr txBox="1"/>
          <p:nvPr/>
        </p:nvSpPr>
        <p:spPr>
          <a:xfrm>
            <a:off x="396478" y="3051571"/>
            <a:ext cx="3083718"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9090B"/>
                </a:solidFill>
                <a:latin typeface="JetBrains Mono"/>
                <a:ea typeface="JetBrains Mono"/>
                <a:cs typeface="JetBrains Mono"/>
                <a:sym typeface="JetBrains Mono"/>
              </a:rPr>
              <a:t>80% -&gt; 0%</a:t>
            </a:r>
            <a:endParaRPr/>
          </a:p>
        </p:txBody>
      </p:sp>
      <p:sp>
        <p:nvSpPr>
          <p:cNvPr id="763" name="Google Shape;763;p33"/>
          <p:cNvSpPr txBox="1"/>
          <p:nvPr/>
        </p:nvSpPr>
        <p:spPr>
          <a:xfrm>
            <a:off x="3168253" y="3051571"/>
            <a:ext cx="3083718"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9090B"/>
                </a:solidFill>
                <a:latin typeface="JetBrains Mono"/>
                <a:ea typeface="JetBrains Mono"/>
                <a:cs typeface="JetBrains Mono"/>
                <a:sym typeface="JetBrains Mono"/>
              </a:rPr>
              <a:t>31.1ms -&gt; 5.9ms</a:t>
            </a:r>
            <a:endParaRPr/>
          </a:p>
        </p:txBody>
      </p:sp>
      <p:sp>
        <p:nvSpPr>
          <p:cNvPr id="764" name="Google Shape;764;p33"/>
          <p:cNvSpPr txBox="1"/>
          <p:nvPr/>
        </p:nvSpPr>
        <p:spPr>
          <a:xfrm>
            <a:off x="5940028" y="3051571"/>
            <a:ext cx="3083718"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9090B"/>
                </a:solidFill>
                <a:latin typeface="JetBrains Mono"/>
                <a:ea typeface="JetBrains Mono"/>
                <a:cs typeface="JetBrains Mono"/>
                <a:sym typeface="JetBrains Mono"/>
              </a:rPr>
              <a:t>4.12 ms</a:t>
            </a:r>
            <a:endParaRPr/>
          </a:p>
        </p:txBody>
      </p:sp>
      <p:sp>
        <p:nvSpPr>
          <p:cNvPr id="765" name="Google Shape;765;p33"/>
          <p:cNvSpPr txBox="1"/>
          <p:nvPr/>
        </p:nvSpPr>
        <p:spPr>
          <a:xfrm>
            <a:off x="8711803" y="3051571"/>
            <a:ext cx="3083718"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9090B"/>
                </a:solidFill>
                <a:latin typeface="JetBrains Mono"/>
                <a:ea typeface="JetBrains Mono"/>
                <a:cs typeface="JetBrains Mono"/>
                <a:sym typeface="JetBrains Mono"/>
              </a:rPr>
              <a:t>P_loss = 0%</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34"/>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1" name="Google Shape;771;p34"/>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2" name="Google Shape;772;p34"/>
          <p:cNvSpPr/>
          <p:nvPr/>
        </p:nvSpPr>
        <p:spPr>
          <a:xfrm>
            <a:off x="457200" y="1323975"/>
            <a:ext cx="11277600" cy="69056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3" name="Google Shape;773;p34"/>
          <p:cNvSpPr/>
          <p:nvPr/>
        </p:nvSpPr>
        <p:spPr>
          <a:xfrm>
            <a:off x="457200" y="2109787"/>
            <a:ext cx="11277600" cy="8572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4" name="Google Shape;774;p34"/>
          <p:cNvSpPr/>
          <p:nvPr/>
        </p:nvSpPr>
        <p:spPr>
          <a:xfrm>
            <a:off x="457200" y="3062287"/>
            <a:ext cx="11277600" cy="85725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5" name="Google Shape;775;p34"/>
          <p:cNvSpPr/>
          <p:nvPr/>
        </p:nvSpPr>
        <p:spPr>
          <a:xfrm>
            <a:off x="457200" y="2005012"/>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6" name="Google Shape;776;p34"/>
          <p:cNvSpPr/>
          <p:nvPr/>
        </p:nvSpPr>
        <p:spPr>
          <a:xfrm>
            <a:off x="457200" y="1323975"/>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7" name="Google Shape;777;p34"/>
          <p:cNvSpPr/>
          <p:nvPr/>
        </p:nvSpPr>
        <p:spPr>
          <a:xfrm>
            <a:off x="457200" y="1323975"/>
            <a:ext cx="38100" cy="690562"/>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8" name="Google Shape;778;p34"/>
          <p:cNvSpPr/>
          <p:nvPr/>
        </p:nvSpPr>
        <p:spPr>
          <a:xfrm>
            <a:off x="11725275" y="1323975"/>
            <a:ext cx="9525" cy="690562"/>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9" name="Google Shape;779;p34"/>
          <p:cNvSpPr/>
          <p:nvPr/>
        </p:nvSpPr>
        <p:spPr>
          <a:xfrm>
            <a:off x="457200" y="2957512"/>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0" name="Google Shape;780;p34"/>
          <p:cNvSpPr/>
          <p:nvPr/>
        </p:nvSpPr>
        <p:spPr>
          <a:xfrm>
            <a:off x="457200" y="2109787"/>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1" name="Google Shape;781;p34"/>
          <p:cNvSpPr/>
          <p:nvPr/>
        </p:nvSpPr>
        <p:spPr>
          <a:xfrm>
            <a:off x="457200" y="2109787"/>
            <a:ext cx="38100" cy="85725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2" name="Google Shape;782;p34"/>
          <p:cNvSpPr/>
          <p:nvPr/>
        </p:nvSpPr>
        <p:spPr>
          <a:xfrm>
            <a:off x="11725275" y="2109787"/>
            <a:ext cx="9525" cy="857250"/>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3" name="Google Shape;783;p34"/>
          <p:cNvSpPr/>
          <p:nvPr/>
        </p:nvSpPr>
        <p:spPr>
          <a:xfrm>
            <a:off x="457200" y="3910012"/>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4" name="Google Shape;784;p34"/>
          <p:cNvSpPr/>
          <p:nvPr/>
        </p:nvSpPr>
        <p:spPr>
          <a:xfrm>
            <a:off x="457200" y="3062287"/>
            <a:ext cx="11277600" cy="9525"/>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5" name="Google Shape;785;p34"/>
          <p:cNvSpPr/>
          <p:nvPr/>
        </p:nvSpPr>
        <p:spPr>
          <a:xfrm>
            <a:off x="457200" y="3062287"/>
            <a:ext cx="38100" cy="857250"/>
          </a:xfrm>
          <a:prstGeom prst="rect">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6" name="Google Shape;786;p34"/>
          <p:cNvSpPr/>
          <p:nvPr/>
        </p:nvSpPr>
        <p:spPr>
          <a:xfrm>
            <a:off x="11725275" y="3062287"/>
            <a:ext cx="9525" cy="857250"/>
          </a:xfrm>
          <a:prstGeom prst="rect">
            <a:avLst/>
          </a:prstGeom>
          <a:solidFill>
            <a:srgbClr val="D4D4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7" name="Google Shape;787;p34"/>
          <p:cNvSpPr/>
          <p:nvPr/>
        </p:nvSpPr>
        <p:spPr>
          <a:xfrm>
            <a:off x="10799415" y="1466850"/>
            <a:ext cx="79250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8" name="Google Shape;788;p34"/>
          <p:cNvSpPr/>
          <p:nvPr/>
        </p:nvSpPr>
        <p:spPr>
          <a:xfrm>
            <a:off x="10576470" y="2252662"/>
            <a:ext cx="1015454"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9" name="Google Shape;789;p34"/>
          <p:cNvSpPr/>
          <p:nvPr/>
        </p:nvSpPr>
        <p:spPr>
          <a:xfrm>
            <a:off x="10475565" y="3205162"/>
            <a:ext cx="1116359" cy="190500"/>
          </a:xfrm>
          <a:prstGeom prst="roundRect">
            <a:avLst>
              <a:gd fmla="val 10000" name="adj"/>
            </a:avLst>
          </a:prstGeom>
          <a:solidFill>
            <a:srgbClr val="09090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90" name="Google Shape;790;p34"/>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Mở song song 3 màn hình và quan sát trực tiếp log Console phân tán</a:t>
            </a:r>
            <a:endParaRPr/>
          </a:p>
        </p:txBody>
      </p:sp>
      <p:sp>
        <p:nvSpPr>
          <p:cNvPr id="791" name="Google Shape;791;p34"/>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22 / 24</a:t>
            </a:r>
            <a:endParaRPr/>
          </a:p>
        </p:txBody>
      </p:sp>
      <p:sp>
        <p:nvSpPr>
          <p:cNvPr id="792" name="Google Shape;792;p34"/>
          <p:cNvSpPr txBox="1"/>
          <p:nvPr/>
        </p:nvSpPr>
        <p:spPr>
          <a:xfrm>
            <a:off x="457200" y="361950"/>
            <a:ext cx="8102203"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6: KIỂM THỬ &amp; NGHIỆM THU</a:t>
            </a:r>
            <a:endParaRPr/>
          </a:p>
        </p:txBody>
      </p:sp>
      <p:sp>
        <p:nvSpPr>
          <p:cNvPr id="793" name="Google Shape;793;p34"/>
          <p:cNvSpPr txBox="1"/>
          <p:nvPr/>
        </p:nvSpPr>
        <p:spPr>
          <a:xfrm>
            <a:off x="457200" y="523875"/>
            <a:ext cx="8507313"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Kịch Bản Live Demo Cao Trào (3 Phút Chứng Minh Thực Tế)</a:t>
            </a:r>
            <a:endParaRPr/>
          </a:p>
        </p:txBody>
      </p:sp>
      <p:sp>
        <p:nvSpPr>
          <p:cNvPr id="794" name="Google Shape;794;p34"/>
          <p:cNvSpPr txBox="1"/>
          <p:nvPr/>
        </p:nvSpPr>
        <p:spPr>
          <a:xfrm>
            <a:off x="628650" y="1704975"/>
            <a:ext cx="11563350" cy="166687"/>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52525B"/>
                </a:solidFill>
                <a:latin typeface="Inter"/>
                <a:ea typeface="Inter"/>
                <a:cs typeface="Inter"/>
                <a:sym typeface="Inter"/>
              </a:rPr>
              <a:t>Thao tác:</a:t>
            </a:r>
            <a:r>
              <a:rPr b="0" i="0" lang="en-US" sz="937" u="none" cap="none" strike="noStrike">
                <a:solidFill>
                  <a:srgbClr val="52525B"/>
                </a:solidFill>
                <a:latin typeface="Inter"/>
                <a:ea typeface="Inter"/>
                <a:cs typeface="Inter"/>
                <a:sym typeface="Inter"/>
              </a:rPr>
              <a:t> Mở 2 cửa sổ: Quản đốc kéo thẻ xe trên Kanban Desktop &lt;---&gt; Tablet thợ máy tại khoang nâng nhảy checklist công việc tức thì qua Socket.io mà không cần F5.</a:t>
            </a:r>
            <a:endParaRPr/>
          </a:p>
        </p:txBody>
      </p:sp>
      <p:sp>
        <p:nvSpPr>
          <p:cNvPr id="795" name="Google Shape;795;p34"/>
          <p:cNvSpPr txBox="1"/>
          <p:nvPr/>
        </p:nvSpPr>
        <p:spPr>
          <a:xfrm>
            <a:off x="628650" y="2490787"/>
            <a:ext cx="11058525"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52525B"/>
                </a:solidFill>
                <a:latin typeface="Inter"/>
                <a:ea typeface="Inter"/>
                <a:cs typeface="Inter"/>
                <a:sym typeface="Inter"/>
              </a:rPr>
              <a:t>Thao tác:</a:t>
            </a:r>
            <a:r>
              <a:rPr b="0" i="0" lang="en-US" sz="937" u="none" cap="none" strike="noStrike">
                <a:solidFill>
                  <a:srgbClr val="52525B"/>
                </a:solidFill>
                <a:latin typeface="Inter"/>
                <a:ea typeface="Inter"/>
                <a:cs typeface="Inter"/>
                <a:sym typeface="Inter"/>
              </a:rPr>
              <a:t> Thực hiện giả lập thanh toán đơn xe Camry -&gt; Mở Terminal trực tiếp cho Hội đồng thấy log của Worker: </a:t>
            </a:r>
            <a:r>
              <a:rPr b="0" i="0" lang="en-US" sz="825" u="none" cap="none" strike="noStrike">
                <a:solidFill>
                  <a:srgbClr val="000000"/>
                </a:solidFill>
                <a:latin typeface="Inter"/>
                <a:ea typeface="Inter"/>
                <a:cs typeface="Inter"/>
                <a:sym typeface="Inter"/>
              </a:rPr>
              <a:t>'SELECT ... FOR UPDATE SKIP LOCKED'</a:t>
            </a:r>
            <a:r>
              <a:rPr b="0" i="0" lang="en-US" sz="937" u="none" cap="none" strike="noStrike">
                <a:solidFill>
                  <a:srgbClr val="52525B"/>
                </a:solidFill>
                <a:latin typeface="Inter"/>
                <a:ea typeface="Inter"/>
                <a:cs typeface="Inter"/>
                <a:sym typeface="Inter"/>
              </a:rPr>
              <a:t> -&gt; </a:t>
            </a:r>
            <a:r>
              <a:rPr b="0" i="0" lang="en-US" sz="825" u="none" cap="none" strike="noStrike">
                <a:solidFill>
                  <a:srgbClr val="000000"/>
                </a:solidFill>
                <a:latin typeface="Inter"/>
                <a:ea typeface="Inter"/>
                <a:cs typeface="Inter"/>
                <a:sym typeface="Inter"/>
              </a:rPr>
              <a:t>'Atomically marked WorkOrder as PAID'</a:t>
            </a:r>
            <a:r>
              <a:rPr b="0" i="0" lang="en-US" sz="937" u="none" cap="none" strike="noStrike">
                <a:solidFill>
                  <a:srgbClr val="52525B"/>
                </a:solidFill>
                <a:latin typeface="Inter"/>
                <a:ea typeface="Inter"/>
                <a:cs typeface="Inter"/>
                <a:sym typeface="Inter"/>
              </a:rPr>
              <a:t>.</a:t>
            </a:r>
            <a:endParaRPr/>
          </a:p>
        </p:txBody>
      </p:sp>
      <p:sp>
        <p:nvSpPr>
          <p:cNvPr id="796" name="Google Shape;796;p34"/>
          <p:cNvSpPr txBox="1"/>
          <p:nvPr/>
        </p:nvSpPr>
        <p:spPr>
          <a:xfrm>
            <a:off x="628650" y="3443287"/>
            <a:ext cx="11058525"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52525B"/>
                </a:solidFill>
                <a:latin typeface="Inter"/>
                <a:ea typeface="Inter"/>
                <a:cs typeface="Inter"/>
                <a:sym typeface="Inter"/>
              </a:rPr>
              <a:t>Thao tác:</a:t>
            </a:r>
            <a:r>
              <a:rPr b="0" i="0" lang="en-US" sz="937" u="none" cap="none" strike="noStrike">
                <a:solidFill>
                  <a:srgbClr val="52525B"/>
                </a:solidFill>
                <a:latin typeface="Inter"/>
                <a:ea typeface="Inter"/>
                <a:cs typeface="Inter"/>
                <a:sym typeface="Inter"/>
              </a:rPr>
              <a:t> Gõ câu mô tả của thợ: </a:t>
            </a:r>
            <a:r>
              <a:rPr b="0" i="1" lang="en-US" sz="937" u="none" cap="none" strike="noStrike">
                <a:solidFill>
                  <a:srgbClr val="52525B"/>
                </a:solidFill>
                <a:latin typeface="Inter"/>
                <a:ea typeface="Inter"/>
                <a:cs typeface="Inter"/>
                <a:sym typeface="Inter"/>
              </a:rPr>
              <a:t>'Xe Camry đạp phanh có tiếng kêu kim loại'</a:t>
            </a:r>
            <a:r>
              <a:rPr b="0" i="0" lang="en-US" sz="937" u="none" cap="none" strike="noStrike">
                <a:solidFill>
                  <a:srgbClr val="52525B"/>
                </a:solidFill>
                <a:latin typeface="Inter"/>
                <a:ea typeface="Inter"/>
                <a:cs typeface="Inter"/>
                <a:sym typeface="Inter"/>
              </a:rPr>
              <a:t> -&gt; Hệ thống kích hoạt Cypher đồ thị khung gầm tìm chính xác má phanh dùng chung của Toyota Camry và Lexus ES250.</a:t>
            </a:r>
            <a:endParaRPr/>
          </a:p>
        </p:txBody>
      </p:sp>
      <p:sp>
        <p:nvSpPr>
          <p:cNvPr id="797" name="Google Shape;797;p34"/>
          <p:cNvSpPr txBox="1"/>
          <p:nvPr/>
        </p:nvSpPr>
        <p:spPr>
          <a:xfrm>
            <a:off x="628650" y="1481137"/>
            <a:ext cx="4838104"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9090B"/>
                </a:solidFill>
                <a:latin typeface="Inter"/>
                <a:ea typeface="Inter"/>
                <a:cs typeface="Inter"/>
                <a:sym typeface="Inter"/>
              </a:rPr>
              <a:t>KỊCH BẢN 1: Realtime Kanban &amp; Tablet Sync (WebSocket)</a:t>
            </a:r>
            <a:endParaRPr/>
          </a:p>
        </p:txBody>
      </p:sp>
      <p:sp>
        <p:nvSpPr>
          <p:cNvPr id="798" name="Google Shape;798;p34"/>
          <p:cNvSpPr txBox="1"/>
          <p:nvPr/>
        </p:nvSpPr>
        <p:spPr>
          <a:xfrm>
            <a:off x="10875615" y="1495425"/>
            <a:ext cx="73535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SOCKET.IO</a:t>
            </a:r>
            <a:endParaRPr/>
          </a:p>
        </p:txBody>
      </p:sp>
      <p:sp>
        <p:nvSpPr>
          <p:cNvPr id="799" name="Google Shape;799;p34"/>
          <p:cNvSpPr txBox="1"/>
          <p:nvPr/>
        </p:nvSpPr>
        <p:spPr>
          <a:xfrm>
            <a:off x="628650" y="2266950"/>
            <a:ext cx="5275659"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9090B"/>
                </a:solidFill>
                <a:latin typeface="Inter"/>
                <a:ea typeface="Inter"/>
                <a:cs typeface="Inter"/>
                <a:sym typeface="Inter"/>
              </a:rPr>
              <a:t>KỊCH BẢN 2: Outbox Pattern &amp; Skip Locked (Dual-Write Proof)</a:t>
            </a:r>
            <a:endParaRPr/>
          </a:p>
        </p:txBody>
      </p:sp>
      <p:sp>
        <p:nvSpPr>
          <p:cNvPr id="800" name="Google Shape;800;p34"/>
          <p:cNvSpPr txBox="1"/>
          <p:nvPr/>
        </p:nvSpPr>
        <p:spPr>
          <a:xfrm>
            <a:off x="10652670" y="2281237"/>
            <a:ext cx="958304"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TERMINAL LOG</a:t>
            </a:r>
            <a:endParaRPr/>
          </a:p>
        </p:txBody>
      </p:sp>
      <p:sp>
        <p:nvSpPr>
          <p:cNvPr id="801" name="Google Shape;801;p34"/>
          <p:cNvSpPr txBox="1"/>
          <p:nvPr/>
        </p:nvSpPr>
        <p:spPr>
          <a:xfrm>
            <a:off x="628650" y="3219450"/>
            <a:ext cx="5538192"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9090B"/>
                </a:solidFill>
                <a:latin typeface="Inter"/>
                <a:ea typeface="Inter"/>
                <a:cs typeface="Inter"/>
                <a:sym typeface="Inter"/>
              </a:rPr>
              <a:t>KỊCH BẢN 3: Neo4j Graph-RAG AI Traversal (Zero-Hallucination)</a:t>
            </a:r>
            <a:endParaRPr/>
          </a:p>
        </p:txBody>
      </p:sp>
      <p:sp>
        <p:nvSpPr>
          <p:cNvPr id="802" name="Google Shape;802;p34"/>
          <p:cNvSpPr txBox="1"/>
          <p:nvPr/>
        </p:nvSpPr>
        <p:spPr>
          <a:xfrm>
            <a:off x="10551765" y="3233737"/>
            <a:ext cx="1059209"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FFFFFF"/>
                </a:solidFill>
                <a:latin typeface="Inter"/>
                <a:ea typeface="Inter"/>
                <a:cs typeface="Inter"/>
                <a:sym typeface="Inter"/>
              </a:rPr>
              <a:t>GEMINI + GRAPH</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35"/>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8" name="Google Shape;808;p35"/>
          <p:cNvSpPr/>
          <p:nvPr/>
        </p:nvSpPr>
        <p:spPr>
          <a:xfrm>
            <a:off x="10616505" y="609600"/>
            <a:ext cx="1118294" cy="190500"/>
          </a:xfrm>
          <a:prstGeom prst="roundRect">
            <a:avLst>
              <a:gd fmla="val 10000" name="adj"/>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9" name="Google Shape;809;p35"/>
          <p:cNvSpPr/>
          <p:nvPr/>
        </p:nvSpPr>
        <p:spPr>
          <a:xfrm>
            <a:off x="457200" y="1323975"/>
            <a:ext cx="5562600" cy="5153025"/>
          </a:xfrm>
          <a:prstGeom prst="rect">
            <a:avLst/>
          </a:prstGeom>
          <a:solidFill>
            <a:srgbClr val="FFFFFF"/>
          </a:solidFill>
          <a:ln cap="flat" cmpd="sng" w="9525">
            <a:solidFill>
              <a:srgbClr val="09090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0" name="Google Shape;810;p35"/>
          <p:cNvSpPr/>
          <p:nvPr/>
        </p:nvSpPr>
        <p:spPr>
          <a:xfrm>
            <a:off x="6172200" y="1323975"/>
            <a:ext cx="5562600" cy="5153025"/>
          </a:xfrm>
          <a:prstGeom prst="rect">
            <a:avLst/>
          </a:prstGeom>
          <a:solidFill>
            <a:srgbClr val="FAFAFA"/>
          </a:solidFill>
          <a:ln cap="flat" cmpd="sng" w="9525">
            <a:solidFill>
              <a:srgbClr val="D4D4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1" name="Google Shape;811;p35"/>
          <p:cNvSpPr txBox="1"/>
          <p:nvPr/>
        </p:nvSpPr>
        <p:spPr>
          <a:xfrm>
            <a:off x="457200" y="1038225"/>
            <a:ext cx="117348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12" u="none" cap="none" strike="noStrike">
                <a:solidFill>
                  <a:srgbClr val="52525B"/>
                </a:solidFill>
                <a:latin typeface="Inter"/>
                <a:ea typeface="Inter"/>
                <a:cs typeface="Inter"/>
                <a:sym typeface="Inter"/>
              </a:rPr>
              <a:t>Đánh giá mức độ hoàn thành so với SRS và định hướng mở rộng tương lai</a:t>
            </a:r>
            <a:endParaRPr/>
          </a:p>
        </p:txBody>
      </p:sp>
      <p:sp>
        <p:nvSpPr>
          <p:cNvPr id="812" name="Google Shape;812;p35"/>
          <p:cNvSpPr txBox="1"/>
          <p:nvPr/>
        </p:nvSpPr>
        <p:spPr>
          <a:xfrm>
            <a:off x="10683180" y="6286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9090B"/>
                </a:solidFill>
                <a:latin typeface="JetBrains Mono"/>
                <a:ea typeface="JetBrains Mono"/>
                <a:cs typeface="JetBrains Mono"/>
                <a:sym typeface="JetBrains Mono"/>
              </a:rPr>
              <a:t>SLIDE 23 / 24</a:t>
            </a:r>
            <a:endParaRPr/>
          </a:p>
        </p:txBody>
      </p:sp>
      <p:sp>
        <p:nvSpPr>
          <p:cNvPr id="813" name="Google Shape;813;p35"/>
          <p:cNvSpPr txBox="1"/>
          <p:nvPr/>
        </p:nvSpPr>
        <p:spPr>
          <a:xfrm>
            <a:off x="457200" y="361950"/>
            <a:ext cx="7108031"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52525B"/>
                </a:solidFill>
                <a:latin typeface="Inter"/>
                <a:ea typeface="Inter"/>
                <a:cs typeface="Inter"/>
                <a:sym typeface="Inter"/>
              </a:rPr>
              <a:t>CHƯƠNG 6: TỔNG KẾT ĐỀ TÀI</a:t>
            </a:r>
            <a:endParaRPr/>
          </a:p>
        </p:txBody>
      </p:sp>
      <p:sp>
        <p:nvSpPr>
          <p:cNvPr id="814" name="Google Shape;814;p35"/>
          <p:cNvSpPr txBox="1"/>
          <p:nvPr/>
        </p:nvSpPr>
        <p:spPr>
          <a:xfrm>
            <a:off x="457200" y="523875"/>
            <a:ext cx="7463432"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9090B"/>
                </a:solidFill>
                <a:latin typeface="Inter"/>
                <a:ea typeface="Inter"/>
                <a:cs typeface="Inter"/>
                <a:sym typeface="Inter"/>
              </a:rPr>
              <a:t>Tổng Kết Dự Án &amp; Bài Học Kiến Trúc (Retrospective)</a:t>
            </a:r>
            <a:endParaRPr/>
          </a:p>
        </p:txBody>
      </p:sp>
      <p:sp>
        <p:nvSpPr>
          <p:cNvPr id="815" name="Google Shape;815;p35"/>
          <p:cNvSpPr txBox="1"/>
          <p:nvPr/>
        </p:nvSpPr>
        <p:spPr>
          <a:xfrm>
            <a:off x="638175" y="1504950"/>
            <a:ext cx="6825853"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9090B"/>
                </a:solidFill>
                <a:latin typeface="Inter"/>
                <a:ea typeface="Inter"/>
                <a:cs typeface="Inter"/>
                <a:sym typeface="Inter"/>
              </a:rPr>
              <a:t>KẾT QUẢ ĐẠT ĐƯỢC</a:t>
            </a:r>
            <a:endParaRPr/>
          </a:p>
        </p:txBody>
      </p:sp>
      <p:sp>
        <p:nvSpPr>
          <p:cNvPr id="816" name="Google Shape;816;p35"/>
          <p:cNvSpPr txBox="1"/>
          <p:nvPr/>
        </p:nvSpPr>
        <p:spPr>
          <a:xfrm>
            <a:off x="6353175" y="1504950"/>
            <a:ext cx="58388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9090B"/>
                </a:solidFill>
                <a:latin typeface="Inter"/>
                <a:ea typeface="Inter"/>
                <a:cs typeface="Inter"/>
                <a:sym typeface="Inter"/>
              </a:rPr>
              <a:t>BÀI HỌC KỸ NGHỆ &amp; ĐỊNH HƯỚNG TƯƠNG LAI</a:t>
            </a:r>
            <a:endParaRPr/>
          </a:p>
        </p:txBody>
      </p:sp>
      <p:sp>
        <p:nvSpPr>
          <p:cNvPr id="817" name="Google Shape;817;p35"/>
          <p:cNvSpPr txBox="1"/>
          <p:nvPr/>
        </p:nvSpPr>
        <p:spPr>
          <a:xfrm>
            <a:off x="638175" y="1781175"/>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27272A"/>
                </a:solidFill>
                <a:latin typeface="Inter"/>
                <a:ea typeface="Inter"/>
                <a:cs typeface="Inter"/>
                <a:sym typeface="Inter"/>
              </a:rPr>
              <a:t>[OK] Hoàn thành 100% SRS: Thực hiện đầy đủ 4 phân hệ lớn và 5 vai trò tác nhân RBAC/ABAC.</a:t>
            </a:r>
            <a:endParaRPr/>
          </a:p>
        </p:txBody>
      </p:sp>
      <p:sp>
        <p:nvSpPr>
          <p:cNvPr id="818" name="Google Shape;818;p35"/>
          <p:cNvSpPr txBox="1"/>
          <p:nvPr/>
        </p:nvSpPr>
        <p:spPr>
          <a:xfrm>
            <a:off x="638175" y="2209800"/>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27272A"/>
                </a:solidFill>
                <a:latin typeface="Inter"/>
                <a:ea typeface="Inter"/>
                <a:cs typeface="Inter"/>
                <a:sym typeface="Inter"/>
              </a:rPr>
              <a:t>[OK] Chứng minh thực nghiệm: Vận hành thành công kiến trúc Polyglot 4 CSDL, giải quyết triệt để Dual-Write và Race Condition.</a:t>
            </a:r>
            <a:endParaRPr/>
          </a:p>
        </p:txBody>
      </p:sp>
      <p:sp>
        <p:nvSpPr>
          <p:cNvPr id="819" name="Google Shape;819;p35"/>
          <p:cNvSpPr txBox="1"/>
          <p:nvPr/>
        </p:nvSpPr>
        <p:spPr>
          <a:xfrm>
            <a:off x="638175" y="2638425"/>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27272A"/>
                </a:solidFill>
                <a:latin typeface="Inter"/>
                <a:ea typeface="Inter"/>
                <a:cs typeface="Inter"/>
                <a:sym typeface="Inter"/>
              </a:rPr>
              <a:t>[OK] Triển khai an toàn: Đóng gói hoàn chỉnh bằng Docker và bảo vệ bằng Cloudflare Zero-Trust Ingress không mở cổng.</a:t>
            </a:r>
            <a:endParaRPr/>
          </a:p>
        </p:txBody>
      </p:sp>
      <p:sp>
        <p:nvSpPr>
          <p:cNvPr id="820" name="Google Shape;820;p35"/>
          <p:cNvSpPr txBox="1"/>
          <p:nvPr/>
        </p:nvSpPr>
        <p:spPr>
          <a:xfrm>
            <a:off x="6353175" y="1781175"/>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09090B"/>
                </a:solidFill>
                <a:latin typeface="Inter"/>
                <a:ea typeface="Inter"/>
                <a:cs typeface="Inter"/>
                <a:sym typeface="Inter"/>
              </a:rPr>
              <a:t>[01] Bài học Kỹ nghệ Phần mềm: Kiến trúc tốt không phải là dùng công nghệ mới nhất, mà là hiểu sâu sắc các đánh đổi (Trade-offs) và kiểm soát rủi ro phân tán.</a:t>
            </a:r>
            <a:endParaRPr/>
          </a:p>
        </p:txBody>
      </p:sp>
      <p:sp>
        <p:nvSpPr>
          <p:cNvPr id="821" name="Google Shape;821;p35"/>
          <p:cNvSpPr txBox="1"/>
          <p:nvPr/>
        </p:nvSpPr>
        <p:spPr>
          <a:xfrm>
            <a:off x="6353175" y="2209800"/>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09090B"/>
                </a:solidFill>
                <a:latin typeface="Inter"/>
                <a:ea typeface="Inter"/>
                <a:cs typeface="Inter"/>
                <a:sym typeface="Inter"/>
              </a:rPr>
              <a:t>[02] Nâng cấp CDC (Debezium + Kafka): Khi quy mô giao dịch vượt 10.000 tx/s, nâng cấp Polling Worker sang Change Data Capture trực tiếp từ Postgres WAL.</a:t>
            </a:r>
            <a:endParaRPr/>
          </a:p>
        </p:txBody>
      </p:sp>
      <p:sp>
        <p:nvSpPr>
          <p:cNvPr id="822" name="Google Shape;822;p35"/>
          <p:cNvSpPr txBox="1"/>
          <p:nvPr/>
        </p:nvSpPr>
        <p:spPr>
          <a:xfrm>
            <a:off x="6353175" y="2638425"/>
            <a:ext cx="5295900" cy="333375"/>
          </a:xfrm>
          <a:prstGeom prst="rect">
            <a:avLst/>
          </a:prstGeom>
          <a:noFill/>
          <a:ln>
            <a:noFill/>
          </a:ln>
        </p:spPr>
        <p:txBody>
          <a:bodyPr anchorCtr="0" anchor="t" bIns="0" lIns="0" spcFirstLastPara="1" rIns="0" wrap="square" tIns="0">
            <a:spAutoFit/>
          </a:bodyPr>
          <a:lstStyle/>
          <a:p>
            <a:pPr indent="0" lvl="0" marL="0" marR="0" rtl="0" algn="l">
              <a:lnSpc>
                <a:spcPct val="140021"/>
              </a:lnSpc>
              <a:spcBef>
                <a:spcPts val="0"/>
              </a:spcBef>
              <a:spcAft>
                <a:spcPts val="0"/>
              </a:spcAft>
              <a:buNone/>
            </a:pPr>
            <a:r>
              <a:rPr b="1" i="0" lang="en-US" sz="937" u="none" cap="none" strike="noStrike">
                <a:solidFill>
                  <a:srgbClr val="09090B"/>
                </a:solidFill>
                <a:latin typeface="Inter"/>
                <a:ea typeface="Inter"/>
                <a:cs typeface="Inter"/>
                <a:sym typeface="Inter"/>
              </a:rPr>
              <a:t>[03] Neo4j Causal Clustering: Mở rộng cụm đồ thị phân tán khi mạng lưới gara mở rộng ra quy mô toàn quốc.</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9090B"/>
        </a:solidFill>
      </p:bgPr>
    </p:bg>
    <p:spTree>
      <p:nvGrpSpPr>
        <p:cNvPr id="826" name="Shape 826"/>
        <p:cNvGrpSpPr/>
        <p:nvPr/>
      </p:nvGrpSpPr>
      <p:grpSpPr>
        <a:xfrm>
          <a:off x="0" y="0"/>
          <a:ext cx="0" cy="0"/>
          <a:chOff x="0" y="0"/>
          <a:chExt cx="0" cy="0"/>
        </a:xfrm>
      </p:grpSpPr>
      <p:sp>
        <p:nvSpPr>
          <p:cNvPr id="827" name="Google Shape;827;p36"/>
          <p:cNvSpPr/>
          <p:nvPr/>
        </p:nvSpPr>
        <p:spPr>
          <a:xfrm>
            <a:off x="0" y="6838950"/>
            <a:ext cx="12192000" cy="1905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8" name="Google Shape;828;p36"/>
          <p:cNvSpPr/>
          <p:nvPr/>
        </p:nvSpPr>
        <p:spPr>
          <a:xfrm>
            <a:off x="533400" y="6143625"/>
            <a:ext cx="11125200" cy="2762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9" name="Google Shape;829;p36"/>
          <p:cNvSpPr/>
          <p:nvPr/>
        </p:nvSpPr>
        <p:spPr>
          <a:xfrm>
            <a:off x="10540305" y="419100"/>
            <a:ext cx="1118294" cy="190500"/>
          </a:xfrm>
          <a:prstGeom prst="roundRect">
            <a:avLst>
              <a:gd fmla="val 10000" name="adj"/>
            </a:avLst>
          </a:prstGeom>
          <a:solidFill>
            <a:srgbClr val="18181B"/>
          </a:solidFill>
          <a:ln cap="flat" cmpd="sng" w="9525">
            <a:solidFill>
              <a:srgbClr val="3F3F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0" name="Google Shape;830;p36"/>
          <p:cNvSpPr/>
          <p:nvPr/>
        </p:nvSpPr>
        <p:spPr>
          <a:xfrm>
            <a:off x="533400" y="6143625"/>
            <a:ext cx="11125200" cy="9525"/>
          </a:xfrm>
          <a:prstGeom prst="rect">
            <a:avLst/>
          </a:prstGeom>
          <a:solidFill>
            <a:srgbClr val="272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1" name="Google Shape;831;p36"/>
          <p:cNvSpPr/>
          <p:nvPr/>
        </p:nvSpPr>
        <p:spPr>
          <a:xfrm>
            <a:off x="533400" y="2590800"/>
            <a:ext cx="11125200" cy="542925"/>
          </a:xfrm>
          <a:prstGeom prst="rect">
            <a:avLst/>
          </a:prstGeom>
          <a:solidFill>
            <a:srgbClr val="1212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2" name="Google Shape;832;p36"/>
          <p:cNvSpPr/>
          <p:nvPr/>
        </p:nvSpPr>
        <p:spPr>
          <a:xfrm>
            <a:off x="533400" y="3200400"/>
            <a:ext cx="11125200" cy="542925"/>
          </a:xfrm>
          <a:prstGeom prst="rect">
            <a:avLst/>
          </a:prstGeom>
          <a:solidFill>
            <a:srgbClr val="1212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3" name="Google Shape;833;p36"/>
          <p:cNvSpPr/>
          <p:nvPr/>
        </p:nvSpPr>
        <p:spPr>
          <a:xfrm>
            <a:off x="533400" y="3810000"/>
            <a:ext cx="11125200" cy="542925"/>
          </a:xfrm>
          <a:prstGeom prst="rect">
            <a:avLst/>
          </a:prstGeom>
          <a:solidFill>
            <a:srgbClr val="1212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4" name="Google Shape;834;p36"/>
          <p:cNvSpPr/>
          <p:nvPr/>
        </p:nvSpPr>
        <p:spPr>
          <a:xfrm>
            <a:off x="533400" y="4419600"/>
            <a:ext cx="11125200" cy="542925"/>
          </a:xfrm>
          <a:prstGeom prst="rect">
            <a:avLst/>
          </a:prstGeom>
          <a:solidFill>
            <a:srgbClr val="12121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5" name="Google Shape;835;p36"/>
          <p:cNvSpPr txBox="1"/>
          <p:nvPr/>
        </p:nvSpPr>
        <p:spPr>
          <a:xfrm>
            <a:off x="533400" y="442912"/>
            <a:ext cx="3178968"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A1A1AA"/>
                </a:solidFill>
                <a:latin typeface="Inter"/>
                <a:ea typeface="Inter"/>
                <a:cs typeface="Inter"/>
                <a:sym typeface="Inter"/>
              </a:rPr>
              <a:t>CHƯƠNG 6: PHẢN BIỆN &amp; KẾT THÚC</a:t>
            </a:r>
            <a:endParaRPr/>
          </a:p>
        </p:txBody>
      </p:sp>
      <p:sp>
        <p:nvSpPr>
          <p:cNvPr id="836" name="Google Shape;836;p36"/>
          <p:cNvSpPr txBox="1"/>
          <p:nvPr/>
        </p:nvSpPr>
        <p:spPr>
          <a:xfrm>
            <a:off x="10606980" y="438150"/>
            <a:ext cx="108019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A1A1AA"/>
                </a:solidFill>
                <a:latin typeface="JetBrains Mono"/>
                <a:ea typeface="JetBrains Mono"/>
                <a:cs typeface="JetBrains Mono"/>
                <a:sym typeface="JetBrains Mono"/>
              </a:rPr>
              <a:t>SLIDE 24 / 24</a:t>
            </a:r>
            <a:endParaRPr/>
          </a:p>
        </p:txBody>
      </p:sp>
      <p:sp>
        <p:nvSpPr>
          <p:cNvPr id="837" name="Google Shape;837;p36"/>
          <p:cNvSpPr txBox="1"/>
          <p:nvPr/>
        </p:nvSpPr>
        <p:spPr>
          <a:xfrm>
            <a:off x="533400" y="1895475"/>
            <a:ext cx="116586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FFFFF"/>
                </a:solidFill>
                <a:latin typeface="Inter"/>
                <a:ea typeface="Inter"/>
                <a:cs typeface="Inter"/>
                <a:sym typeface="Inter"/>
              </a:rPr>
              <a:t>Phiên Hỏi Đáp (Q&amp;A) – Sẵn Sàng Đón Nhận Phản Biện</a:t>
            </a:r>
            <a:endParaRPr/>
          </a:p>
        </p:txBody>
      </p:sp>
      <p:sp>
        <p:nvSpPr>
          <p:cNvPr id="838" name="Google Shape;838;p36"/>
          <p:cNvSpPr txBox="1"/>
          <p:nvPr/>
        </p:nvSpPr>
        <p:spPr>
          <a:xfrm>
            <a:off x="533400" y="2295525"/>
            <a:ext cx="116586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87" u="none" cap="none" strike="noStrike">
                <a:solidFill>
                  <a:srgbClr val="A1A1AA"/>
                </a:solidFill>
                <a:latin typeface="Inter"/>
                <a:ea typeface="Inter"/>
                <a:cs typeface="Inter"/>
                <a:sym typeface="Inter"/>
              </a:rPr>
              <a:t>Bộ 4 luận điểm kỹ thuật then chốt giải đáp các câu hỏi khó của Hội đồng</a:t>
            </a:r>
            <a:endParaRPr/>
          </a:p>
        </p:txBody>
      </p:sp>
      <p:sp>
        <p:nvSpPr>
          <p:cNvPr id="839" name="Google Shape;839;p36"/>
          <p:cNvSpPr txBox="1"/>
          <p:nvPr/>
        </p:nvSpPr>
        <p:spPr>
          <a:xfrm>
            <a:off x="533400" y="6267450"/>
            <a:ext cx="4250531"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FFFFF"/>
                </a:solidFill>
                <a:latin typeface="Inter"/>
                <a:ea typeface="Inter"/>
                <a:cs typeface="Inter"/>
                <a:sym typeface="Inter"/>
              </a:rPr>
              <a:t>CẢM ƠN QUÝ THẦY CÔ VÀ HỘI ĐỒNG ĐÃ LẮNG NGHE!</a:t>
            </a:r>
            <a:endParaRPr/>
          </a:p>
        </p:txBody>
      </p:sp>
      <p:sp>
        <p:nvSpPr>
          <p:cNvPr id="840" name="Google Shape;840;p36"/>
          <p:cNvSpPr txBox="1"/>
          <p:nvPr/>
        </p:nvSpPr>
        <p:spPr>
          <a:xfrm>
            <a:off x="8077200" y="6272212"/>
            <a:ext cx="41148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7" u="none" cap="none" strike="noStrike">
                <a:solidFill>
                  <a:srgbClr val="A1A1AA"/>
                </a:solidFill>
                <a:latin typeface="Inter"/>
                <a:ea typeface="Inter"/>
                <a:cs typeface="Inter"/>
                <a:sym typeface="Inter"/>
              </a:rPr>
              <a:t>Hệ thống đã sẵn sàng cho phần hỏi đáp phản biện chuyên sâu.</a:t>
            </a:r>
            <a:endParaRPr/>
          </a:p>
        </p:txBody>
      </p:sp>
      <p:sp>
        <p:nvSpPr>
          <p:cNvPr id="841" name="Google Shape;841;p36"/>
          <p:cNvSpPr txBox="1"/>
          <p:nvPr/>
        </p:nvSpPr>
        <p:spPr>
          <a:xfrm>
            <a:off x="666750" y="2676525"/>
            <a:ext cx="10953750"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FFFFFF"/>
                </a:solidFill>
                <a:latin typeface="Inter"/>
                <a:ea typeface="Inter"/>
                <a:cs typeface="Inter"/>
                <a:sym typeface="Inter"/>
              </a:rPr>
              <a:t>1. Tại sao dùng Outbox thay vì 2-Phase Commit (2PC)?</a:t>
            </a:r>
            <a:endParaRPr/>
          </a:p>
        </p:txBody>
      </p:sp>
      <p:sp>
        <p:nvSpPr>
          <p:cNvPr id="842" name="Google Shape;842;p36"/>
          <p:cNvSpPr txBox="1"/>
          <p:nvPr/>
        </p:nvSpPr>
        <p:spPr>
          <a:xfrm>
            <a:off x="666750" y="3286125"/>
            <a:ext cx="10953750"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FFFFFF"/>
                </a:solidFill>
                <a:latin typeface="Inter"/>
                <a:ea typeface="Inter"/>
                <a:cs typeface="Inter"/>
                <a:sym typeface="Inter"/>
              </a:rPr>
              <a:t>2. Tại sao dùng FOR UPDATE SKIP LOCKED?</a:t>
            </a:r>
            <a:endParaRPr/>
          </a:p>
        </p:txBody>
      </p:sp>
      <p:sp>
        <p:nvSpPr>
          <p:cNvPr id="843" name="Google Shape;843;p36"/>
          <p:cNvSpPr txBox="1"/>
          <p:nvPr/>
        </p:nvSpPr>
        <p:spPr>
          <a:xfrm>
            <a:off x="666750" y="3895725"/>
            <a:ext cx="10953750"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FFFFFF"/>
                </a:solidFill>
                <a:latin typeface="Inter"/>
                <a:ea typeface="Inter"/>
                <a:cs typeface="Inter"/>
                <a:sym typeface="Inter"/>
              </a:rPr>
              <a:t>3. Kiểm soát ảo giác AI Gemini thế nào?</a:t>
            </a:r>
            <a:endParaRPr/>
          </a:p>
        </p:txBody>
      </p:sp>
      <p:sp>
        <p:nvSpPr>
          <p:cNvPr id="844" name="Google Shape;844;p36"/>
          <p:cNvSpPr txBox="1"/>
          <p:nvPr/>
        </p:nvSpPr>
        <p:spPr>
          <a:xfrm>
            <a:off x="666750" y="4505325"/>
            <a:ext cx="10953750" cy="371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37" u="none" cap="none" strike="noStrike">
                <a:solidFill>
                  <a:srgbClr val="FFFFFF"/>
                </a:solidFill>
                <a:latin typeface="Inter"/>
                <a:ea typeface="Inter"/>
                <a:cs typeface="Inter"/>
                <a:sym typeface="Inter"/>
              </a:rPr>
              <a:t>4. Lợi ích của Cloudflare Tunnel so với Port Forwarding?</a:t>
            </a:r>
            <a:endParaRPr/>
          </a:p>
        </p:txBody>
      </p:sp>
      <p:sp>
        <p:nvSpPr>
          <p:cNvPr id="845" name="Google Shape;845;p36"/>
          <p:cNvSpPr txBox="1"/>
          <p:nvPr/>
        </p:nvSpPr>
        <p:spPr>
          <a:xfrm>
            <a:off x="676275" y="2895600"/>
            <a:ext cx="115157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A1A1AA"/>
                </a:solidFill>
                <a:latin typeface="Inter"/>
                <a:ea typeface="Inter"/>
                <a:cs typeface="Inter"/>
                <a:sym typeface="Inter"/>
              </a:rPr>
              <a:t>=&gt; 2PC là Blocking Protocol gây nghẽn tài nguyên và giảm Throughput; Outbox đảm bảo Eventual Consistency và High Availability.</a:t>
            </a:r>
            <a:endParaRPr/>
          </a:p>
        </p:txBody>
      </p:sp>
      <p:sp>
        <p:nvSpPr>
          <p:cNvPr id="846" name="Google Shape;846;p36"/>
          <p:cNvSpPr txBox="1"/>
          <p:nvPr/>
        </p:nvSpPr>
        <p:spPr>
          <a:xfrm>
            <a:off x="676275" y="3505200"/>
            <a:ext cx="115157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A1A1AA"/>
                </a:solidFill>
                <a:latin typeface="Inter"/>
                <a:ea typeface="Inter"/>
                <a:cs typeface="Inter"/>
                <a:sym typeface="Inter"/>
              </a:rPr>
              <a:t>=&gt; Cho phép nhiều Worker chạy song song cạnh tranh xử lý hàng đợi mà không bị Lock Contention khóa chặn lẫn nhau.</a:t>
            </a:r>
            <a:endParaRPr/>
          </a:p>
        </p:txBody>
      </p:sp>
      <p:sp>
        <p:nvSpPr>
          <p:cNvPr id="847" name="Google Shape;847;p36"/>
          <p:cNvSpPr txBox="1"/>
          <p:nvPr/>
        </p:nvSpPr>
        <p:spPr>
          <a:xfrm>
            <a:off x="676275" y="4114800"/>
            <a:ext cx="115157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A1A1AA"/>
                </a:solidFill>
                <a:latin typeface="Inter"/>
                <a:ea typeface="Inter"/>
                <a:cs typeface="Inter"/>
                <a:sym typeface="Inter"/>
              </a:rPr>
              <a:t>=&gt; Áp dụng kiến trúc Graph-RAG: Duyệt topo cơ học trên Neo4j và kiểm tra tồn kho tại MongoDB trước khi nạp context cho LLM.</a:t>
            </a:r>
            <a:endParaRPr/>
          </a:p>
        </p:txBody>
      </p:sp>
      <p:sp>
        <p:nvSpPr>
          <p:cNvPr id="848" name="Google Shape;848;p36"/>
          <p:cNvSpPr txBox="1"/>
          <p:nvPr/>
        </p:nvSpPr>
        <p:spPr>
          <a:xfrm>
            <a:off x="676275" y="4724400"/>
            <a:ext cx="1151572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A1A1AA"/>
                </a:solidFill>
                <a:latin typeface="Inter"/>
                <a:ea typeface="Inter"/>
                <a:cs typeface="Inter"/>
                <a:sym typeface="Inter"/>
              </a:rPr>
              <a:t>=&gt; Zero Open Ports: Máy chủ đóng 100% cổng tường lửa, tàng hình trước Internet, chống DDoS 300+ Tbps ở biên mạng.</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